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c9d01300724c76" /><Relationship Type="http://schemas.openxmlformats.org/officeDocument/2006/relationships/extended-properties" Target="/docProps/app.xml" Id="R0599dc39b9fc4309" /><Relationship Type="http://schemas.openxmlformats.org/officeDocument/2006/relationships/officeDocument" Target="/ppt/presentation.xml" Id="R2dc2e2effeea4f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1a6d73a922400a"/>
  </p:sldMasterIdLst>
  <p:notesMasterIdLst>
    <p:notesMasterId xmlns:r="http://schemas.openxmlformats.org/officeDocument/2006/relationships" r:id="R1cb12762bfe14bca"/>
  </p:notesMasterIdLst>
  <p:sldIdLst>
    <p:sldId xmlns:r="http://schemas.openxmlformats.org/officeDocument/2006/relationships" id="256" r:id="Red3f0eecb80e48ec"/>
    <p:sldId xmlns:r="http://schemas.openxmlformats.org/officeDocument/2006/relationships" id="257" r:id="R3af042eb46e64c23"/>
    <p:sldId xmlns:r="http://schemas.openxmlformats.org/officeDocument/2006/relationships" id="258" r:id="R7661e54635824d52"/>
    <p:sldId xmlns:r="http://schemas.openxmlformats.org/officeDocument/2006/relationships" id="259" r:id="Rf5391663a6de4076"/>
    <p:sldId xmlns:r="http://schemas.openxmlformats.org/officeDocument/2006/relationships" id="260" r:id="R6c06b5b443e24b80"/>
    <p:sldId xmlns:r="http://schemas.openxmlformats.org/officeDocument/2006/relationships" id="261" r:id="Reefc542d881b48ad"/>
    <p:sldId xmlns:r="http://schemas.openxmlformats.org/officeDocument/2006/relationships" id="262" r:id="R72ebf1b8b2f54a19"/>
    <p:sldId xmlns:r="http://schemas.openxmlformats.org/officeDocument/2006/relationships" id="263" r:id="R322923b0498e41b0"/>
    <p:sldId xmlns:r="http://schemas.openxmlformats.org/officeDocument/2006/relationships" id="264" r:id="R5e2f2719163a40be"/>
    <p:sldId xmlns:r="http://schemas.openxmlformats.org/officeDocument/2006/relationships" id="265" r:id="R143b0b74aa6d40c8"/>
    <p:sldId xmlns:r="http://schemas.openxmlformats.org/officeDocument/2006/relationships" id="266" r:id="R4553acb7536f41ac"/>
    <p:sldId xmlns:r="http://schemas.openxmlformats.org/officeDocument/2006/relationships" id="267" r:id="R77fc0a50d64d4e05"/>
    <p:sldId xmlns:r="http://schemas.openxmlformats.org/officeDocument/2006/relationships" id="268" r:id="Rabaea95505e643ba"/>
    <p:sldId xmlns:r="http://schemas.openxmlformats.org/officeDocument/2006/relationships" id="269" r:id="R6e9203f2c6a84b19"/>
    <p:sldId xmlns:r="http://schemas.openxmlformats.org/officeDocument/2006/relationships" id="270" r:id="R90e9a6f1a1bb4480"/>
    <p:sldId xmlns:r="http://schemas.openxmlformats.org/officeDocument/2006/relationships" id="271" r:id="Rda729998465c48d0"/>
    <p:sldId xmlns:r="http://schemas.openxmlformats.org/officeDocument/2006/relationships" id="272" r:id="Re1d0d748df084b2d"/>
    <p:sldId xmlns:r="http://schemas.openxmlformats.org/officeDocument/2006/relationships" id="273" r:id="Rbd9a06dac36b4532"/>
    <p:sldId xmlns:r="http://schemas.openxmlformats.org/officeDocument/2006/relationships" id="274" r:id="R5089b069862447fd"/>
    <p:sldId xmlns:r="http://schemas.openxmlformats.org/officeDocument/2006/relationships" id="275" r:id="Re0af600168044fa8"/>
    <p:sldId xmlns:r="http://schemas.openxmlformats.org/officeDocument/2006/relationships" id="276" r:id="R3744b2bf5ff446c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1cb9c8bcf6a4fd9" /><Relationship Type="http://schemas.openxmlformats.org/officeDocument/2006/relationships/slideMaster" Target="/ppt/slideMasters/slideMaster1.xml" Id="R741a6d73a922400a" /><Relationship Type="http://schemas.openxmlformats.org/officeDocument/2006/relationships/notesMaster" Target="/ppt/notesMasters/notesMaster1.xml" Id="R1cb12762bfe14bca" /><Relationship Type="http://schemas.openxmlformats.org/officeDocument/2006/relationships/presProps" Target="/ppt/presProps.xml" Id="R027dfb935bc34f39" /><Relationship Type="http://schemas.openxmlformats.org/officeDocument/2006/relationships/tableStyles" Target="/ppt/tableStyles.xml" Id="Rb3d838f93e0e43b1" /><Relationship Type="http://schemas.openxmlformats.org/officeDocument/2006/relationships/slide" Target="/ppt/slides/slide1.xml" Id="Red3f0eecb80e48ec" /><Relationship Type="http://schemas.openxmlformats.org/officeDocument/2006/relationships/slide" Target="/ppt/slides/slide2.xml" Id="R3af042eb46e64c23" /><Relationship Type="http://schemas.openxmlformats.org/officeDocument/2006/relationships/slide" Target="/ppt/slides/slide3.xml" Id="R7661e54635824d52" /><Relationship Type="http://schemas.openxmlformats.org/officeDocument/2006/relationships/slide" Target="/ppt/slides/slide4.xml" Id="Rf5391663a6de4076" /><Relationship Type="http://schemas.openxmlformats.org/officeDocument/2006/relationships/slide" Target="/ppt/slides/slide5.xml" Id="R6c06b5b443e24b80" /><Relationship Type="http://schemas.openxmlformats.org/officeDocument/2006/relationships/slide" Target="/ppt/slides/slide6.xml" Id="Reefc542d881b48ad" /><Relationship Type="http://schemas.openxmlformats.org/officeDocument/2006/relationships/slide" Target="/ppt/slides/slide7.xml" Id="R72ebf1b8b2f54a19" /><Relationship Type="http://schemas.openxmlformats.org/officeDocument/2006/relationships/slide" Target="/ppt/slides/slide8.xml" Id="R322923b0498e41b0" /><Relationship Type="http://schemas.openxmlformats.org/officeDocument/2006/relationships/slide" Target="/ppt/slides/slide9.xml" Id="R5e2f2719163a40be" /><Relationship Type="http://schemas.openxmlformats.org/officeDocument/2006/relationships/slide" Target="/ppt/slides/slide10.xml" Id="R143b0b74aa6d40c8" /><Relationship Type="http://schemas.openxmlformats.org/officeDocument/2006/relationships/slide" Target="/ppt/slides/slide11.xml" Id="R4553acb7536f41ac" /><Relationship Type="http://schemas.openxmlformats.org/officeDocument/2006/relationships/slide" Target="/ppt/slides/slide12.xml" Id="R77fc0a50d64d4e05" /><Relationship Type="http://schemas.openxmlformats.org/officeDocument/2006/relationships/slide" Target="/ppt/slides/slide13.xml" Id="Rabaea95505e643ba" /><Relationship Type="http://schemas.openxmlformats.org/officeDocument/2006/relationships/slide" Target="/ppt/slides/slide14.xml" Id="R6e9203f2c6a84b19" /><Relationship Type="http://schemas.openxmlformats.org/officeDocument/2006/relationships/slide" Target="/ppt/slides/slide15.xml" Id="R90e9a6f1a1bb4480" /><Relationship Type="http://schemas.openxmlformats.org/officeDocument/2006/relationships/slide" Target="/ppt/slides/slide16.xml" Id="Rda729998465c48d0" /><Relationship Type="http://schemas.openxmlformats.org/officeDocument/2006/relationships/slide" Target="/ppt/slides/slide17.xml" Id="Re1d0d748df084b2d" /><Relationship Type="http://schemas.openxmlformats.org/officeDocument/2006/relationships/slide" Target="/ppt/slides/slide18.xml" Id="Rbd9a06dac36b4532" /><Relationship Type="http://schemas.openxmlformats.org/officeDocument/2006/relationships/slide" Target="/ppt/slides/slide19.xml" Id="R5089b069862447fd" /><Relationship Type="http://schemas.openxmlformats.org/officeDocument/2006/relationships/slide" Target="/ppt/slides/slide20.xml" Id="Re0af600168044fa8" /><Relationship Type="http://schemas.openxmlformats.org/officeDocument/2006/relationships/slide" Target="/ppt/slides/slide21.xml" Id="R3744b2bf5ff446c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c42e7cfd3fc45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d2190201e149c5" /><Relationship Type="http://schemas.openxmlformats.org/officeDocument/2006/relationships/notesMaster" Target="/ppt/notesMasters/notesMaster1.xml" Id="R6f7fa06a2aa4429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24d272dd3d34c15" /><Relationship Type="http://schemas.openxmlformats.org/officeDocument/2006/relationships/notesMaster" Target="/ppt/notesMasters/notesMaster1.xml" Id="Rcc3c37d8a9d048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a740cde545d4af2" /><Relationship Type="http://schemas.openxmlformats.org/officeDocument/2006/relationships/notesMaster" Target="/ppt/notesMasters/notesMaster1.xml" Id="Racb6f7b313a74a5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7b0f8f8cc894f37" /><Relationship Type="http://schemas.openxmlformats.org/officeDocument/2006/relationships/notesMaster" Target="/ppt/notesMasters/notesMaster1.xml" Id="Rdd22adf040d24fa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bec929d709b4266" /><Relationship Type="http://schemas.openxmlformats.org/officeDocument/2006/relationships/notesMaster" Target="/ppt/notesMasters/notesMaster1.xml" Id="Ra7c4e42f7fae44b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88852c0aafc4652" /><Relationship Type="http://schemas.openxmlformats.org/officeDocument/2006/relationships/notesMaster" Target="/ppt/notesMasters/notesMaster1.xml" Id="R18e72fe9371e41e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3def050b1184f92" /><Relationship Type="http://schemas.openxmlformats.org/officeDocument/2006/relationships/notesMaster" Target="/ppt/notesMasters/notesMaster1.xml" Id="Rba393d3e180d488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32c23236ccd4e10" /><Relationship Type="http://schemas.openxmlformats.org/officeDocument/2006/relationships/notesMaster" Target="/ppt/notesMasters/notesMaster1.xml" Id="R42d4dfb6226f48c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a18ee55ca7743b7" /><Relationship Type="http://schemas.openxmlformats.org/officeDocument/2006/relationships/notesMaster" Target="/ppt/notesMasters/notesMaster1.xml" Id="R06cc4defb5bf42a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065578de6ac4d89" /><Relationship Type="http://schemas.openxmlformats.org/officeDocument/2006/relationships/notesMaster" Target="/ppt/notesMasters/notesMaster1.xml" Id="Rd81e193ae88f489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88fb29ec7654ec9" /><Relationship Type="http://schemas.openxmlformats.org/officeDocument/2006/relationships/notesMaster" Target="/ppt/notesMasters/notesMaster1.xml" Id="R918d59fa774d463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49643b390c244db" /><Relationship Type="http://schemas.openxmlformats.org/officeDocument/2006/relationships/notesMaster" Target="/ppt/notesMasters/notesMaster1.xml" Id="R0eef080775dc4ec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0f8322ae61b494e" /><Relationship Type="http://schemas.openxmlformats.org/officeDocument/2006/relationships/notesMaster" Target="/ppt/notesMasters/notesMaster1.xml" Id="R4e980d72ec834b3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bf01152026d4c96" /><Relationship Type="http://schemas.openxmlformats.org/officeDocument/2006/relationships/notesMaster" Target="/ppt/notesMasters/notesMaster1.xml" Id="R8dc32b6446c24f1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0366b26f53c472a" /><Relationship Type="http://schemas.openxmlformats.org/officeDocument/2006/relationships/notesMaster" Target="/ppt/notesMasters/notesMaster1.xml" Id="Rcfa5d4380106458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942a95d4b6b4f07" /><Relationship Type="http://schemas.openxmlformats.org/officeDocument/2006/relationships/notesMaster" Target="/ppt/notesMasters/notesMaster1.xml" Id="Rc8992f9a8f87494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dde9b7addb24f2a" /><Relationship Type="http://schemas.openxmlformats.org/officeDocument/2006/relationships/notesMaster" Target="/ppt/notesMasters/notesMaster1.xml" Id="R2ae8f36de7e8421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7379445419c491d" /><Relationship Type="http://schemas.openxmlformats.org/officeDocument/2006/relationships/notesMaster" Target="/ppt/notesMasters/notesMaster1.xml" Id="R46a31ffd79dd476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9265723bf074212" /><Relationship Type="http://schemas.openxmlformats.org/officeDocument/2006/relationships/notesMaster" Target="/ppt/notesMasters/notesMaster1.xml" Id="R9eaa2f26d2ca4f0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5e1e0d0b10d434b" /><Relationship Type="http://schemas.openxmlformats.org/officeDocument/2006/relationships/notesMaster" Target="/ppt/notesMasters/notesMaster1.xml" Id="R5360a38deaff450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864d0d47a4641b3" /><Relationship Type="http://schemas.openxmlformats.org/officeDocument/2006/relationships/notesMaster" Target="/ppt/notesMasters/notesMaster1.xml" Id="Rab57c1175d2545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汇报按全部复现完成的情景组织，完成状态是用户指定的汇报前提，不新增独立验证证据。核心机制来自项目源码，四项官方权重指标保留历史实测记录。自训练最终报告和VOT22最终数值尚未提供，使用待填占位，不用历史存在来源疑点的值代替最终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/Users/lzy/Desktop/GitHub/seatrack/code.md</a:t>
            </a:r>
          </a:p>
          <a:p xmlns:a="http://schemas.openxmlformats.org/drawingml/2006/main">
            <a:r>
              <a:t>/Users/lzy/Desktop/GitHub/seatrack/复现日志.md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图为仓库提供的论文框架图。默认骨干12层，零起始索引1、3、5、7、9、11使用AMG-LoRA和两处HMoE。每层两模态共享该层参数，层与层之间参数独立。Prediction Head位于Encoder之后。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/Users/lzy/Desktop/GitHub/seatrack/SEATrack-main/assets/Framework.png</a:t>
            </a:r>
          </a:p>
          <a:p xmlns:a="http://schemas.openxmlformats.org/drawingml/2006/main">
            <a:r>
              <a:t>/Users/lzy/Desktop/GitHub/seatrack/SEATrack-main/lib/models/seatrack/vit_ci.py</a:t>
            </a:r>
          </a:p>
          <a:p xmlns:a="http://schemas.openxmlformats.org/drawingml/2006/main">
            <a:r>
              <a:t>/Users/lzy/Desktop/GitHub/seatrack/SEATrack-main/lib/models/layers/attn_blocks.py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板来自目标参考区域，搜索来自当前帧目标附近。输入尺寸和token数量来自默认配置。搜索网格第7行第9列按零起始编号为121，在模板搜索拼接后的序列中编号185。这个位置只是教学跟踪位置，并不预先认定其为真实目标中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/Users/lzy/Desktop/GitHub/seatrack/SEATrack-main/lib/models/seatrack/vit_ci.py</a:t>
            </a:r>
          </a:p>
          <a:p xmlns:a="http://schemas.openxmlformats.org/drawingml/2006/main">
            <a:r>
              <a:t>/Users/lzy/Desktop/GitHub/seatrack/SEATrack-main/lib/models/layers/patch_embed.py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先执行库中的LayerNorm。公式使用行向量右乘写法，实际PyTorch权重存储为out,in。省略训练dropout。r=8，K和V拥有各自的A和B。源码定义了alpha/r但注释了实际乘法。推理时可以合并LoRA增量，等价于这里的展开表达。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/Users/lzy/Desktop/GitHub/seatrack/SEATrack-main/lib/models/layers/attn.py</a:t>
            </a:r>
          </a:p>
          <a:p xmlns:a="http://schemas.openxmlformats.org/drawingml/2006/main">
            <a:r>
              <a:t>/Users/lzy/Desktop/GitHub/seatrack/SEATrack-main/lib/models/layers/attn_blocks.py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S是softmax前的logits，P是softmax后的权重。两路都引用对方原始logits。α对应dte2r_scaling，β对应r2dte_scaling，都是每增强层一个方向一个可学习标量，初始为1，无sigmoid约束。下方仅用两个key演示，实际每行有320个key。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/Users/lzy/Desktop/GitHub/seatrack/SEATrack-main/lib/models/layers/attn_blocks.py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以下两个通道仅是教学缩小例子。真实计算每个头64维，12个头合并后做输出投影，返回分支更新量。xrgb_attn变量名虽然包含attn，但这里已经是token特征。残差保留LayerNorm之前的原输入，推理DropPath关闭。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/Users/lzy/Desktop/GitHub/seatrack/SEATrack-main/lib/models/layers/attn_blocks.py</a:t>
            </a:r>
          </a:p>
          <a:p xmlns:a="http://schemas.openxmlformats.org/drawingml/2006/main">
            <a:r>
              <a:t>/Users/lzy/Desktop/GitHub/seatrack/SEATrack-main/lib/models/layers/attn.py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第一处attn_moe有4个专家，每个专家2个槽位，低秩维4。模板和搜索调用同一个模块、共享参数，mode参数当前未参与内部计算。跟踪位置在搜索融合输入中的RGB编号为121，红外编号为377。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/Users/lzy/Desktop/GitHub/seatrack/SEATrack-main/lib/models/layers/attn_blocks.py</a:t>
            </a:r>
          </a:p>
          <a:p xmlns:a="http://schemas.openxmlformats.org/drawingml/2006/main">
            <a:r>
              <a:t>/Users/lzy/Desktop/GitHub/seatrack/SEATrack-main/lib/models/layers/attn.py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LoRP的实际式为(LN(X)A+a)B+b，768到4到768，默认无GELU。输入搜索组N=512，拆分后U为1024×384。Phi为384×8。Dispatch沿输入子token维softmax，每个槽位的输入权重和为1。温度TD为可学习参数，初值1，未约束为正。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/Users/lzy/Desktop/GitHub/seatrack/SEATrack-main/lib/models/layers/attn.py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专家计算Ye,s=(Ge,s Ae+ae)Be+be，384到4到384，当前无GELU。不同专家参数独立，同一专家两个槽位共享参数。拼接两槽位为768维后经过linear2的LoRP。Combine来自同一原始logits，对每个token的2个子向量与每专家2个槽位的4项求和，再沿专家维softmax。所有专家参与，无top-k筛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/Users/lzy/Desktop/GitHub/seatrack/SEATrack-main/lib/models/layers/attn.py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示例权重和值均非实测。RGB搜索token121的某通道更新为1.6，原值0.7时残差结果2.3。模板输入也独立完成相同过程，之后按各模态模板搜索顺序重组。随后MLP和第二处HMoE继续更新，第二处8专家，参数独立。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/Users/lzy/Desktop/GitHub/seatrack/SEATrack-main/lib/models/layers/attn_blocks.py</a:t>
            </a:r>
          </a:p>
          <a:p xmlns:a="http://schemas.openxmlformats.org/drawingml/2006/main">
            <a:r>
              <a:t>/Users/lzy/Desktop/GitHub/seatrack/SEATrack-main/lib/models/layers/attn.py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CenterPredictor在本地项目中定义，内部卷积BN/ReLU来自PyTorch。最终只保留搜索，模板信息已融入搜索。每个分支四层3×3 Conv-BN-ReLU，通道768、256、128、64、32，最后1×1卷积。中心和尺寸sigmoid后clamp，偏移保持实数。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/Users/lzy/Desktop/GitHub/seatrack/SEATrack-main/lib/models/seatrack/vit_ci.py</a:t>
            </a:r>
          </a:p>
          <a:p xmlns:a="http://schemas.openxmlformats.org/drawingml/2006/main">
            <a:r>
              <a:t>/Users/lzy/Desktop/GitHub/seatrack/SEATrack-main/lib/models/seatrack/seatrack.py</a:t>
            </a:r>
          </a:p>
          <a:p xmlns:a="http://schemas.openxmlformats.org/drawingml/2006/main">
            <a:r>
              <a:t>/Users/lzy/Desktop/GitHub/seatrack/SEATrack-main/lib/models/layers/head.py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教学示例：idx=121，offset=[0.25,0.50]，size=[0.25,0.50]。先从中心图找最大位置，再在同一个idx读取size和offset，不能三个分支各取最大。尺寸已相对整个搜索图归一化，不再除16。输出顺序cxcywh。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/Users/lzy/Desktop/GitHub/seatrack/SEATrack-main/lib/models/layers/head.py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搜索图尺寸256，原裁剪边长512，resize_factor=0.5。假设代码使用的裁剪原点为(100,200)。Tracker先用Hann窗口调整中心分数并再次解码，此例假设赢家仍为7,9。归一化框乘512得到局部中心296,240、宽高128,256。加原点得到396,440，再减半宽高得到332,312。最终clip_box需结合原图尺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/Users/lzy/Desktop/GitHub/seatrack/SEATrack-main/lib/test/tracker/seatrack.py</a:t>
            </a:r>
          </a:p>
          <a:p xmlns:a="http://schemas.openxmlformats.org/drawingml/2006/main">
            <a:r>
              <a:t>/Users/lzy/Desktop/GitHub/seatrack/SEATrack-main/lib/models/layers/head.py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完成状态遵循用户指定的情景前提。此页不代表从旧日志推导出新的服务器事实。方法和实验范围来自已有项目资料。最终缺失指标在后面的结果表保留待填。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/Users/lzy/Desktop/GitHub/seatrack/复现日志.md</a:t>
            </a:r>
          </a:p>
          <a:p xmlns:a="http://schemas.openxmlformats.org/drawingml/2006/main">
            <a:r>
              <a:t>/Users/lzy/Desktop/GitHub/seatrack/result/README.md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表中数值按原指标乘100展示。VOT22-RGBD数据来自用户本轮提供的结果表：EAO73.5672、Accuracy82.0755、Robustness88.3893，未在本轮独立读取原始分析报告。论文对照为73.6、82.1、88.4，均按一位小数一致。不同数据集指标定义不同，不做横向排名。DepthTrack使用VOT工具分析。其余三项为Python参考口径，未执行MATLAB交叉验证。VisEvent保留person1标注时间对应风险。LasHeR与RGBT234完整产物尚待本地归档。官方权重复测与独立训练复现是不同验证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/Users/lzy/Desktop/GitHub/seatrack/result/depthtrack/2026-10-11_official-rgbd/README.md</a:t>
            </a:r>
          </a:p>
          <a:p xmlns:a="http://schemas.openxmlformats.org/drawingml/2006/main">
            <a:r>
              <a:t>/Users/lzy/Desktop/GitHub/seatrack/result/lasher/2026-10-11_official-rgbt/README.md</a:t>
            </a:r>
          </a:p>
          <a:p xmlns:a="http://schemas.openxmlformats.org/drawingml/2006/main">
            <a:r>
              <a:t>/Users/lzy/Desktop/GitHub/seatrack/result/visevent/2026-10-13_official-rgbe/README.md</a:t>
            </a:r>
          </a:p>
          <a:p xmlns:a="http://schemas.openxmlformats.org/drawingml/2006/main">
            <a:r>
              <a:t>/Users/lzy/Desktop/GitHub/seatrack/result/rgbt234/2026-10-13_official-rgbt/README.md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按完成情景汇报。RGB-D25轮、RGB-E45轮、RGB-T60轮已在历史日志中报告完成。RGB-T单卡microbatch4累积16，有效batch64，FP32，不能宣称与原双卡运行数值完全等价。Loss和训练IoU不用于替代测试集结果。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/Users/lzy/Desktop/GitHub/seatrack/复现日志.md</a:t>
            </a:r>
          </a:p>
          <a:p xmlns:a="http://schemas.openxmlformats.org/drawingml/2006/main">
            <a:r>
              <a:t>/Users/lzy/Desktop/GitHub/seatrack/scripts/remaining_training/README.md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本页按用户本轮提供的结果填写：RGB-D/DepthTrack ep0025，PR62.9096%、RE63.5460%、F63.2262%；RGB-E/VisEvent ep0045，PR77.0950%、SR60.2610%；RGB-T/LasHeR ep0060，PR71.5961%、NPR67.4782%、SR57.2631%。状态均为已完成。本次仅依据用户提供的数据更新，没有独立读取服务器原始评测报告。历史RGB-D/RGB-E权重来源核查问题不能仅凭这些汇总数值认定已解决。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用户本轮提供的三项自训练测试结果</a:t>
            </a:r>
          </a:p>
          <a:p xmlns:a="http://schemas.openxmlformats.org/drawingml/2006/main">
            <a:r>
              <a:t>/Users/lzy/Desktop/GitHub/seatrack/复现日志.md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结果来自用户在本轮提供的表格，按指标乘100展示：EAO=73.5672，Accuracy=82.0755，Robustness=88.3893。对应原始尺度0.735672、0.820755、0.883893。论文值73.6、82.1、88.4来自本地论文译文。按论文一位小数展示精度，三项均一致。制作本页时未独立读取服务器原始分析报告。数据范围127序列80741帧来自既有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/Users/lzy/Desktop/GitHub/seatrack/复现日志.md</a:t>
            </a:r>
          </a:p>
          <a:p xmlns:a="http://schemas.openxmlformats.org/drawingml/2006/main">
            <a:r>
              <a:t>/Users/lzy/Desktop/GitHub/seatrack/SEATrack_中文译文.md</a:t>
            </a:r>
          </a:p>
          <a:p xmlns:a="http://schemas.openxmlformats.org/drawingml/2006/main">
            <a:r>
              <a:t>用户本轮提供的 VOT22-RGBD 结果表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此页汇总已有实现内容。独立运行目录、显式权重路径、SHA清单、轨迹校验和Python指标脚本都有仓库依据。完整归档按本版完成前提组织，不新增未经记录的性能或精度结论。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/Users/lzy/Desktop/GitHub/seatrack/复现日志.md</a:t>
            </a:r>
          </a:p>
          <a:p xmlns:a="http://schemas.openxmlformats.org/drawingml/2006/main">
            <a:r>
              <a:t>/Users/lzy/Desktop/GitHub/seatrack/scripts/remaining_training/README.md</a:t>
            </a:r>
          </a:p>
          <a:p xmlns:a="http://schemas.openxmlformats.org/drawingml/2006/main">
            <a:r>
              <a:t>/Users/lzy/Desktop/GitHub/seatrack/scripts/lasher_metrics.md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全部完成的情景组织总结。方法结论来自源码：AMG-LoRA融合位置关系，HMoE汇聚并重分配跨模态特征，预测头输出中心分数宽高偏移并解码。现有四项官方权重复测与论文舍入值一致。尚无最终自训练和VOT22数字，所以不宣称这些缺失项已经与论文完全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/Users/lzy/Desktop/GitHub/seatrack/SEATrack-main/lib/models/layers/attn_blocks.py</a:t>
            </a:r>
          </a:p>
          <a:p xmlns:a="http://schemas.openxmlformats.org/drawingml/2006/main">
            <a:r>
              <a:t>/Users/lzy/Desktop/GitHub/seatrack/SEATrack-main/lib/models/layers/attn.py</a:t>
            </a:r>
          </a:p>
          <a:p xmlns:a="http://schemas.openxmlformats.org/drawingml/2006/main">
            <a:r>
              <a:t>/Users/lzy/Desktop/GitHub/seatrack/SEATrack-main/lib/models/layers/head.py</a:t>
            </a:r>
          </a:p>
          <a:p xmlns:a="http://schemas.openxmlformats.org/drawingml/2006/main">
            <a:r>
              <a:t>/Users/lzy/Desktop/GitHub/seatrack/复现日志.md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块来自项目本地实现，不宣称所有算法皆由作者原创。cal_qkv/amglora_attn、HMoE/LoRP/MultiExpertLinear、CenterPredictor均为项目定义；nn.Conv2d、LayerNorm、softmax、矩阵运算由库提供。参考本地code.md、复现日志、各结果README及核心源码。未在线访问论文网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</a:t>
            </a:r>
          </a:p>
          <a:p xmlns:a="http://schemas.openxmlformats.org/drawingml/2006/main">
            <a:r>
              <a:t>/Users/lzy/Desktop/GitHub/seatrack/SEATrack-main/lib/models/layers/attn_blocks.py</a:t>
            </a:r>
          </a:p>
          <a:p xmlns:a="http://schemas.openxmlformats.org/drawingml/2006/main">
            <a:r>
              <a:t>/Users/lzy/Desktop/GitHub/seatrack/SEATrack-main/lib/models/layers/attn.py</a:t>
            </a:r>
          </a:p>
          <a:p xmlns:a="http://schemas.openxmlformats.org/drawingml/2006/main">
            <a:r>
              <a:t>/Users/lzy/Desktop/GitHub/seatrack/SEATrack-main/lib/models/layers/head.py</a:t>
            </a:r>
          </a:p>
          <a:p xmlns:a="http://schemas.openxmlformats.org/drawingml/2006/main">
            <a:r>
              <a:t>/Users/lzy/Desktop/GitHub/seatrack/SEATrack-main/lib/models/seatrack/vit_ci.py</a:t>
            </a:r>
          </a:p>
          <a:p xmlns:a="http://schemas.openxmlformats.org/drawingml/2006/main">
            <a:r>
              <a:t>/Users/lzy/Desktop/GitHub/seatrack/SEATrack-main/lib/models/seatrack/seatrack.py</a:t>
            </a:r>
          </a:p>
          <a:p xmlns:a="http://schemas.openxmlformats.org/drawingml/2006/main">
            <a:r>
              <a:t>/Users/lzy/Desktop/GitHub/seatrack/SEATrack-main/lib/test/tracker/seatrack.py</a:t>
            </a:r>
          </a:p>
          <a:p xmlns:a="http://schemas.openxmlformats.org/drawingml/2006/main">
            <a:r>
              <a:t>/Users/lzy/Desktop/GitHub/seatrack/复现日志.md</a:t>
            </a:r>
          </a:p>
          <a:p xmlns:a="http://schemas.openxmlformats.org/drawingml/2006/main">
            <a:r>
              <a:t>/Users/lzy/Desktop/GitHub/seatrack/code.md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9eb00ce94349f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993551ea15473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f87a0036dd42b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b5a286bd5f42f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f110538a5d472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6a79459488490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01E783C-52B4-450F-8423-5BFC946F06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CACA665-6222-4D5E-A05A-9833F7857B3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ED38318-99F6-41DF-ACDC-3917F14CB8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AEE3AFE-1F85-4C0C-8ED1-D6D7B7BEC5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5A1A024-9A81-406F-B033-7F58749F0A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ECF8E83-969F-4835-B6C5-F853D8DBDB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D970C39-8513-45C6-B127-C867E4BF51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AD3F73F-ADD7-4D8F-9414-ED3291D6312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6181CB9-042E-492D-B71C-F1E3278A12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5516B0C-55D5-48EB-A9C0-2105A2419C3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517b75bff1e4b6a" /><Relationship Type="http://schemas.openxmlformats.org/officeDocument/2006/relationships/slideLayout" Target="/ppt/slideLayouts/slideLayout1.xml" Id="Ra7cbaacd3c004bff" /><Relationship Type="http://schemas.openxmlformats.org/officeDocument/2006/relationships/slideLayout" Target="/ppt/slideLayouts/slideLayout2.xml" Id="Reef62a41f3aa47ef" /><Relationship Type="http://schemas.openxmlformats.org/officeDocument/2006/relationships/slideLayout" Target="/ppt/slideLayouts/slideLayout3.xml" Id="Ref9b2a23a77d42b4" /><Relationship Type="http://schemas.openxmlformats.org/officeDocument/2006/relationships/slideLayout" Target="/ppt/slideLayouts/slideLayout4.xml" Id="Rf3ee188d6f744f55" /><Relationship Type="http://schemas.openxmlformats.org/officeDocument/2006/relationships/slideLayout" Target="/ppt/slideLayouts/slideLayout5.xml" Id="R10c448510ea04856" /><Relationship Type="http://schemas.openxmlformats.org/officeDocument/2006/relationships/slideLayout" Target="/ppt/slideLayouts/slideLayout6.xml" Id="Raf29e152b68c4b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cbaacd3c004bff"/>
    <p:sldLayoutId xmlns:r="http://schemas.openxmlformats.org/officeDocument/2006/relationships" id="2147483650" r:id="Reef62a41f3aa47ef"/>
    <p:sldLayoutId xmlns:r="http://schemas.openxmlformats.org/officeDocument/2006/relationships" id="2147483651" r:id="Ref9b2a23a77d42b4"/>
    <p:sldLayoutId xmlns:r="http://schemas.openxmlformats.org/officeDocument/2006/relationships" id="2147483652" r:id="Rf3ee188d6f744f55"/>
    <p:sldLayoutId xmlns:r="http://schemas.openxmlformats.org/officeDocument/2006/relationships" id="2147483653" r:id="R10c448510ea04856"/>
    <p:sldLayoutId xmlns:r="http://schemas.openxmlformats.org/officeDocument/2006/relationships" id="2147483654" r:id="Raf29e152b68c4b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0cd2bda0184ba8" /><Relationship Type="http://schemas.openxmlformats.org/officeDocument/2006/relationships/notesSlide" Target="/ppt/notesSlides/notesSlide1.xml" Id="R46cb817fb2e046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0abe6f2c6b4f9a" /><Relationship Type="http://schemas.openxmlformats.org/officeDocument/2006/relationships/image" Target="/ppt/media/image.png" Id="R7cc619575c1a4e1f" /><Relationship Type="http://schemas.openxmlformats.org/officeDocument/2006/relationships/notesSlide" Target="/ppt/notesSlides/notesSlide2.xml" Id="R9cef7abb141f4c7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587735aff04bd4" /><Relationship Type="http://schemas.openxmlformats.org/officeDocument/2006/relationships/notesSlide" Target="/ppt/notesSlides/notesSlide3.xml" Id="R03faf9e68814496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fad8ab9b664c4d" /><Relationship Type="http://schemas.openxmlformats.org/officeDocument/2006/relationships/notesSlide" Target="/ppt/notesSlides/notesSlide4.xml" Id="R6b16e40b120943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7461faf93b4109" /><Relationship Type="http://schemas.openxmlformats.org/officeDocument/2006/relationships/notesSlide" Target="/ppt/notesSlides/notesSlide5.xml" Id="R0cfc79e34fb545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94d4b324b44657" /><Relationship Type="http://schemas.openxmlformats.org/officeDocument/2006/relationships/notesSlide" Target="/ppt/notesSlides/notesSlide6.xml" Id="R02c038e5e20f411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44f0bb848440f0" /><Relationship Type="http://schemas.openxmlformats.org/officeDocument/2006/relationships/notesSlide" Target="/ppt/notesSlides/notesSlide7.xml" Id="Rec506bf489344c9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21c790f41c462f" /><Relationship Type="http://schemas.openxmlformats.org/officeDocument/2006/relationships/notesSlide" Target="/ppt/notesSlides/notesSlide8.xml" Id="R962651276af5412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ac381a758b40a9" /><Relationship Type="http://schemas.openxmlformats.org/officeDocument/2006/relationships/notesSlide" Target="/ppt/notesSlides/notesSlide9.xml" Id="R8e7b10b9423947f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cd77b3d02042dc" /><Relationship Type="http://schemas.openxmlformats.org/officeDocument/2006/relationships/notesSlide" Target="/ppt/notesSlides/notesSlide10.xml" Id="R6c55c8e582f1469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1f700e490240e1" /><Relationship Type="http://schemas.openxmlformats.org/officeDocument/2006/relationships/notesSlide" Target="/ppt/notesSlides/notesSlide11.xml" Id="Rba747f04d59645a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d3681f99034b4f" /><Relationship Type="http://schemas.openxmlformats.org/officeDocument/2006/relationships/notesSlide" Target="/ppt/notesSlides/notesSlide12.xml" Id="Rc8f63676abee47f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a995e348774076" /><Relationship Type="http://schemas.openxmlformats.org/officeDocument/2006/relationships/notesSlide" Target="/ppt/notesSlides/notesSlide13.xml" Id="R29b235832dc2419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dce61623fc4b06" /><Relationship Type="http://schemas.openxmlformats.org/officeDocument/2006/relationships/notesSlide" Target="/ppt/notesSlides/notesSlide14.xml" Id="R4e2324e971ce4e3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a08c8884fc43ee" /><Relationship Type="http://schemas.openxmlformats.org/officeDocument/2006/relationships/notesSlide" Target="/ppt/notesSlides/notesSlide15.xml" Id="Reaa8547a69e449e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6892d8b3ce4d62" /><Relationship Type="http://schemas.openxmlformats.org/officeDocument/2006/relationships/notesSlide" Target="/ppt/notesSlides/notesSlide16.xml" Id="Rde94edd59263436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510efa43734b97" /><Relationship Type="http://schemas.openxmlformats.org/officeDocument/2006/relationships/notesSlide" Target="/ppt/notesSlides/notesSlide17.xml" Id="Rb7c4faf9adbd499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9243fb8e724311" /><Relationship Type="http://schemas.openxmlformats.org/officeDocument/2006/relationships/notesSlide" Target="/ppt/notesSlides/notesSlide18.xml" Id="R17123c3543ff4e9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495d8c0dcb4fdf" /><Relationship Type="http://schemas.openxmlformats.org/officeDocument/2006/relationships/notesSlide" Target="/ppt/notesSlides/notesSlide19.xml" Id="R34da3cde4a8a442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0717ac1c2148ee" /><Relationship Type="http://schemas.openxmlformats.org/officeDocument/2006/relationships/notesSlide" Target="/ppt/notesSlides/notesSlide20.xml" Id="R34b317d36516406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ad8ab2af1d40fb" /><Relationship Type="http://schemas.openxmlformats.org/officeDocument/2006/relationships/notesSlide" Target="/ppt/notesSlides/notesSlide21.xml" Id="R2312d41a4f044d8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7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BB0A37-2840-4AA8-A0FD-F4377873B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600" b="1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SEATrack 核心机制与论文复现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C2EF00-7C41-4388-BA7F-A29FB2961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D92262-0A36-44F8-B1BF-C417B2100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84D3D4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84D3D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0">
                <a:solidFill>
                  <a:srgbClr val="84D3D4"/>
                </a:solidFill>
                <a:latin typeface="Hiragino Sans GB"/>
                <a:ea typeface="Hiragino Sans GB"/>
                <a:cs typeface="Hiragino Sans GB"/>
              </a:rPr>
              <a:t>AMG-LoRA · HMoE · Prediction Head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267957-54E7-4A40-8B1F-3B89DFB4E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43250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单样本计算解析</a:t>
            </a:r>
          </a:p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0">
                <a:solidFill>
                  <a:srgbClr val="FFFFFF"/>
                </a:solidFill>
                <a:latin typeface="Hiragino Sans GB"/>
                <a:ea typeface="Hiragino Sans GB"/>
                <a:cs typeface="Hiragino Sans GB"/>
              </a:rPr>
              <a:t>复现实验与结果总结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9566DE-475B-4427-9FC2-53EE41A52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1028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BBCAD7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BBCAD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BBCAD7"/>
                </a:solidFill>
                <a:latin typeface="Hiragino Sans GB"/>
                <a:ea typeface="Hiragino Sans GB"/>
                <a:cs typeface="Hiragino Sans GB"/>
              </a:rPr>
              <a:t>复现完成汇报（情景版）</a:t>
            </a:r>
          </a:p>
          <a:p xmlns:a="http://schemas.openxmlformats.org/drawingml/2006/main">
            <a:pPr>
              <a:defRPr sz="1725" b="0">
                <a:solidFill>
                  <a:srgbClr val="BBCAD7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BBCAD7"/>
                </a:solidFill>
                <a:latin typeface="Hiragino Sans GB"/>
                <a:ea typeface="Hiragino Sans GB"/>
                <a:cs typeface="Hiragino Sans GB"/>
              </a:rPr>
              <a:t>2026年10月16日</a:t>
            </a:r>
          </a:p>
        </p:txBody>
      </p:sp>
    </p:spTree>
    <p:extLst>
      <p:ext uri="{BB962C8B-B14F-4D97-AF65-F5344CB8AC3E}">
        <p14:creationId xmlns:p14="http://schemas.microsoft.com/office/powerpoint/2010/main" val="11306986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D1C193-2133-4A5B-A543-6E7487EB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模型结构与本次汇报范围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71F97B-3650-45CF-B295-A70D3A0A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两路特征经过共享骨干，增强层加入注意力引导与跨模态融合。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A29C39-05FE-4D31-A8F1-FC11525F4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263B76-42A1-44B8-B6F1-CEBB15BD40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c619575c1a4e1f"/>
          <a:stretch xmlns:a="http://schemas.openxmlformats.org/drawingml/2006/main"/>
        </p:blipFill>
        <p:spPr>
          <a:xfrm xmlns:a="http://schemas.openxmlformats.org/drawingml/2006/main">
            <a:off x="2346989" y="1733550"/>
            <a:ext cx="7498023" cy="4000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5416A1-5A70-4C95-B311-47A1A76EF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12 个 block；第 2、4、6、8、10、12 层包含增强模块。</a:t>
            </a:r>
          </a:p>
        </p:txBody>
      </p:sp>
    </p:spTree>
    <p:extLst>
      <p:ext uri="{BB962C8B-B14F-4D97-AF65-F5344CB8AC3E}">
        <p14:creationId xmlns:p14="http://schemas.microsoft.com/office/powerpoint/2010/main" val="9830739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0E260D-A03A-45A2-8539-046159172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贯穿全程的单样本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C3A587-7222-4C42-B301-47829FBA0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B = 1，RGB 与热红外各有一张模板和一张搜索图。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63561A-BEAF-4FB9-AC44-EDAFA4867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636D65-8B87-4742-AD1C-E94C435B7A38}"/>
              </a:ext>
            </a:extLst>
          </p:cNvPr>
          <p:cNvGraphicFramePr/>
          <p:nvPr/>
        </p:nvGraphicFramePr>
        <p:xfrm>
          <a:off xmlns:a="http://schemas.openxmlformats.org/drawingml/2006/main" x="628650" y="1828800"/>
          <a:ext xmlns:a="http://schemas.openxmlformats.org/drawingml/2006/main" cx="109347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3429000"/>
                <a:gridCol w="3600450"/>
              </a:tblGrid>
              <a:tr h="6667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输入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图像尺寸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Token 形状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RGB / 红外模板，各一张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[1,3,128,128]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各 [1,64,768]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RGB / 红外搜索，各一张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[1,3,256,256]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各 [1,256,768]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每路模板与搜索拼接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64 + 256 个位置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各 [1,320,768]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DC1FD4-3C27-4236-9CBF-6687D2491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815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rPr>
              <a:t>持续跟踪：搜索网格 (行7，列9)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1C6A49-CF48-4BE3-8854-680D0249B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搜索编号 121 = 7 × 16 + 9；完整序列编号 185 = 64 + 121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836B2C-FA20-4D93-981C-928B41DC0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尺寸来自源码；后续局部数字均为教学示例，非 checkpoint 实测输出。</a:t>
            </a:r>
          </a:p>
        </p:txBody>
      </p:sp>
    </p:spTree>
    <p:extLst>
      <p:ext uri="{BB962C8B-B14F-4D97-AF65-F5344CB8AC3E}">
        <p14:creationId xmlns:p14="http://schemas.microsoft.com/office/powerpoint/2010/main" val="12768236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D0DC62-B4F9-4D31-B22C-1B4E3E497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AMG-LoRA：Q、K、V 的生成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3FACBA-DF99-484A-88B3-5CC38E67D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自定义 MergedLinear 组织联合投影，仅对 K、V 增加低秩更新。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402234-9F8E-4965-B176-C23AB6965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B7EDEA-A5E5-40AE-B6C4-A81BB20C9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57375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rPr>
              <a:t>Q = H Wq + bq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5D2E3C-F315-40E5-AD5F-10BEE8415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19375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rPr>
              <a:t>K = H Wk + bk + H Ak Bk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9DF4BC-1A9E-438C-91A2-7F116AA8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rPr>
              <a:t>V = H Wv + bv + H Av Bv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50ECFE-32B0-4A5A-B39D-E55205AB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33875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rPr>
              <a:t>A：768 × 8      B：8 × 768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2061D1-E96D-4F8D-BB36-CAF30EAFA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339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每个投影新增 12,288 个参数；Q 不加 LoRA。</a:t>
            </a:r>
          </a:p>
          <a:p xmlns:a="http://schemas.openxmlformats.org/drawingml/2006/main">
            <a:pPr>
              <a:defRPr sz="187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联合输出 [1,320,2304]，拆成 12 个头后 Q/K/V 各为 [1,12,320,64]。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B930BF-C0F2-4530-93F4-E3B609B2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调用路径：cal_qkv() 内部直接调用 self.attn.qkv()。</a:t>
            </a:r>
          </a:p>
        </p:txBody>
      </p:sp>
    </p:spTree>
    <p:extLst>
      <p:ext uri="{BB962C8B-B14F-4D97-AF65-F5344CB8AC3E}">
        <p14:creationId xmlns:p14="http://schemas.microsoft.com/office/powerpoint/2010/main" val="5784047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B787B2-CF33-45D4-A1B6-FAC39BE6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AMG：两种模态互相引导注意力分数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4BBFDA-15A2-4D69-8206-C66BB0392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先计算各自的 QKᵀ，再在 softmax 之前混合分数。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9040AF-3BFD-4A55-82C2-8C69DCD53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785678-15C3-450C-B396-29264EF5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rPr>
              <a:t>S = QKᵀ / √64     [1,12,320,320]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F581C9-5854-4FE0-BA49-64E7A349F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24125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rPr>
              <a:t>S′RGB = SRGB + α(SX − SRGB)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90B221-DD48-4109-9305-718DF46F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90875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rPr>
              <a:t>S′X = SX + β(SRGB − SX)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A13E28-8174-4BC2-9AD5-5199ED42C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14800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rPr>
              <a:t>两位置演算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172525-496A-4728-BFE5-C79171866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91050"/>
            <a:ext cx="1047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SRGB = [2,0]，SX = [0,2]，α = 0.75</a:t>
            </a:r>
          </a:p>
          <a:p xmlns:a="http://schemas.openxmlformats.org/drawingml/2006/main">
            <a:pPr>
              <a:defRPr sz="202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S′RGB = [0.5,1.5]</a:t>
            </a:r>
          </a:p>
          <a:p xmlns:a="http://schemas.openxmlformats.org/drawingml/2006/main">
            <a:pPr>
              <a:defRPr sz="202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softmax(S′RGB) ≈ [0.269,0.731]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7954EE-68B2-4118-B8DE-3200EF428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教学示例；引导系数随训练更新，推理时不由每帧重新预测。</a:t>
            </a:r>
          </a:p>
        </p:txBody>
      </p:sp>
    </p:spTree>
    <p:extLst>
      <p:ext uri="{BB962C8B-B14F-4D97-AF65-F5344CB8AC3E}">
        <p14:creationId xmlns:p14="http://schemas.microsoft.com/office/powerpoint/2010/main" val="1654645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C00AE8-490C-42EE-860C-4469282F3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注意力输出：按新权重读取本模态 V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B97AE6-18DF-4542-9493-CA3B9BC63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对方模态影响关注位置，本模态 V 提供被汇总的内容。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0C831C-08A6-4292-B936-EF5DBE40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5B38E3-A841-41BD-A378-D28A65F6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28800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rPr>
              <a:t>Oᵢ = Σⱼ Pᵢⱼ Vⱼ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3138FD-5395-4A0A-B66E-9DDD459C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V₁ = [1,2]，V₂ = [3,0]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C69CCC-A6EA-4757-93EF-E66D58AF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7660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rPr>
              <a:t>0.269 V₁ + 0.731 V₂ = [2.462,0.538]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FE13E0-3B09-42C6-864E-6930DBD32E5C}"/>
              </a:ext>
            </a:extLst>
          </p:cNvPr>
          <p:cNvGraphicFramePr/>
          <p:nvPr/>
        </p:nvGraphicFramePr>
        <p:xfrm>
          <a:off xmlns:a="http://schemas.openxmlformats.org/drawingml/2006/main" x="628650" y="4067175"/>
          <a:ext xmlns:a="http://schemas.openxmlformats.org/drawingml/2006/main" cx="10934700" cy="1676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667500"/>
                <a:gridCol w="4267200"/>
              </a:tblGrid>
              <a:tr h="4191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阶段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形状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每个头加权汇总 V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[1,12,320,64]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合并头并做输出投影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[1,320,768]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原特征 + 注意力更新量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两路各 [1,320,768]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2F6EFA-56BE-4F5A-AB87-DD5C8A4AF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RGB 与红外分别更新；模板与搜索已经在 320 × 320 的注意力中交互。</a:t>
            </a:r>
          </a:p>
        </p:txBody>
      </p:sp>
    </p:spTree>
    <p:extLst>
      <p:ext uri="{BB962C8B-B14F-4D97-AF65-F5344CB8AC3E}">
        <p14:creationId xmlns:p14="http://schemas.microsoft.com/office/powerpoint/2010/main" val="2890814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CDC2D0-E44D-4A7B-940F-4757E15F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HMoE：模板、搜索分别跨模态融合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0FD03A-2A0F-474A-8016-A0EF1A3A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自定义 HMoE 接收两种模态的特征内容，生成每个位置的更新量。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538FA2-660E-4254-9D40-55DB1375A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07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CBD060-1A28-43B8-B929-89DB0C27FDD7}"/>
              </a:ext>
            </a:extLst>
          </p:cNvPr>
          <p:cNvGraphicFramePr/>
          <p:nvPr/>
        </p:nvGraphicFramePr>
        <p:xfrm>
          <a:off xmlns:a="http://schemas.openxmlformats.org/drawingml/2006/main" x="628650" y="1838325"/>
          <a:ext xmlns:a="http://schemas.openxmlformats.org/drawingml/2006/main" cx="10934700" cy="2190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5048250"/>
                <a:gridCol w="3886200"/>
              </a:tblGrid>
              <a:tr h="7302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分组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拼接顺序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输入形状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模板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RGB 64，红外 64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[1,128,768]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搜索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RGB 256，红外 256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[1,512,768]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23825B-5C64-4A0F-BDD2-C67D8721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29125"/>
            <a:ext cx="10744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rPr>
              <a:t>搜索组中，同一空间位置有两个输入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7043FB-AEF1-4866-98C3-22655455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8632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RGB 编号 121；红外编号 377 = 256 + 121。</a:t>
            </a:r>
          </a:p>
          <a:p xmlns:a="http://schemas.openxmlformats.org/drawingml/2006/main">
            <a:pPr>
              <a:def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第一处 HMoE 使用 4 个专家、每专家 2 个槽位。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7A9E21-DE74-4476-94DC-59055311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Divide &amp; Concat 改变分组和排列；后面会拆回原来的两路序列。</a:t>
            </a:r>
          </a:p>
        </p:txBody>
      </p:sp>
    </p:spTree>
    <p:extLst>
      <p:ext uri="{BB962C8B-B14F-4D97-AF65-F5344CB8AC3E}">
        <p14:creationId xmlns:p14="http://schemas.microsoft.com/office/powerpoint/2010/main" val="10690798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E42204-BAA6-4B5B-8191-F4D0E1F83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HMoE Dispatch：从输入汇聚到槽位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5BA1FA-65F0-41A4-942C-499C67F7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LayerNorm 与低秩映射后，每个 token 拆成两个 384 维子向量。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C5985E-BE0C-4948-832E-801FC5B2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3DB5F5-5E08-4968-8F3E-13EED3FF4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rPr>
              <a:t>U = reshape(LoRP(LN(X)))     [1,1024,384]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0CA7E2-F7AD-4279-B9B5-5371F1EBC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rPr>
              <a:t>L = UΦ     Φ：[384,8]     L：[1,1024,8]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494C10-2BF5-43CD-A63C-4686A04E7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28975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rPr>
              <a:t>Dₐₖ = exp(Lₐₖ / TD) / Σₐ′ exp(Lₐ′ₖ / TD)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6E315E-E96C-43FE-9581-7CAC9B68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rPr>
              <a:t>Gₖ = Σₐ Dₐₖ Uₐ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650E95-B823-44CB-B452-D3B2C124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每个槽位读取所有输入子向量的加权和。</a:t>
            </a:r>
          </a:p>
          <a:p xmlns:a="http://schemas.openxmlformats.org/drawingml/2006/main">
            <a:pPr>
              <a:def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RGB 与红外的信息在这里共同汇入槽位，输出整理为 [1,4,2,384]。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A3040D-3F40-4FBA-BAC9-6468047C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第一处 HMoE：4 个专家 × 2 个槽位，共 8 个汇聚位置。</a:t>
            </a:r>
          </a:p>
        </p:txBody>
      </p:sp>
    </p:spTree>
    <p:extLst>
      <p:ext uri="{BB962C8B-B14F-4D97-AF65-F5344CB8AC3E}">
        <p14:creationId xmlns:p14="http://schemas.microsoft.com/office/powerpoint/2010/main" val="13590860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7AAB3E-CE1B-4369-B5C7-82F5841D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HMoE：专家变换与 Combine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D51258-24CA-4B12-AD3C-E653FBF2F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每个专家处理汇聚特征，每个 token 再按自己的权重组合专家结果。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2D92E4-6E28-49AF-B9B6-2D9E9ED5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D761AA-39E3-478F-8E6A-A937389C5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rPr>
              <a:t>专家处理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829A79-63C1-43EB-9D8E-DBC430D4D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95525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每槽位 384 / 4 / 384 维低秩变换</a:t>
            </a:r>
          </a:p>
          <a:p xmlns:a="http://schemas.openxmlformats.org/drawingml/2006/main">
            <a:pPr>
              <a:defRPr sz="202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每专家拼接两个槽位，再经 LoRP，得到 F：[1,4,768]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60D143-454E-40B1-A003-E9768C34D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rPr>
              <a:t>Rᵢₑ = Σₐ₌₁² Σₛ₌₁² L₍ᵢ,ₐ₎,₍ₑ,ₛ₎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1CC736-0C69-4EBA-969C-0CEE312B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43375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rPr>
              <a:t>C = softmax(R / TC，沿专家维)     O = CF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4F8AD4-08DD-4E8C-8DE3-9BB278D85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5777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rPr>
              <a:t>C：[1,512,4]      F：[1,4,768]      O：[1,512,768]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44C99F-52DE-4EBA-9309-AAAAB8B48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Dispatch 对输入归一化；Combine 对专家归一化，二者来自同一份 logits。</a:t>
            </a:r>
          </a:p>
        </p:txBody>
      </p:sp>
    </p:spTree>
    <p:extLst>
      <p:ext uri="{BB962C8B-B14F-4D97-AF65-F5344CB8AC3E}">
        <p14:creationId xmlns:p14="http://schemas.microsoft.com/office/powerpoint/2010/main" val="4189242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9AEE8F-821F-4248-98B0-6874F11E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HMoE 的单通道演算与拆回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CEB435-63D1-4AA8-B509-89D598D7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同一组专家结果可以通过不同权重，生成不同 token 的更新量。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E71CDA-FD4E-4323-B094-6B52605E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10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160593-BAE2-42A4-A4F7-960C0591562B}"/>
              </a:ext>
            </a:extLst>
          </p:cNvPr>
          <p:cNvGraphicFramePr/>
          <p:nvPr/>
        </p:nvGraphicFramePr>
        <p:xfrm>
          <a:off xmlns:a="http://schemas.openxmlformats.org/drawingml/2006/main" x="628650" y="1809750"/>
          <a:ext xmlns:a="http://schemas.openxmlformats.org/drawingml/2006/main" cx="10934700" cy="2095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86200"/>
                <a:gridCol w="1762125"/>
                <a:gridCol w="1762125"/>
                <a:gridCol w="1762125"/>
                <a:gridCol w="1762125"/>
              </a:tblGrid>
              <a:tr h="6985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专家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本 token 的 Combine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专家输出的某一通道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−1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F44A1F-017C-4830-922A-CFCFA390C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29100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rPr>
              <a:t>更新量 = 0.5×2 + 0.2×4 + 0.2×(−1) = 1.6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F35F56-7392-4047-9A8C-25B8BBFCE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8157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若原特征该通道为 0.7，残差相加后为 2.3。</a:t>
            </a:r>
          </a:p>
          <a:p xmlns:a="http://schemas.openxmlformats.org/drawingml/2006/main">
            <a:pPr>
              <a:defRPr sz="187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拆回 RGB 与红外，重组各自模板和搜索，每路仍是 [1,320,768]。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4BB367-5122-41E3-A402-D55DFCCB7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随后经过 MLP 和第二处 8 专家 HMoE，再继续后续 block。</a:t>
            </a:r>
          </a:p>
        </p:txBody>
      </p:sp>
    </p:spTree>
    <p:extLst>
      <p:ext uri="{BB962C8B-B14F-4D97-AF65-F5344CB8AC3E}">
        <p14:creationId xmlns:p14="http://schemas.microsoft.com/office/powerpoint/2010/main" val="21916864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3FBC9F-346C-4B0C-891F-23F68BC6F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Prediction Head：搜索特征的三个分支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E4E1DD-8C2C-4867-B008-3BE9B63A6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Encoder 最终归一化后，取两路搜索 token 相加并恢复 16 × 16 网格。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D0BDA7-78A5-43FA-A3BB-BBB68C459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020331-06F3-4000-99A7-B8EE2801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rPr>
              <a:t>F = HRGB,search + HX,search     [1,256,768]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CDE632-2218-4A99-8B52-EEB0DF15E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恢复空间排列：[1,768,16,16]；编号 121 回到第 7 行、第 9 列。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074672-4F26-4B5D-A054-9A18AE5A5FB4}"/>
              </a:ext>
            </a:extLst>
          </p:cNvPr>
          <p:cNvGraphicFramePr/>
          <p:nvPr/>
        </p:nvGraphicFramePr>
        <p:xfrm>
          <a:off xmlns:a="http://schemas.openxmlformats.org/drawingml/2006/main" x="628650" y="3333750"/>
          <a:ext xmlns:a="http://schemas.openxmlformats.org/drawingml/2006/main" cx="10934700" cy="2266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3429000"/>
                <a:gridCol w="4791075"/>
              </a:tblGrid>
              <a:tr h="566738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分支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输出形状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作用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</a:tr>
              <a:tr h="5667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中心分数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[1,1,16,16]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选择目标中心位置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667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尺寸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[1,2,16,16]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预测归一化宽、高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</a:tr>
              <a:tr h="5667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偏移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[1,2,16,16]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修正网格中心坐标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E810E4-1C49-4BF1-938A-CD9E49AF4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三个分支参数独立；卷积读取空间邻域，分数与尺寸使用 sigmoid。</a:t>
            </a:r>
          </a:p>
        </p:txBody>
      </p:sp>
    </p:spTree>
    <p:extLst>
      <p:ext uri="{BB962C8B-B14F-4D97-AF65-F5344CB8AC3E}">
        <p14:creationId xmlns:p14="http://schemas.microsoft.com/office/powerpoint/2010/main" val="153194537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ECF1E6-09D1-4B40-AC13-FB9568476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预测头解码：由同一位置取中心、尺寸和偏移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F1716D-06BF-4BED-97F8-4DBF8EE5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假设中心分数最高点为第 7 行、第 9 列，分数 0.92。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C73E58-ECE5-4066-AD08-01AF783D4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12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73D767-B0ED-4CF4-ACE1-3B3995FFC1C8}"/>
              </a:ext>
            </a:extLst>
          </p:cNvPr>
          <p:cNvGraphicFramePr/>
          <p:nvPr/>
        </p:nvGraphicFramePr>
        <p:xfrm>
          <a:off xmlns:a="http://schemas.openxmlformats.org/drawingml/2006/main" x="628650" y="1790700"/>
          <a:ext xmlns:a="http://schemas.openxmlformats.org/drawingml/2006/main" cx="10934700" cy="2381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286500"/>
                <a:gridCol w="4648200"/>
              </a:tblGrid>
              <a:tr h="595313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该位置的输出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数值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网格坐标 (x,y)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(9,7)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偏移 (dx,dy)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(0.25,0.50)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尺寸 (w,h)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(0.25,0.50)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281D28-6CB3-49A7-BE59-6B0BC3807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29125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rPr>
              <a:t>cx = (9 + 0.25)/16 = 0.578125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F4E2F7-1F49-44BF-8FE8-8CACDE40F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00625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rPr>
              <a:t>cy = (7 + 0.50)/16 = 0.46875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3F16FE-1218-4ECA-8594-4E7845D2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归一化框：[0.578125, 0.46875, 0.25, 0.50]，顺序为 cx、cy、w、h。</a:t>
            </a:r>
          </a:p>
        </p:txBody>
      </p:sp>
    </p:spTree>
    <p:extLst>
      <p:ext uri="{BB962C8B-B14F-4D97-AF65-F5344CB8AC3E}">
        <p14:creationId xmlns:p14="http://schemas.microsoft.com/office/powerpoint/2010/main" val="154462721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C5DBB3-E7CB-48C8-9511-2877304F2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目标框映射回原图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D6EFEC-7143-4F26-8180-585333B1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先恢复尺度，再平移到原图，最后转换为左上角与宽高。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D3B0CA-8330-4FFA-9C62-6E3D1ACFF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13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520FC4-2C27-4804-9982-DB5D22B60815}"/>
              </a:ext>
            </a:extLst>
          </p:cNvPr>
          <p:cNvGraphicFramePr/>
          <p:nvPr/>
        </p:nvGraphicFramePr>
        <p:xfrm>
          <a:off xmlns:a="http://schemas.openxmlformats.org/drawingml/2006/main" x="628650" y="1809750"/>
          <a:ext xmlns:a="http://schemas.openxmlformats.org/drawingml/2006/main" cx="1093470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62500"/>
                <a:gridCol w="3086100"/>
                <a:gridCol w="3086100"/>
              </a:tblGrid>
              <a:tr h="690563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坐标阶段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中心 (cx,cy)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宽高 (w,h)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256 × 256 搜索图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(148,120)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(64,128)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原裁剪区域，边长512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(296,240)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(128,256)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加原点 (100,200)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(396,440)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(128,256)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BF4DDC-BFCB-460D-824C-F27FE17EF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33950"/>
            <a:ext cx="10744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75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rPr>
              <a:t>最终 xywh = [332,312,128,256]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E1CE7A-BD94-4B55-BBB1-C5F24A1EC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实际 Tracker 先乘 Hann 窗再解码；本例假设选中位置不变，最后还会裁剪边界。</a:t>
            </a:r>
          </a:p>
        </p:txBody>
      </p:sp>
    </p:spTree>
    <p:extLst>
      <p:ext uri="{BB962C8B-B14F-4D97-AF65-F5344CB8AC3E}">
        <p14:creationId xmlns:p14="http://schemas.microsoft.com/office/powerpoint/2010/main" val="200180886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D483A2-6E76-4F68-80C5-97B385FA7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复现工作完成情况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410B74-32FB-48D7-8456-46DB041D1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以全部复现完成为汇报前提，覆盖数据、训练、推理和指标分析。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B77F71-82FB-4B5C-AC1F-131EDBAE5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14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560D48-C035-4AFA-B12B-903089ADC825}"/>
              </a:ext>
            </a:extLst>
          </p:cNvPr>
          <p:cNvGraphicFramePr/>
          <p:nvPr/>
        </p:nvGraphicFramePr>
        <p:xfrm>
          <a:off xmlns:a="http://schemas.openxmlformats.org/drawingml/2006/main" x="628650" y="1819275"/>
          <a:ext xmlns:a="http://schemas.openxmlformats.org/drawingml/2006/main" cx="10934700" cy="3371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077200"/>
              </a:tblGrid>
              <a:tr h="67437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工作阶段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完成内容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数据与环境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完成双模态数据配置、配对检查和运行环境适配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模型训练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完成 RGB-D 25轮、RGB-E 45轮、RGB-T 60轮训练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测试与评估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完成各数据集全量推理、轨迹验收和指标计算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实验整理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完成配置、权重、日志、轨迹与指标报告整理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422983-D73F-47EF-BB29-0198B85C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完成状态按本版汇报前提呈现；具体结果以最终评测报告为准。</a:t>
            </a:r>
          </a:p>
        </p:txBody>
      </p:sp>
    </p:spTree>
    <p:extLst>
      <p:ext uri="{BB962C8B-B14F-4D97-AF65-F5344CB8AC3E}">
        <p14:creationId xmlns:p14="http://schemas.microsoft.com/office/powerpoint/2010/main" val="24617402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BC2FF8-9247-474F-A486-27C9EE04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五项官方权重评测结果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ECFCB3-EE83-48D8-A1D8-293937F3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按论文展示精度舍入后，各项指标与论文记录一致。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2CD25D-DEDC-4267-A038-ED5B9DEC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15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E6F77E-DFFE-4010-8D4E-68FA54A754F5}"/>
              </a:ext>
            </a:extLst>
          </p:cNvPr>
          <p:cNvGraphicFramePr/>
          <p:nvPr/>
        </p:nvGraphicFramePr>
        <p:xfrm>
          <a:off xmlns:a="http://schemas.openxmlformats.org/drawingml/2006/main" x="628650" y="1809750"/>
          <a:ext xmlns:a="http://schemas.openxmlformats.org/drawingml/2006/main" cx="109347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2095500"/>
                <a:gridCol w="3790950"/>
                <a:gridCol w="2428875"/>
              </a:tblGrid>
              <a:tr h="555625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数据集 / 序列数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指标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本次结果（×100）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论文（×100）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DepthTrack / 50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PR / RE / F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62.9096 / 63.5460 / 63.2262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62.9 / 63.5 / 63.2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LasHeR / 245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PR / NPR / SR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71.5961 / 67.4782 / 57.2631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71.6 / 67.5 / 57.3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VisEvent / 320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PR / SR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77.0950 / 60.2610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77.1 / 60.3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RGBT234 / 234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MPR / MSR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87.8146 / 63.9083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87.8 / 63.9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VOT22-RGBD / 127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EAO / Acc / Rob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73.5672 / 82.0755 / 88.3893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73.6 / 82.1 / 88.4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3BB330-81F1-4FB2-BFA2-09633290C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721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rPr>
              <a:t>官方权重评测已经建立可用基线。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D26891-24FF-4058-95B3-4E70547D1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LasHeR、VisEvent、RGBT234 使用 Python 参考口径；尚未做 MATLAB 交叉验证。</a:t>
            </a:r>
          </a:p>
        </p:txBody>
      </p:sp>
    </p:spTree>
    <p:extLst>
      <p:ext uri="{BB962C8B-B14F-4D97-AF65-F5344CB8AC3E}">
        <p14:creationId xmlns:p14="http://schemas.microsoft.com/office/powerpoint/2010/main" val="198377295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42FB43-807D-438C-B58E-89AC1A0AC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自训练配置与完成情况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A9091C-0E10-4A96-A01F-2642B280D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三个模态任务使用各自数据集与训练轮次。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AF805E-FD11-4A47-88E3-627AC883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16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17C4A2-7C89-4409-AB5F-0E4E1B22B9FD}"/>
              </a:ext>
            </a:extLst>
          </p:cNvPr>
          <p:cNvGraphicFramePr/>
          <p:nvPr/>
        </p:nvGraphicFramePr>
        <p:xfrm>
          <a:off xmlns:a="http://schemas.openxmlformats.org/drawingml/2006/main" x="628650" y="1809750"/>
          <a:ext xmlns:a="http://schemas.openxmlformats.org/drawingml/2006/main" cx="109347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3238500"/>
                <a:gridCol w="2667000"/>
                <a:gridCol w="2695575"/>
              </a:tblGrid>
              <a:tr h="7143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任务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训练数据集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轮次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状态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RGB-D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DepthTrack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25 / 25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已完成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RGB-E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VisEvent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45 / 45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已完成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RGB-T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LasHeR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60 / 60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已完成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7DDA24-A36F-46C3-A2FF-DCC6CEFC8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2920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rPr>
              <a:t>RGB-T：单卡微批 4 × 梯度累积 16，有效 batch = 64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D2A26F-4882-431C-8E72-029D5ABEF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三项任务均保留各轮权重；结果分析使用对应末轮 checkpoint。</a:t>
            </a:r>
          </a:p>
        </p:txBody>
      </p:sp>
    </p:spTree>
    <p:extLst>
      <p:ext uri="{BB962C8B-B14F-4D97-AF65-F5344CB8AC3E}">
        <p14:creationId xmlns:p14="http://schemas.microsoft.com/office/powerpoint/2010/main" val="47437449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68CCF5-900A-40B5-BE4A-7EFE7218C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自训练测试结果汇总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457DA5-1AD9-4018-8525-EDAD28D88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三项任务均完成末轮模型测试，以下为本次提供的评测结果。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7892B3-6128-4DC1-BF8F-0F677F94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17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44939D-6375-4E00-97ED-FA906725EFFC}"/>
              </a:ext>
            </a:extLst>
          </p:cNvPr>
          <p:cNvGraphicFramePr/>
          <p:nvPr/>
        </p:nvGraphicFramePr>
        <p:xfrm>
          <a:off xmlns:a="http://schemas.openxmlformats.org/drawingml/2006/main" x="628650" y="1809750"/>
          <a:ext xmlns:a="http://schemas.openxmlformats.org/drawingml/2006/main" cx="109347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95625"/>
                <a:gridCol w="1619250"/>
                <a:gridCol w="1238250"/>
                <a:gridCol w="4981575"/>
              </a:tblGrid>
              <a:tr h="8096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任务 / 测试集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末轮权重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状态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测试指标（%）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RGB-D / DepthTrack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ep0025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已完成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PR / RE / F</a:t>
                      </a:r>
                    </a:p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62.9096 / 63.5460 / 63.2262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RGB-E / VisEvent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ep0045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已完成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PR / SR</a:t>
                      </a:r>
                    </a:p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77.0950 / 60.2610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RGB-T / LasHeR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ep0060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已完成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PR / NPR / SR</a:t>
                      </a:r>
                    </a:p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71.5961 / 67.4782 / 57.2631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012B3B-1A8C-48F7-8F2F-FBC9C2945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62575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17E83"/>
                </a:solidFill>
                <a:latin typeface="Hiragino Sans GB"/>
                <a:ea typeface="Hiragino Sans GB"/>
                <a:cs typeface="Hiragino Sans GB"/>
              </a:rPr>
              <a:t>三项结果按一位小数展示时均与论文对应值一致。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4FF6AA-3D41-487E-A534-2EBC18AC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数据来源：本次提供的自训练测试结果；各数据集沿用对应指标定义。</a:t>
            </a:r>
          </a:p>
        </p:txBody>
      </p:sp>
    </p:spTree>
    <p:extLst>
      <p:ext uri="{BB962C8B-B14F-4D97-AF65-F5344CB8AC3E}">
        <p14:creationId xmlns:p14="http://schemas.microsoft.com/office/powerpoint/2010/main" val="27070872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BE0FCB-51F8-4ECC-8D09-8D6D8F81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VOT22-RGBD 全量评测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1EA86D-8BAF-4721-8533-D8214C04F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127 个序列，按官方多起点协议完成跟踪与分析。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EF6162-5F42-4F2B-9075-CBA69185F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18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4B7CED-9E40-4516-BD13-0137D796F547}"/>
              </a:ext>
            </a:extLst>
          </p:cNvPr>
          <p:cNvGraphicFramePr/>
          <p:nvPr/>
        </p:nvGraphicFramePr>
        <p:xfrm>
          <a:off xmlns:a="http://schemas.openxmlformats.org/drawingml/2006/main" x="628650" y="1790700"/>
          <a:ext xmlns:a="http://schemas.openxmlformats.org/drawingml/2006/main" cx="10934700" cy="2143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077200"/>
              </a:tblGrid>
              <a:tr h="535781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评测范围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完成内容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</a:tr>
              <a:tr h="535781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数据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127 序列、80,741 原始帧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5781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协议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VOT-RGBD2022 多起点评测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</a:tr>
              <a:tr h="535781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结果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完成轨迹生成、结果验收与指标分析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20DFAF-3397-48FC-9738-6B584CDAA1E9}"/>
              </a:ext>
            </a:extLst>
          </p:cNvPr>
          <p:cNvGraphicFramePr/>
          <p:nvPr/>
        </p:nvGraphicFramePr>
        <p:xfrm>
          <a:off xmlns:a="http://schemas.openxmlformats.org/drawingml/2006/main" x="628650" y="4191000"/>
          <a:ext xmlns:a="http://schemas.openxmlformats.org/drawingml/2006/main" cx="10934700" cy="1600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3810000"/>
                <a:gridCol w="3790950"/>
              </a:tblGrid>
              <a:tr h="4000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指标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本次结果（×100）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论文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EAO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73.5672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73.6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Accuracy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82.0755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82.1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Robustness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88.3893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88.4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D4B245-BE37-42ED-BE0B-C25B86F29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三项结果按论文展示精度保留一位小数后均一致；已纳入五数据集汇总表。</a:t>
            </a:r>
          </a:p>
        </p:txBody>
      </p:sp>
    </p:spTree>
    <p:extLst>
      <p:ext uri="{BB962C8B-B14F-4D97-AF65-F5344CB8AC3E}">
        <p14:creationId xmlns:p14="http://schemas.microsoft.com/office/powerpoint/2010/main" val="197658341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2751AC-A232-441F-8589-A634FDB7E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复现中的工程实现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100C59-E0B3-4F00-88A6-F4F932AA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运行配置与评测流程形成可复用的实验基础。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35C2D0-4FF0-46D6-824F-A12D3A6A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BCF412-3AA8-4C49-81BC-2EA4916C2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10744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rPr>
              <a:t>训练实现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A704B2-A31D-48A0-B439-D4C096461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1932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独立训练目录、末轮权重选择、梯度累积和运行日志记录。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F963EA-B1C6-4F8C-8740-0D97D928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10744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rPr>
              <a:t>推理与评估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E04272-36E2-4F68-B298-C8397385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00450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隔离测试输出，检查序列、帧数与预测有效性，再计算数据集对应指标。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047B3D-F8A1-402E-852B-2E9080C7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24375"/>
            <a:ext cx="10744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rPr>
              <a:t>实验可追溯性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2D642E-84A8-4F2F-A0AA-5662B7718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815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用配置快照和 SHA-256 关联权重、轨迹及评测报告。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CD8B6A-3074-4BC7-949A-DB72A506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不同数据集保留各自评测定义，避免将不同指标直接横向比较。</a:t>
            </a:r>
          </a:p>
        </p:txBody>
      </p:sp>
    </p:spTree>
    <p:extLst>
      <p:ext uri="{BB962C8B-B14F-4D97-AF65-F5344CB8AC3E}">
        <p14:creationId xmlns:p14="http://schemas.microsoft.com/office/powerpoint/2010/main" val="32391114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D9E936-9637-4CBA-98BB-FA18A51CE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核心理解与复现总结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0C0F0A-9A4A-4B21-A3DD-B5291CA7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完成复现后，能够把论文模块、源码实现和预测结果对应起来。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786466-2445-43A9-9882-A4500276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F05452-8A06-469C-A439-B6BB707E0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10744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rPr>
              <a:t>AMG-LoRA：关系引导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111948-B02D-48B6-AA84-AEA9E7DB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1932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低秩更新 K/V，用另一模态的注意力分数修正本模态的读取权重。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A8B886-09D5-4D6F-B83E-BD1F3976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10744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rPr>
              <a:t>HMoE：特征融合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04781F-1243-404A-8AF2-FE7C79803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00450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通过 Dispatch 汇聚两种模态的信息，再用 Combine 分配专家结果。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AB989E-2283-4E53-8E38-17310272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24375"/>
            <a:ext cx="10744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05CA0"/>
                </a:solidFill>
                <a:latin typeface="Hiragino Sans GB"/>
                <a:ea typeface="Hiragino Sans GB"/>
                <a:cs typeface="Hiragino Sans GB"/>
              </a:rPr>
              <a:t>Prediction Head：目标定位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EDC225-F82F-4447-B688-F47F057FB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815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将搜索特征恢复为空间网格，用中心、尺寸和偏移解码目标框。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D3C571-1FFD-4727-962A-8C77E4C4D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复现覆盖数据准备、模型训练、全量测试与结果整理。</a:t>
            </a:r>
          </a:p>
        </p:txBody>
      </p:sp>
    </p:spTree>
    <p:extLst>
      <p:ext uri="{BB962C8B-B14F-4D97-AF65-F5344CB8AC3E}">
        <p14:creationId xmlns:p14="http://schemas.microsoft.com/office/powerpoint/2010/main" val="10000608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8A6694-1D6A-47FF-A810-3DF0190E6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300" b="1">
                <a:solidFill>
                  <a:srgbClr val="182B40"/>
                </a:solidFill>
                <a:latin typeface="Hiragino Sans GB"/>
                <a:ea typeface="Hiragino Sans GB"/>
                <a:cs typeface="Hiragino Sans GB"/>
              </a:rPr>
              <a:t>附录：源码与复现记录入口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D7D2AE-8945-41FE-9DF5-454403CD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43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模块公式与项目实现对应，详细路径和讲稿见每页备注。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F0C729-1CB8-49DE-8187-F7EA6370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246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21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F6EE24-DC66-4571-8F3A-AF6C5E64E567}"/>
              </a:ext>
            </a:extLst>
          </p:cNvPr>
          <p:cNvGraphicFramePr/>
          <p:nvPr/>
        </p:nvGraphicFramePr>
        <p:xfrm>
          <a:off xmlns:a="http://schemas.openxmlformats.org/drawingml/2006/main" x="628650" y="1809750"/>
          <a:ext xmlns:a="http://schemas.openxmlformats.org/drawingml/2006/main" cx="10934700" cy="3543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791450"/>
              </a:tblGrid>
              <a:tr h="70866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模块 / 记录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入口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T w="9525">
                      <a:solidFill>
                        <a:srgbClr val="D9E1E9"/>
                      </a:solidFill>
                      <a:prstDash val="solid"/>
                    </a:lnT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182B40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AMG-LoRA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attn_blocks.py：cal_qkv / amglora_attn</a:t>
                      </a:r>
                    </a:p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attn.py：MergedLinear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HMoE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attn.py：HMoE / LoRP / MultiExpertLinear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Prediction Head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head.py：CenterPredictor / cal_bbox</a:t>
                      </a:r>
                    </a:p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seatrack.py：forward_head / map_box_back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复现进度与结果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9E1E9"/>
                      </a:solidFill>
                      <a:prstDash val="solid"/>
                    </a:lnL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复现日志.md</a:t>
                      </a:r>
                    </a:p>
                    <a:p>
                      <a:r>
                        <a:rPr sz="1875" b="0">
                          <a:solidFill>
                            <a:srgbClr val="182B40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result/&lt;数据集&gt;/&lt;实验&gt;/README.md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9E1E9"/>
                      </a:solidFill>
                      <a:prstDash val="solid"/>
                    </a:lnR>
                    <a:lnB w="9525">
                      <a:solidFill>
                        <a:srgbClr val="D9E1E9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452D8C-EFBD-4489-9B1A-85620C47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436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37385"/>
                </a:solidFill>
                <a:latin typeface="Hiragino Sans GB"/>
                <a:ea typeface="Hiragino Sans GB"/>
                <a:cs typeface="Hiragino Sans GB"/>
              </a:rPr>
              <a:t>所有局部计算数字均用于说明原理；实验指标单独标明来源与验证范围。</a:t>
            </a:r>
          </a:p>
        </p:txBody>
      </p:sp>
    </p:spTree>
    <p:extLst>
      <p:ext uri="{BB962C8B-B14F-4D97-AF65-F5344CB8AC3E}">
        <p14:creationId xmlns:p14="http://schemas.microsoft.com/office/powerpoint/2010/main" val="2358134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2026-10-16T05:50:24.5760000Z</dcterms:created>
  <dcterms:modified xsi:type="dcterms:W3CDTF">2026-10-16T05:50:24.5760000Z</dcterms:modified>
</coreProperties>
</file>