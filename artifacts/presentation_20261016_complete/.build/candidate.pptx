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5f9ce89ac741c8" /><Relationship Type="http://schemas.openxmlformats.org/officeDocument/2006/relationships/extended-properties" Target="/docProps/app.xml" Id="R63def506fc69416e" /><Relationship Type="http://schemas.openxmlformats.org/officeDocument/2006/relationships/officeDocument" Target="/ppt/presentation.xml" Id="R49b7553b7fe846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aec999d637463d"/>
  </p:sldMasterIdLst>
  <p:notesMasterIdLst>
    <p:notesMasterId xmlns:r="http://schemas.openxmlformats.org/officeDocument/2006/relationships" r:id="R3b1e3afcb7fe4cf1"/>
  </p:notesMasterIdLst>
  <p:sldIdLst>
    <p:sldId xmlns:r="http://schemas.openxmlformats.org/officeDocument/2006/relationships" id="256" r:id="R6fd7ed44cb6946b7"/>
    <p:sldId xmlns:r="http://schemas.openxmlformats.org/officeDocument/2006/relationships" id="257" r:id="R51776ddb33914cb3"/>
    <p:sldId xmlns:r="http://schemas.openxmlformats.org/officeDocument/2006/relationships" id="258" r:id="Ra2673a6a89a540cc"/>
    <p:sldId xmlns:r="http://schemas.openxmlformats.org/officeDocument/2006/relationships" id="259" r:id="Rc18451c341e8454d"/>
    <p:sldId xmlns:r="http://schemas.openxmlformats.org/officeDocument/2006/relationships" id="260" r:id="Rfc39031cbedb4706"/>
    <p:sldId xmlns:r="http://schemas.openxmlformats.org/officeDocument/2006/relationships" id="261" r:id="R4aabd2d240ea4159"/>
    <p:sldId xmlns:r="http://schemas.openxmlformats.org/officeDocument/2006/relationships" id="262" r:id="R8488ac9a913e4913"/>
    <p:sldId xmlns:r="http://schemas.openxmlformats.org/officeDocument/2006/relationships" id="263" r:id="R1ebb3854374d4555"/>
    <p:sldId xmlns:r="http://schemas.openxmlformats.org/officeDocument/2006/relationships" id="264" r:id="Rbd0d35ebfdad4712"/>
    <p:sldId xmlns:r="http://schemas.openxmlformats.org/officeDocument/2006/relationships" id="265" r:id="R42edc6ce7e204c12"/>
    <p:sldId xmlns:r="http://schemas.openxmlformats.org/officeDocument/2006/relationships" id="266" r:id="Rf294c736d34d403a"/>
    <p:sldId xmlns:r="http://schemas.openxmlformats.org/officeDocument/2006/relationships" id="267" r:id="R2a828007e3f74942"/>
    <p:sldId xmlns:r="http://schemas.openxmlformats.org/officeDocument/2006/relationships" id="268" r:id="R597d29f8b5c44a2e"/>
    <p:sldId xmlns:r="http://schemas.openxmlformats.org/officeDocument/2006/relationships" id="269" r:id="Rc63befe811c04bcf"/>
    <p:sldId xmlns:r="http://schemas.openxmlformats.org/officeDocument/2006/relationships" id="270" r:id="R881be4c1d5b44fcf"/>
    <p:sldId xmlns:r="http://schemas.openxmlformats.org/officeDocument/2006/relationships" id="271" r:id="Rd206ecf24c3544a0"/>
    <p:sldId xmlns:r="http://schemas.openxmlformats.org/officeDocument/2006/relationships" id="272" r:id="Rb2be1299ac704058"/>
    <p:sldId xmlns:r="http://schemas.openxmlformats.org/officeDocument/2006/relationships" id="273" r:id="Re4463ec66ef24e61"/>
    <p:sldId xmlns:r="http://schemas.openxmlformats.org/officeDocument/2006/relationships" id="274" r:id="R5be1bc05fddb41a1"/>
    <p:sldId xmlns:r="http://schemas.openxmlformats.org/officeDocument/2006/relationships" id="275" r:id="R4830d10c3dbf4a5d"/>
    <p:sldId xmlns:r="http://schemas.openxmlformats.org/officeDocument/2006/relationships" id="276" r:id="R498c9d3995884e7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c204f551f64640" /><Relationship Type="http://schemas.openxmlformats.org/officeDocument/2006/relationships/slideMaster" Target="/ppt/slideMasters/slideMaster1.xml" Id="R0aaec999d637463d" /><Relationship Type="http://schemas.openxmlformats.org/officeDocument/2006/relationships/notesMaster" Target="/ppt/notesMasters/notesMaster1.xml" Id="R3b1e3afcb7fe4cf1" /><Relationship Type="http://schemas.openxmlformats.org/officeDocument/2006/relationships/presProps" Target="/ppt/presProps.xml" Id="R40d89b007a0543a8" /><Relationship Type="http://schemas.openxmlformats.org/officeDocument/2006/relationships/tableStyles" Target="/ppt/tableStyles.xml" Id="R0eadd1f681ec4924" /><Relationship Type="http://schemas.openxmlformats.org/officeDocument/2006/relationships/slide" Target="/ppt/slides/slide1.xml" Id="R6fd7ed44cb6946b7" /><Relationship Type="http://schemas.openxmlformats.org/officeDocument/2006/relationships/slide" Target="/ppt/slides/slide2.xml" Id="R51776ddb33914cb3" /><Relationship Type="http://schemas.openxmlformats.org/officeDocument/2006/relationships/slide" Target="/ppt/slides/slide3.xml" Id="Ra2673a6a89a540cc" /><Relationship Type="http://schemas.openxmlformats.org/officeDocument/2006/relationships/slide" Target="/ppt/slides/slide4.xml" Id="Rc18451c341e8454d" /><Relationship Type="http://schemas.openxmlformats.org/officeDocument/2006/relationships/slide" Target="/ppt/slides/slide5.xml" Id="Rfc39031cbedb4706" /><Relationship Type="http://schemas.openxmlformats.org/officeDocument/2006/relationships/slide" Target="/ppt/slides/slide6.xml" Id="R4aabd2d240ea4159" /><Relationship Type="http://schemas.openxmlformats.org/officeDocument/2006/relationships/slide" Target="/ppt/slides/slide7.xml" Id="R8488ac9a913e4913" /><Relationship Type="http://schemas.openxmlformats.org/officeDocument/2006/relationships/slide" Target="/ppt/slides/slide8.xml" Id="R1ebb3854374d4555" /><Relationship Type="http://schemas.openxmlformats.org/officeDocument/2006/relationships/slide" Target="/ppt/slides/slide9.xml" Id="Rbd0d35ebfdad4712" /><Relationship Type="http://schemas.openxmlformats.org/officeDocument/2006/relationships/slide" Target="/ppt/slides/slide10.xml" Id="R42edc6ce7e204c12" /><Relationship Type="http://schemas.openxmlformats.org/officeDocument/2006/relationships/slide" Target="/ppt/slides/slide11.xml" Id="Rf294c736d34d403a" /><Relationship Type="http://schemas.openxmlformats.org/officeDocument/2006/relationships/slide" Target="/ppt/slides/slide12.xml" Id="R2a828007e3f74942" /><Relationship Type="http://schemas.openxmlformats.org/officeDocument/2006/relationships/slide" Target="/ppt/slides/slide13.xml" Id="R597d29f8b5c44a2e" /><Relationship Type="http://schemas.openxmlformats.org/officeDocument/2006/relationships/slide" Target="/ppt/slides/slide14.xml" Id="Rc63befe811c04bcf" /><Relationship Type="http://schemas.openxmlformats.org/officeDocument/2006/relationships/slide" Target="/ppt/slides/slide15.xml" Id="R881be4c1d5b44fcf" /><Relationship Type="http://schemas.openxmlformats.org/officeDocument/2006/relationships/slide" Target="/ppt/slides/slide16.xml" Id="Rd206ecf24c3544a0" /><Relationship Type="http://schemas.openxmlformats.org/officeDocument/2006/relationships/slide" Target="/ppt/slides/slide17.xml" Id="Rb2be1299ac704058" /><Relationship Type="http://schemas.openxmlformats.org/officeDocument/2006/relationships/slide" Target="/ppt/slides/slide18.xml" Id="Re4463ec66ef24e61" /><Relationship Type="http://schemas.openxmlformats.org/officeDocument/2006/relationships/slide" Target="/ppt/slides/slide19.xml" Id="R5be1bc05fddb41a1" /><Relationship Type="http://schemas.openxmlformats.org/officeDocument/2006/relationships/slide" Target="/ppt/slides/slide20.xml" Id="R4830d10c3dbf4a5d" /><Relationship Type="http://schemas.openxmlformats.org/officeDocument/2006/relationships/slide" Target="/ppt/slides/slide21.xml" Id="R498c9d3995884e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bb0b49c76145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55d12b361e46b7" /><Relationship Type="http://schemas.openxmlformats.org/officeDocument/2006/relationships/notesMaster" Target="/ppt/notesMasters/notesMaster1.xml" Id="Rf91d45cd0d784f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c30e3dbcbf4422" /><Relationship Type="http://schemas.openxmlformats.org/officeDocument/2006/relationships/notesMaster" Target="/ppt/notesMasters/notesMaster1.xml" Id="R445b39020d2e473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eac2dd0ae64208" /><Relationship Type="http://schemas.openxmlformats.org/officeDocument/2006/relationships/notesMaster" Target="/ppt/notesMasters/notesMaster1.xml" Id="Rf44ab3580b574f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f5eecab56f42bc" /><Relationship Type="http://schemas.openxmlformats.org/officeDocument/2006/relationships/notesMaster" Target="/ppt/notesMasters/notesMaster1.xml" Id="Rb68df3ec48b940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664da4ee5e4eb8" /><Relationship Type="http://schemas.openxmlformats.org/officeDocument/2006/relationships/notesMaster" Target="/ppt/notesMasters/notesMaster1.xml" Id="R2674fcc416da415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bb0e81ff997491b" /><Relationship Type="http://schemas.openxmlformats.org/officeDocument/2006/relationships/notesMaster" Target="/ppt/notesMasters/notesMaster1.xml" Id="R7486e11797c1457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9770062c1a64b55" /><Relationship Type="http://schemas.openxmlformats.org/officeDocument/2006/relationships/notesMaster" Target="/ppt/notesMasters/notesMaster1.xml" Id="R49fa782faf98429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22b7ffa0e074058" /><Relationship Type="http://schemas.openxmlformats.org/officeDocument/2006/relationships/notesMaster" Target="/ppt/notesMasters/notesMaster1.xml" Id="R7b38fa7baa584bf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e17acf631934339" /><Relationship Type="http://schemas.openxmlformats.org/officeDocument/2006/relationships/notesMaster" Target="/ppt/notesMasters/notesMaster1.xml" Id="R7f043744ca0a419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9c75e8651744ece" /><Relationship Type="http://schemas.openxmlformats.org/officeDocument/2006/relationships/notesMaster" Target="/ppt/notesMasters/notesMaster1.xml" Id="R8ef7bbb91e9443e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05bc65a979b4a33" /><Relationship Type="http://schemas.openxmlformats.org/officeDocument/2006/relationships/notesMaster" Target="/ppt/notesMasters/notesMaster1.xml" Id="Reb5f031e5961439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fc76bb14c2d482f" /><Relationship Type="http://schemas.openxmlformats.org/officeDocument/2006/relationships/notesMaster" Target="/ppt/notesMasters/notesMaster1.xml" Id="R8ade31c6de4a4be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c02ff08106d4538" /><Relationship Type="http://schemas.openxmlformats.org/officeDocument/2006/relationships/notesMaster" Target="/ppt/notesMasters/notesMaster1.xml" Id="R06340e7009dc480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30b45e67bb44589" /><Relationship Type="http://schemas.openxmlformats.org/officeDocument/2006/relationships/notesMaster" Target="/ppt/notesMasters/notesMaster1.xml" Id="Rf50567504e0943a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2a50c1eedcf42de" /><Relationship Type="http://schemas.openxmlformats.org/officeDocument/2006/relationships/notesMaster" Target="/ppt/notesMasters/notesMaster1.xml" Id="R4bf2c3f61a854ef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96881d5370f4936" /><Relationship Type="http://schemas.openxmlformats.org/officeDocument/2006/relationships/notesMaster" Target="/ppt/notesMasters/notesMaster1.xml" Id="Rb085ed69f3fc401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9f323f0437247ed" /><Relationship Type="http://schemas.openxmlformats.org/officeDocument/2006/relationships/notesMaster" Target="/ppt/notesMasters/notesMaster1.xml" Id="Reed64edc49d041f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524a35580334c0b" /><Relationship Type="http://schemas.openxmlformats.org/officeDocument/2006/relationships/notesMaster" Target="/ppt/notesMasters/notesMaster1.xml" Id="Rbd63c8533a934ae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36db838bb604df0" /><Relationship Type="http://schemas.openxmlformats.org/officeDocument/2006/relationships/notesMaster" Target="/ppt/notesMasters/notesMaster1.xml" Id="R9028fc96c2c7464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65356872326404e" /><Relationship Type="http://schemas.openxmlformats.org/officeDocument/2006/relationships/notesMaster" Target="/ppt/notesMasters/notesMaster1.xml" Id="R11b56b83ad18472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17a8f845ce34875" /><Relationship Type="http://schemas.openxmlformats.org/officeDocument/2006/relationships/notesMaster" Target="/ppt/notesMasters/notesMaster1.xml" Id="R9c2b2f85bcd74e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汇报按全部复现完成的情景组织，完成状态是用户指定的汇报前提，不新增独立验证证据。核心机制来自项目源码，四项官方权重指标保留历史实测记录。自训练最终报告和VOT22最终数值尚未提供，使用待填占位，不用历史存在来源疑点的值代替最终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/Users/lzy/Desktop/GitHub/seatrack/code.md</a:t>
            </a:r>
          </a:p>
          <a:p xmlns:a="http://schemas.openxmlformats.org/drawingml/2006/main">
            <a:r>
              <a:t>/Users/lzy/Desktop/GitHub/seatrack/复现日志.md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图为仓库提供的论文框架图。默认骨干12层，零起始索引1、3、5、7、9、11使用AMG-LoRA和两处HMoE。每层两模态共享该层参数，层与层之间参数独立。Prediction Head位于Encoder之后。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/Users/lzy/Desktop/GitHub/seatrack/SEATrack-main/assets/Framework.png</a:t>
            </a:r>
          </a:p>
          <a:p xmlns:a="http://schemas.openxmlformats.org/drawingml/2006/main">
            <a:r>
              <a:t>/Users/lzy/Desktop/GitHub/seatrack/SEATrack-main/lib/models/seatrack/vit_ci.py</a:t>
            </a:r>
          </a:p>
          <a:p xmlns:a="http://schemas.openxmlformats.org/drawingml/2006/main">
            <a:r>
              <a:t>/Users/lzy/Desktop/GitHub/seatrack/SEATrack-main/lib/models/layers/attn_blocks.py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板来自目标参考区域，搜索来自当前帧目标附近。输入尺寸和token数量来自默认配置。搜索网格第7行第9列按零起始编号为121，在模板搜索拼接后的序列中编号185。这个位置只是教学跟踪位置，并不预先认定其为真实目标中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/Users/lzy/Desktop/GitHub/seatrack/SEATrack-main/lib/models/seatrack/vit_ci.py</a:t>
            </a:r>
          </a:p>
          <a:p xmlns:a="http://schemas.openxmlformats.org/drawingml/2006/main">
            <a:r>
              <a:t>/Users/lzy/Desktop/GitHub/seatrack/SEATrack-main/lib/models/layers/patch_embed.py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先执行库中的LayerNorm。公式使用行向量右乘写法，实际PyTorch权重存储为out,in。省略训练dropout。r=8，K和V拥有各自的A和B。源码定义了alpha/r但注释了实际乘法。推理时可以合并LoRA增量，等价于这里的展开表达。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/Users/lzy/Desktop/GitHub/seatrack/SEATrack-main/lib/models/layers/attn.py</a:t>
            </a:r>
          </a:p>
          <a:p xmlns:a="http://schemas.openxmlformats.org/drawingml/2006/main">
            <a:r>
              <a:t>/Users/lzy/Desktop/GitHub/seatrack/SEATrack-main/lib/models/layers/attn_blocks.py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S是softmax前的logits，P是softmax后的权重。两路都引用对方原始logits。α对应dte2r_scaling，β对应r2dte_scaling，都是每增强层一个方向一个可学习标量，初始为1，无sigmoid约束。下方仅用两个key演示，实际每行有320个key。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/Users/lzy/Desktop/GitHub/seatrack/SEATrack-main/lib/models/layers/attn_blocks.py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以下两个通道仅是教学缩小例子。真实计算每个头64维，12个头合并后做输出投影，返回分支更新量。xrgb_attn变量名虽然包含attn，但这里已经是token特征。残差保留LayerNorm之前的原输入，推理DropPath关闭。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/Users/lzy/Desktop/GitHub/seatrack/SEATrack-main/lib/models/layers/attn_blocks.py</a:t>
            </a:r>
          </a:p>
          <a:p xmlns:a="http://schemas.openxmlformats.org/drawingml/2006/main">
            <a:r>
              <a:t>/Users/lzy/Desktop/GitHub/seatrack/SEATrack-main/lib/models/layers/attn.py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第一处attn_moe有4个专家，每个专家2个槽位，低秩维4。模板和搜索调用同一个模块、共享参数，mode参数当前未参与内部计算。跟踪位置在搜索融合输入中的RGB编号为121，红外编号为377。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/Users/lzy/Desktop/GitHub/seatrack/SEATrack-main/lib/models/layers/attn_blocks.py</a:t>
            </a:r>
          </a:p>
          <a:p xmlns:a="http://schemas.openxmlformats.org/drawingml/2006/main">
            <a:r>
              <a:t>/Users/lzy/Desktop/GitHub/seatrack/SEATrack-main/lib/models/layers/attn.py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LoRP的实际式为(LN(X)A+a)B+b，768到4到768，默认无GELU。输入搜索组N=512，拆分后U为1024×384。Phi为384×8。Dispatch沿输入子token维softmax，每个槽位的输入权重和为1。温度TD为可学习参数，初值1，未约束为正。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/Users/lzy/Desktop/GitHub/seatrack/SEATrack-main/lib/models/layers/attn.py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专家计算Ye,s=(Ge,s Ae+ae)Be+be，384到4到384，当前无GELU。不同专家参数独立，同一专家两个槽位共享参数。拼接两槽位为768维后经过linear2的LoRP。Combine来自同一原始logits，对每个token的2个子向量与每专家2个槽位的4项求和，再沿专家维softmax。所有专家参与，无top-k筛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/Users/lzy/Desktop/GitHub/seatrack/SEATrack-main/lib/models/layers/attn.py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示例权重和值均非实测。RGB搜索token121的某通道更新为1.6，原值0.7时残差结果2.3。模板输入也独立完成相同过程，之后按各模态模板搜索顺序重组。随后MLP和第二处HMoE继续更新，第二处8专家，参数独立。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/Users/lzy/Desktop/GitHub/seatrack/SEATrack-main/lib/models/layers/attn_blocks.py</a:t>
            </a:r>
          </a:p>
          <a:p xmlns:a="http://schemas.openxmlformats.org/drawingml/2006/main">
            <a:r>
              <a:t>/Users/lzy/Desktop/GitHub/seatrack/SEATrack-main/lib/models/layers/attn.py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CenterPredictor在本地项目中定义，内部卷积BN/ReLU来自PyTorch。最终只保留搜索，模板信息已融入搜索。每个分支四层3×3 Conv-BN-ReLU，通道768、256、128、64、32，最后1×1卷积。中心和尺寸sigmoid后clamp，偏移保持实数。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/Users/lzy/Desktop/GitHub/seatrack/SEATrack-main/lib/models/seatrack/vit_ci.py</a:t>
            </a:r>
          </a:p>
          <a:p xmlns:a="http://schemas.openxmlformats.org/drawingml/2006/main">
            <a:r>
              <a:t>/Users/lzy/Desktop/GitHub/seatrack/SEATrack-main/lib/models/seatrack/seatrack.py</a:t>
            </a:r>
          </a:p>
          <a:p xmlns:a="http://schemas.openxmlformats.org/drawingml/2006/main">
            <a:r>
              <a:t>/Users/lzy/Desktop/GitHub/seatrack/SEATrack-main/lib/models/layers/head.py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教学示例：idx=121，offset=[0.25,0.50]，size=[0.25,0.50]。先从中心图找最大位置，再在同一个idx读取size和offset，不能三个分支各取最大。尺寸已相对整个搜索图归一化，不再除16。输出顺序cxcywh。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/Users/lzy/Desktop/GitHub/seatrack/SEATrack-main/lib/models/layers/head.py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搜索图尺寸256，原裁剪边长512，resize_factor=0.5。假设代码使用的裁剪原点为(100,200)。Tracker先用Hann窗口调整中心分数并再次解码，此例假设赢家仍为7,9。归一化框乘512得到局部中心296,240、宽高128,256。加原点得到396,440，再减半宽高得到332,312。最终clip_box需结合原图尺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/Users/lzy/Desktop/GitHub/seatrack/SEATrack-main/lib/test/tracker/seatrack.py</a:t>
            </a:r>
          </a:p>
          <a:p xmlns:a="http://schemas.openxmlformats.org/drawingml/2006/main">
            <a:r>
              <a:t>/Users/lzy/Desktop/GitHub/seatrack/SEATrack-main/lib/models/layers/head.py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完成状态遵循用户指定的情景前提。此页不代表从旧日志推导出新的服务器事实。方法和实验范围来自已有项目资料。最终缺失指标在后面的结果表保留待填。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/Users/lzy/Desktop/GitHub/seatrack/复现日志.md</a:t>
            </a:r>
          </a:p>
          <a:p xmlns:a="http://schemas.openxmlformats.org/drawingml/2006/main">
            <a:r>
              <a:t>/Users/lzy/Desktop/GitHub/seatrack/result/README.md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表中数值为百分数。不同数据集指标定义不同，不做横向排名。DepthTrack使用VOT工具分析。其余三项为Python参考口径，未执行MATLAB交叉验证。VisEvent保留person1标注时间对应风险。LasHeR与RGBT234完整产物尚待本地归档。官方权重复测与独立训练复现是不同验证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/Users/lzy/Desktop/GitHub/seatrack/result/depthtrack/2026-10-11_official-rgbd/README.md</a:t>
            </a:r>
          </a:p>
          <a:p xmlns:a="http://schemas.openxmlformats.org/drawingml/2006/main">
            <a:r>
              <a:t>/Users/lzy/Desktop/GitHub/seatrack/result/lasher/2026-10-11_official-rgbt/README.md</a:t>
            </a:r>
          </a:p>
          <a:p xmlns:a="http://schemas.openxmlformats.org/drawingml/2006/main">
            <a:r>
              <a:t>/Users/lzy/Desktop/GitHub/seatrack/result/visevent/2026-10-13_official-rgbe/README.md</a:t>
            </a:r>
          </a:p>
          <a:p xmlns:a="http://schemas.openxmlformats.org/drawingml/2006/main">
            <a:r>
              <a:t>/Users/lzy/Desktop/GitHub/seatrack/result/rgbt234/2026-10-13_official-rgbt/README.md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按完成情景汇报。RGB-D25轮、RGB-E45轮、RGB-T60轮已在历史日志中报告完成。RGB-T单卡microbatch4累积16，有效batch64，FP32，不能宣称与原双卡运行数值完全等价。Loss和训练IoU不用于替代测试集结果。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/Users/lzy/Desktop/GitHub/seatrack/复现日志.md</a:t>
            </a:r>
          </a:p>
          <a:p xmlns:a="http://schemas.openxmlformats.org/drawingml/2006/main">
            <a:r>
              <a:t>/Users/lzy/Desktop/GitHub/seatrack/scripts/remaining_training/README.md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完成状态是用户指定的前提。旧日志中的RGB-D和RGB-E名义自训练数值存在模型参数来源问题，因此不将这些旧值重新标为已验证的独立复现结果。用户尚未提供可确认的最终自训练数值，本页统一留待填。RGB-T末轮ep0060，RGB-E末轮ep0045，RGB-D末轮ep0025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/Users/lzy/Desktop/GitHub/seatrack/复现日志.md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成状态为用户指定的情景前提。历史记录已验证127序列80741原始帧，并记录1765个起点，但仅有运行快照。不能将该快照外推为实际完成。本页移除旧进度百分比，EAO/Accuracy/Robustness等待用户最终报告，不用论文数值充当实测。指标名称依据本地论文译文与项目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/Users/lzy/Desktop/GitHub/seatrack/复现日志.md</a:t>
            </a:r>
          </a:p>
          <a:p xmlns:a="http://schemas.openxmlformats.org/drawingml/2006/main">
            <a:r>
              <a:t>/Users/lzy/Desktop/GitHub/seatrack/SEATrack_中文译文.md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此页汇总已有实现内容。独立运行目录、显式权重路径、SHA清单、轨迹校验和Python指标脚本都有仓库依据。完整归档按本版完成前提组织，不新增未经记录的性能或精度结论。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/Users/lzy/Desktop/GitHub/seatrack/复现日志.md</a:t>
            </a:r>
          </a:p>
          <a:p xmlns:a="http://schemas.openxmlformats.org/drawingml/2006/main">
            <a:r>
              <a:t>/Users/lzy/Desktop/GitHub/seatrack/scripts/remaining_training/README.md</a:t>
            </a:r>
          </a:p>
          <a:p xmlns:a="http://schemas.openxmlformats.org/drawingml/2006/main">
            <a:r>
              <a:t>/Users/lzy/Desktop/GitHub/seatrack/scripts/lasher_metrics.md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全部完成的情景组织总结。方法结论来自源码：AMG-LoRA融合位置关系，HMoE汇聚并重分配跨模态特征，预测头输出中心分数宽高偏移并解码。现有四项官方权重复测与论文舍入值一致。尚无最终自训练和VOT22数字，所以不宣称这些缺失项已经与论文完全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/Users/lzy/Desktop/GitHub/seatrack/SEATrack-main/lib/models/layers/attn_blocks.py</a:t>
            </a:r>
          </a:p>
          <a:p xmlns:a="http://schemas.openxmlformats.org/drawingml/2006/main">
            <a:r>
              <a:t>/Users/lzy/Desktop/GitHub/seatrack/SEATrack-main/lib/models/layers/attn.py</a:t>
            </a:r>
          </a:p>
          <a:p xmlns:a="http://schemas.openxmlformats.org/drawingml/2006/main">
            <a:r>
              <a:t>/Users/lzy/Desktop/GitHub/seatrack/SEATrack-main/lib/models/layers/head.py</a:t>
            </a:r>
          </a:p>
          <a:p xmlns:a="http://schemas.openxmlformats.org/drawingml/2006/main">
            <a:r>
              <a:t>/Users/lzy/Desktop/GitHub/seatrack/复现日志.md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块来自项目本地实现，不宣称所有算法皆由作者原创。cal_qkv/amglora_attn、HMoE/LoRP/MultiExpertLinear、CenterPredictor均为项目定义；nn.Conv2d、LayerNorm、softmax、矩阵运算由库提供。参考本地code.md、复现日志、各结果README及核心源码。未在线访问论文网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/Users/lzy/Desktop/GitHub/seatrack/SEATrack-main/lib/models/layers/attn_blocks.py</a:t>
            </a:r>
          </a:p>
          <a:p xmlns:a="http://schemas.openxmlformats.org/drawingml/2006/main">
            <a:r>
              <a:t>/Users/lzy/Desktop/GitHub/seatrack/SEATrack-main/lib/models/layers/attn.py</a:t>
            </a:r>
          </a:p>
          <a:p xmlns:a="http://schemas.openxmlformats.org/drawingml/2006/main">
            <a:r>
              <a:t>/Users/lzy/Desktop/GitHub/seatrack/SEATrack-main/lib/models/layers/head.py</a:t>
            </a:r>
          </a:p>
          <a:p xmlns:a="http://schemas.openxmlformats.org/drawingml/2006/main">
            <a:r>
              <a:t>/Users/lzy/Desktop/GitHub/seatrack/SEATrack-main/lib/models/seatrack/vit_ci.py</a:t>
            </a:r>
          </a:p>
          <a:p xmlns:a="http://schemas.openxmlformats.org/drawingml/2006/main">
            <a:r>
              <a:t>/Users/lzy/Desktop/GitHub/seatrack/SEATrack-main/lib/models/seatrack/seatrack.py</a:t>
            </a:r>
          </a:p>
          <a:p xmlns:a="http://schemas.openxmlformats.org/drawingml/2006/main">
            <a:r>
              <a:t>/Users/lzy/Desktop/GitHub/seatrack/SEATrack-main/lib/test/tracker/seatrack.py</a:t>
            </a:r>
          </a:p>
          <a:p xmlns:a="http://schemas.openxmlformats.org/drawingml/2006/main">
            <a:r>
              <a:t>/Users/lzy/Desktop/GitHub/seatrack/复现日志.md</a:t>
            </a:r>
          </a:p>
          <a:p xmlns:a="http://schemas.openxmlformats.org/drawingml/2006/main">
            <a:r>
              <a:t>/Users/lzy/Desktop/GitHub/seatrack/code.md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4e1b8f24ad4ab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01683dd4234ac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0c8d2195304b6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b5ea558c104b5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946de5fb1343a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92692ff95846f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468D7B5-BBF4-4574-B1BF-B3C2505E4C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C44E0FF-2314-44A5-AE7B-11A1EC77D50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C1D2421-0837-4E04-A0EA-AA0EA6171A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063DE18-3850-4656-8DFC-56DD22CA10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0F9C545-6932-4BCC-A605-09E90E99E4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2E4D9D1-ED6B-4E01-9E62-1B2FFEA322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38F4018-ACDF-4C03-BCAE-4659C1E40B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5D19B38-A911-4E35-841D-1CBCCDD14B3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E0BB263-D5B7-4BB6-961D-AE3E093902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3B87F4F-840F-4B32-97E2-88EF6BD36D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d84d85bb5b4dfc" /><Relationship Type="http://schemas.openxmlformats.org/officeDocument/2006/relationships/slideLayout" Target="/ppt/slideLayouts/slideLayout1.xml" Id="Rdecafee7a1b04460" /><Relationship Type="http://schemas.openxmlformats.org/officeDocument/2006/relationships/slideLayout" Target="/ppt/slideLayouts/slideLayout2.xml" Id="R1d4b62f908034f59" /><Relationship Type="http://schemas.openxmlformats.org/officeDocument/2006/relationships/slideLayout" Target="/ppt/slideLayouts/slideLayout3.xml" Id="R91727bd4a3a448aa" /><Relationship Type="http://schemas.openxmlformats.org/officeDocument/2006/relationships/slideLayout" Target="/ppt/slideLayouts/slideLayout4.xml" Id="R4fed7267ba2f4194" /><Relationship Type="http://schemas.openxmlformats.org/officeDocument/2006/relationships/slideLayout" Target="/ppt/slideLayouts/slideLayout5.xml" Id="Rf92552e9e0be4fa8" /><Relationship Type="http://schemas.openxmlformats.org/officeDocument/2006/relationships/slideLayout" Target="/ppt/slideLayouts/slideLayout6.xml" Id="R599f7ed9e7604b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cafee7a1b04460"/>
    <p:sldLayoutId xmlns:r="http://schemas.openxmlformats.org/officeDocument/2006/relationships" id="2147483650" r:id="R1d4b62f908034f59"/>
    <p:sldLayoutId xmlns:r="http://schemas.openxmlformats.org/officeDocument/2006/relationships" id="2147483651" r:id="R91727bd4a3a448aa"/>
    <p:sldLayoutId xmlns:r="http://schemas.openxmlformats.org/officeDocument/2006/relationships" id="2147483652" r:id="R4fed7267ba2f4194"/>
    <p:sldLayoutId xmlns:r="http://schemas.openxmlformats.org/officeDocument/2006/relationships" id="2147483653" r:id="Rf92552e9e0be4fa8"/>
    <p:sldLayoutId xmlns:r="http://schemas.openxmlformats.org/officeDocument/2006/relationships" id="2147483654" r:id="R599f7ed9e7604b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1d68c698524a5e" /><Relationship Type="http://schemas.openxmlformats.org/officeDocument/2006/relationships/notesSlide" Target="/ppt/notesSlides/notesSlide1.xml" Id="R38fdc9c8c3294e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1fbaa2b9e44ae2" /><Relationship Type="http://schemas.openxmlformats.org/officeDocument/2006/relationships/image" Target="/ppt/media/image.png" Id="R96743610ddfb4cbe" /><Relationship Type="http://schemas.openxmlformats.org/officeDocument/2006/relationships/notesSlide" Target="/ppt/notesSlides/notesSlide2.xml" Id="R14f68d091cd44b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2d255fdc284a3b" /><Relationship Type="http://schemas.openxmlformats.org/officeDocument/2006/relationships/notesSlide" Target="/ppt/notesSlides/notesSlide3.xml" Id="Rf6f2ccabee4a429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784d3afc414475" /><Relationship Type="http://schemas.openxmlformats.org/officeDocument/2006/relationships/notesSlide" Target="/ppt/notesSlides/notesSlide4.xml" Id="R387c2bb473e947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a4d784541446d6" /><Relationship Type="http://schemas.openxmlformats.org/officeDocument/2006/relationships/notesSlide" Target="/ppt/notesSlides/notesSlide5.xml" Id="Rd338004a8daf443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0d1bf2526e4157" /><Relationship Type="http://schemas.openxmlformats.org/officeDocument/2006/relationships/notesSlide" Target="/ppt/notesSlides/notesSlide6.xml" Id="R1a61d2c3e89a46d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342854a94c48be" /><Relationship Type="http://schemas.openxmlformats.org/officeDocument/2006/relationships/notesSlide" Target="/ppt/notesSlides/notesSlide7.xml" Id="R7791dc33f14942a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1f4623e6d643d8" /><Relationship Type="http://schemas.openxmlformats.org/officeDocument/2006/relationships/notesSlide" Target="/ppt/notesSlides/notesSlide8.xml" Id="R4f25ebfd452c4a7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05545cd64345dd" /><Relationship Type="http://schemas.openxmlformats.org/officeDocument/2006/relationships/notesSlide" Target="/ppt/notesSlides/notesSlide9.xml" Id="Rcd12cef8deec486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c5fa30860d4717" /><Relationship Type="http://schemas.openxmlformats.org/officeDocument/2006/relationships/notesSlide" Target="/ppt/notesSlides/notesSlide10.xml" Id="R3df4e17168554ff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f1936f630e440c" /><Relationship Type="http://schemas.openxmlformats.org/officeDocument/2006/relationships/notesSlide" Target="/ppt/notesSlides/notesSlide11.xml" Id="R6ae823ccd7104ea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20a92984084211" /><Relationship Type="http://schemas.openxmlformats.org/officeDocument/2006/relationships/notesSlide" Target="/ppt/notesSlides/notesSlide12.xml" Id="R7fb6b701f9274e8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2269ae44804340" /><Relationship Type="http://schemas.openxmlformats.org/officeDocument/2006/relationships/notesSlide" Target="/ppt/notesSlides/notesSlide13.xml" Id="Rb2a7f9e899a8418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6b5038dde84cbd" /><Relationship Type="http://schemas.openxmlformats.org/officeDocument/2006/relationships/notesSlide" Target="/ppt/notesSlides/notesSlide14.xml" Id="Rd4e0b54e62874c4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ca810c47274684" /><Relationship Type="http://schemas.openxmlformats.org/officeDocument/2006/relationships/notesSlide" Target="/ppt/notesSlides/notesSlide15.xml" Id="R8be8d88f76874b0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d7b3fc1c624581" /><Relationship Type="http://schemas.openxmlformats.org/officeDocument/2006/relationships/notesSlide" Target="/ppt/notesSlides/notesSlide16.xml" Id="Rdeca813cab5a489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e637e6c8404308" /><Relationship Type="http://schemas.openxmlformats.org/officeDocument/2006/relationships/notesSlide" Target="/ppt/notesSlides/notesSlide17.xml" Id="R3c50eaa5b11349e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d8d626e4aa49e9" /><Relationship Type="http://schemas.openxmlformats.org/officeDocument/2006/relationships/notesSlide" Target="/ppt/notesSlides/notesSlide18.xml" Id="R490dd945033244c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b5ea336c4c4b11" /><Relationship Type="http://schemas.openxmlformats.org/officeDocument/2006/relationships/notesSlide" Target="/ppt/notesSlides/notesSlide19.xml" Id="R038673c2777e404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91337d1e084ed2" /><Relationship Type="http://schemas.openxmlformats.org/officeDocument/2006/relationships/notesSlide" Target="/ppt/notesSlides/notesSlide20.xml" Id="Red65a4fc1fa64b1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890bcb32454125" /><Relationship Type="http://schemas.openxmlformats.org/officeDocument/2006/relationships/notesSlide" Target="/ppt/notesSlides/notesSlide21.xml" Id="R53d8f755d87b40a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7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E59B4B-3A1A-4D33-9DCA-D846F837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SEATrack 核心机制与论文复现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C7B604-36E0-474C-95D9-99F35453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95707D-A9D2-4B48-9ABB-65A9CE01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84D3D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84D3D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84D3D4"/>
                </a:solidFill>
                <a:latin typeface="Hiragino Sans GB"/>
                <a:ea typeface="Hiragino Sans GB"/>
                <a:cs typeface="Hiragino Sans GB"/>
              </a:rPr>
              <a:t>AMG-LoRA · HMoE · Prediction Head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D76ED4-58E0-427C-88D0-8CCFDD240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单样本计算解析</a:t>
            </a:r>
          </a:p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复现实验与结果总结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5FB6AB-D0A5-4761-A07D-917552C7D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BBCAD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BBCAD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BBCAD7"/>
                </a:solidFill>
                <a:latin typeface="Hiragino Sans GB"/>
                <a:ea typeface="Hiragino Sans GB"/>
                <a:cs typeface="Hiragino Sans GB"/>
              </a:rPr>
              <a:t>复现完成汇报（情景版）</a:t>
            </a:r>
          </a:p>
          <a:p xmlns:a="http://schemas.openxmlformats.org/drawingml/2006/main">
            <a:pPr>
              <a:defRPr sz="1725" b="0">
                <a:solidFill>
                  <a:srgbClr val="BBCAD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BBCAD7"/>
                </a:solidFill>
                <a:latin typeface="Hiragino Sans GB"/>
                <a:ea typeface="Hiragino Sans GB"/>
                <a:cs typeface="Hiragino Sans GB"/>
              </a:rPr>
              <a:t>2026年10月16日</a:t>
            </a:r>
          </a:p>
        </p:txBody>
      </p:sp>
    </p:spTree>
    <p:extLst>
      <p:ext uri="{BB962C8B-B14F-4D97-AF65-F5344CB8AC3E}">
        <p14:creationId xmlns:p14="http://schemas.microsoft.com/office/powerpoint/2010/main" val="8341533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6CE289-1D1D-4A7C-8B46-951D6C74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模型结构与本次汇报范围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2AFA94-AE35-4949-AE0F-BFA68504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两路特征经过共享骨干，增强层加入注意力引导与跨模态融合。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53218B-FF2B-44CD-B725-7476FADDC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9E8518-BA6E-4D84-B25D-859AB3996F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743610ddfb4cbe"/>
          <a:stretch xmlns:a="http://schemas.openxmlformats.org/drawingml/2006/main"/>
        </p:blipFill>
        <p:spPr>
          <a:xfrm xmlns:a="http://schemas.openxmlformats.org/drawingml/2006/main">
            <a:off x="2346989" y="1733550"/>
            <a:ext cx="7498023" cy="4000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F6CC61-46A7-47CA-A048-8E2CBCF4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12 个 block；第 2、4、6、8、10、12 层包含增强模块。</a:t>
            </a:r>
          </a:p>
        </p:txBody>
      </p:sp>
    </p:spTree>
    <p:extLst>
      <p:ext uri="{BB962C8B-B14F-4D97-AF65-F5344CB8AC3E}">
        <p14:creationId xmlns:p14="http://schemas.microsoft.com/office/powerpoint/2010/main" val="785655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A82FB8-7DCD-48E4-BC21-346D07AFF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贯穿全程的单样本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19492E-F2DD-4346-B0CC-0E66ECB9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B = 1，RGB 与热红外各有一张模板和一张搜索图。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0CDCF5-F616-4121-90C4-B1542D79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667686-185D-4F08-8DEF-F6E9330546F5}"/>
              </a:ext>
            </a:extLst>
          </p:cNvPr>
          <p:cNvGraphicFramePr/>
          <p:nvPr/>
        </p:nvGraphicFramePr>
        <p:xfrm>
          <a:off xmlns:a="http://schemas.openxmlformats.org/drawingml/2006/main" x="628650" y="1828800"/>
          <a:ext xmlns:a="http://schemas.openxmlformats.org/drawingml/2006/main" cx="109347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3429000"/>
                <a:gridCol w="3600450"/>
              </a:tblGrid>
              <a:tr h="6667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输入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图像尺寸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Token 形状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RGB / 红外模板，各一张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[1,3,128,128]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各 [1,64,768]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RGB / 红外搜索，各一张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[1,3,256,256]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各 [1,256,768]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每路模板与搜索拼接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64 + 256 个位置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各 [1,320,768]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4F8CC-6C9D-4C6A-8238-4273EB06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815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rPr>
              <a:t>持续跟踪：搜索网格 (行7，列9)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DE8A67-E959-420C-8E8B-40FB1D10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搜索编号 121 = 7 × 16 + 9；完整序列编号 185 = 64 + 121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5189AE-5690-43B1-A0DD-C41C008A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尺寸来自源码；后续局部数字均为教学示例，非 checkpoint 实测输出。</a:t>
            </a:r>
          </a:p>
        </p:txBody>
      </p:sp>
    </p:spTree>
    <p:extLst>
      <p:ext uri="{BB962C8B-B14F-4D97-AF65-F5344CB8AC3E}">
        <p14:creationId xmlns:p14="http://schemas.microsoft.com/office/powerpoint/2010/main" val="4448208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F091C7-F6DD-4B19-ABC3-4EA98B5F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AMG-LoRA：Q、K、V 的生成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ACFDEA-326D-4158-991E-7622806C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自定义 MergedLinear 组织联合投影，仅对 K、V 增加低秩更新。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2D1C0E-C79A-4264-9DDB-64189778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604F8C-A267-4FD3-86C3-CEBAE1EF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57375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Q = H Wq + bq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5B17F2-BDC2-4868-9D2A-5BDEB486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K = H Wk + bk + H Ak Bk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354EB6-B7E6-4456-A523-466AAFEA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V = H Wv + bv + H Av Bv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1510D3-CB0E-4020-89EF-D3B5A110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3387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rPr>
              <a:t>A：768 × 8      B：8 × 768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502FDF-6FE9-4E32-9BB5-9CDBB953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每个投影新增 12,288 个参数；Q 不加 LoRA。</a:t>
            </a:r>
          </a:p>
          <a:p xmlns:a="http://schemas.openxmlformats.org/drawingml/2006/main">
            <a:pPr>
              <a:defRPr sz="187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联合输出 [1,320,2304]，拆成 12 个头后 Q/K/V 各为 [1,12,320,64]。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FFBB21-F2B3-47A2-AACE-6A08370A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调用路径：cal_qkv() 内部直接调用 self.attn.qkv()。</a:t>
            </a:r>
          </a:p>
        </p:txBody>
      </p:sp>
    </p:spTree>
    <p:extLst>
      <p:ext uri="{BB962C8B-B14F-4D97-AF65-F5344CB8AC3E}">
        <p14:creationId xmlns:p14="http://schemas.microsoft.com/office/powerpoint/2010/main" val="508895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9CCB16-43BB-4293-B9DE-BA7A0740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AMG：两种模态互相引导注意力分数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A555FF-67F1-4039-B7A0-FE67A3E4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先计算各自的 QKᵀ，再在 softmax 之前混合分数。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D22C9F-C8E6-4252-88BD-87CC6400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DE4A76-D29A-4C70-B485-6F75CABCF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S = QKᵀ / √64     [1,12,320,320]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4C34AE-D297-441F-8BE4-EB51C391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S′RGB = SRGB + α(SX − SRGB)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D80859-3BB7-4A47-819E-831340889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90875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S′X = SX + β(SRGB − SX)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AD2A10-9ED7-4C9B-961B-B00CAC84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1480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rPr>
              <a:t>两位置演算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76F0F4-ED22-4309-9799-02904A30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91050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SRGB = [2,0]，SX = [0,2]，α = 0.75</a:t>
            </a:r>
          </a:p>
          <a:p xmlns:a="http://schemas.openxmlformats.org/drawingml/2006/main">
            <a:pPr>
              <a:defRPr sz="202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S′RGB = [0.5,1.5]</a:t>
            </a:r>
          </a:p>
          <a:p xmlns:a="http://schemas.openxmlformats.org/drawingml/2006/main">
            <a:pPr>
              <a:defRPr sz="202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softmax(S′RGB) ≈ [0.269,0.731]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E64BF6-699B-4E37-BAA6-721BA132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教学示例；引导系数随训练更新，推理时不由每帧重新预测。</a:t>
            </a:r>
          </a:p>
        </p:txBody>
      </p:sp>
    </p:spTree>
    <p:extLst>
      <p:ext uri="{BB962C8B-B14F-4D97-AF65-F5344CB8AC3E}">
        <p14:creationId xmlns:p14="http://schemas.microsoft.com/office/powerpoint/2010/main" val="19866193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24461E-EBF7-4827-B06B-1979D387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注意力输出：按新权重读取本模态 V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97E31E-7FFB-44B8-B0DD-11A80CAA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对方模态影响关注位置，本模态 V 提供被汇总的内容。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04CB66-AC20-4095-8ACE-568A7D15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546397-BFE1-4053-BD84-E9624EA4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28800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Oᵢ = Σⱼ Pᵢⱼ Vⱼ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D59BCB-26C1-49E3-B900-16BA32B8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V₁ = [1,2]，V₂ = [3,0]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D3E017-8DED-4200-8E4F-FC4C083D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766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0.269 V₁ + 0.731 V₂ = [2.462,0.538]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330447-6242-4F52-9319-929AFB057A8F}"/>
              </a:ext>
            </a:extLst>
          </p:cNvPr>
          <p:cNvGraphicFramePr/>
          <p:nvPr/>
        </p:nvGraphicFramePr>
        <p:xfrm>
          <a:off xmlns:a="http://schemas.openxmlformats.org/drawingml/2006/main" x="628650" y="4067175"/>
          <a:ext xmlns:a="http://schemas.openxmlformats.org/drawingml/2006/main" cx="10934700" cy="1676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667500"/>
                <a:gridCol w="4267200"/>
              </a:tblGrid>
              <a:tr h="4191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阶段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形状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每个头加权汇总 V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[1,12,320,64]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合并头并做输出投影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[1,320,768]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原特征 + 注意力更新量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两路各 [1,320,768]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7FD072-F80E-48AE-8A23-184F62E84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RGB 与红外分别更新；模板与搜索已经在 320 × 320 的注意力中交互。</a:t>
            </a:r>
          </a:p>
        </p:txBody>
      </p:sp>
    </p:spTree>
    <p:extLst>
      <p:ext uri="{BB962C8B-B14F-4D97-AF65-F5344CB8AC3E}">
        <p14:creationId xmlns:p14="http://schemas.microsoft.com/office/powerpoint/2010/main" val="21179156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C063E7-4D95-4CC2-AB1F-96B6051A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HMoE：模板、搜索分别跨模态融合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54A5AB-DEAC-43F8-8CAA-B2EB661F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自定义 HMoE 接收两种模态的特征内容，生成每个位置的更新量。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8D0FF8-C910-4CDC-B816-C5BECB0E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07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FE08BB-4632-4CC2-93A6-52F12E140E69}"/>
              </a:ext>
            </a:extLst>
          </p:cNvPr>
          <p:cNvGraphicFramePr/>
          <p:nvPr/>
        </p:nvGraphicFramePr>
        <p:xfrm>
          <a:off xmlns:a="http://schemas.openxmlformats.org/drawingml/2006/main" x="628650" y="1838325"/>
          <a:ext xmlns:a="http://schemas.openxmlformats.org/drawingml/2006/main" cx="1093470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5048250"/>
                <a:gridCol w="3886200"/>
              </a:tblGrid>
              <a:tr h="7302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分组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拼接顺序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输入形状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模板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RGB 64，红外 64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[1,128,768]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搜索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RGB 256，红外 256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[1,512,768]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B63FCE-656F-44FE-92B8-2C9B7255E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29125"/>
            <a:ext cx="1074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rPr>
              <a:t>搜索组中，同一空间位置有两个输入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A792AE-1AF2-4251-914A-873CBCA3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8632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RGB 编号 121；红外编号 377 = 256 + 121。</a:t>
            </a:r>
          </a:p>
          <a:p xmlns:a="http://schemas.openxmlformats.org/drawingml/2006/main">
            <a: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第一处 HMoE 使用 4 个专家、每专家 2 个槽位。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E924BF-CB8C-4FF5-8214-2F1071124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Divide &amp; Concat 改变分组和排列；后面会拆回原来的两路序列。</a:t>
            </a:r>
          </a:p>
        </p:txBody>
      </p:sp>
    </p:spTree>
    <p:extLst>
      <p:ext uri="{BB962C8B-B14F-4D97-AF65-F5344CB8AC3E}">
        <p14:creationId xmlns:p14="http://schemas.microsoft.com/office/powerpoint/2010/main" val="5826717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8677E4-A1E3-4BD3-9976-2D11A991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HMoE Dispatch：从输入汇聚到槽位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77B6BF-6CB8-46B4-A21B-ADA4CAE47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LayerNorm 与低秩映射后，每个 token 拆成两个 384 维子向量。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A7DE89-8879-4566-BAB9-A1444E19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E943C5-60D7-40B6-8287-83F83E76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U = reshape(LoRP(LN(X)))     [1,1024,384]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E54044-CD9A-4CCC-B3AA-7A01A61D1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L = UΦ     Φ：[384,8]     L：[1,1024,8]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9155C1-E30A-425D-8504-F1D6CDB5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28975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Dₐₖ = exp(Lₐₖ / TD) / Σₐ′ exp(Lₐ′ₖ / TD)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7EE64C-5F16-4D9F-9EAD-8FAB9685C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Gₖ = Σₐ Dₐₖ Uₐ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066042-405D-4AAC-852F-5F4925D4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每个槽位读取所有输入子向量的加权和。</a:t>
            </a:r>
          </a:p>
          <a:p xmlns:a="http://schemas.openxmlformats.org/drawingml/2006/main">
            <a: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RGB 与红外的信息在这里共同汇入槽位，输出整理为 [1,4,2,384]。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DAA00E-2C71-4341-98C3-EF65EF4C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第一处 HMoE：4 个专家 × 2 个槽位，共 8 个汇聚位置。</a:t>
            </a:r>
          </a:p>
        </p:txBody>
      </p:sp>
    </p:spTree>
    <p:extLst>
      <p:ext uri="{BB962C8B-B14F-4D97-AF65-F5344CB8AC3E}">
        <p14:creationId xmlns:p14="http://schemas.microsoft.com/office/powerpoint/2010/main" val="18342211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9632E8-2A07-4058-BAF8-229435A8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HMoE：专家变换与 Combine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94BBFA-BEA6-417F-A81F-A4CEAF07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每个专家处理汇聚特征，每个 token 再按自己的权重组合专家结果。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A1B843-7C73-4D64-B6C2-E7629B22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91A0E3-30E5-423E-BD2C-B06ECBF4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rPr>
              <a:t>专家处理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0E2E99-A58F-4FDF-8148-715BBA2D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955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每槽位 384 / 4 / 384 维低秩变换</a:t>
            </a:r>
          </a:p>
          <a:p xmlns:a="http://schemas.openxmlformats.org/drawingml/2006/main">
            <a:pPr>
              <a:defRPr sz="202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每专家拼接两个槽位，再经 LoRP，得到 F：[1,4,768]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AA3F9F-1DE6-4036-8B53-42C567B0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Rᵢₑ = Σₐ₌₁² Σₛ₌₁² L₍ᵢ,ₐ₎,₍ₑ,ₛ₎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87A804-A0D0-40D5-941E-0238B99D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3375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C = softmax(R / TC，沿专家维)     O = CF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D7D357-1201-4BE3-9ED9-AEC50F01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5777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rPr>
              <a:t>C：[1,512,4]      F：[1,4,768]      O：[1,512,768]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8CFF52-F544-43C1-8FAA-451532EF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Dispatch 对输入归一化；Combine 对专家归一化，二者来自同一份 logits。</a:t>
            </a:r>
          </a:p>
        </p:txBody>
      </p:sp>
    </p:spTree>
    <p:extLst>
      <p:ext uri="{BB962C8B-B14F-4D97-AF65-F5344CB8AC3E}">
        <p14:creationId xmlns:p14="http://schemas.microsoft.com/office/powerpoint/2010/main" val="2725966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F31B30-042C-47A8-9E5A-8B1DBDB6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HMoE 的单通道演算与拆回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01FA3A-8F0C-47AF-BEA9-2AA87E2E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同一组专家结果可以通过不同权重，生成不同 token 的更新量。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2FE611-15E5-4252-9F8B-6B9EF984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10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71383D-4711-4B06-939A-E57BBD10EA6B}"/>
              </a:ext>
            </a:extLst>
          </p:cNvPr>
          <p:cNvGraphicFramePr/>
          <p:nvPr/>
        </p:nvGraphicFramePr>
        <p:xfrm>
          <a:off xmlns:a="http://schemas.openxmlformats.org/drawingml/2006/main" x="628650" y="1809750"/>
          <a:ext xmlns:a="http://schemas.openxmlformats.org/drawingml/2006/main" cx="1093470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86200"/>
                <a:gridCol w="1762125"/>
                <a:gridCol w="1762125"/>
                <a:gridCol w="1762125"/>
                <a:gridCol w="1762125"/>
              </a:tblGrid>
              <a:tr h="6985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专家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本 token 的 Combine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专家输出的某一通道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−1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608327-0F6C-4DF8-9E06-F1BAF48B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更新量 = 0.5×2 + 0.2×4 + 0.2×(−1) = 1.6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6FAA1A-AECB-4DD7-A54E-E597D501D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8157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若原特征该通道为 0.7，残差相加后为 2.3。</a:t>
            </a:r>
          </a:p>
          <a:p xmlns:a="http://schemas.openxmlformats.org/drawingml/2006/main">
            <a:pPr>
              <a:defRPr sz="187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拆回 RGB 与红外，重组各自模板和搜索，每路仍是 [1,320,768]。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E154E7-BE08-4C9F-92F4-CD5DC7C84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随后经过 MLP 和第二处 8 专家 HMoE，再继续后续 block。</a:t>
            </a:r>
          </a:p>
        </p:txBody>
      </p:sp>
    </p:spTree>
    <p:extLst>
      <p:ext uri="{BB962C8B-B14F-4D97-AF65-F5344CB8AC3E}">
        <p14:creationId xmlns:p14="http://schemas.microsoft.com/office/powerpoint/2010/main" val="184488988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878EF3-1C87-4198-8406-31554E59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Prediction Head：搜索特征的三个分支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6D6FCE-59F4-4ED1-BE7A-A87131E4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Encoder 最终归一化后，取两路搜索 token 相加并恢复 16 × 16 网格。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A00422-FD9F-41AD-ABA9-3C167339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3F68C2-ACDE-442F-B68A-94699376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F = HRGB,search + HX,search     [1,256,768]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0C2499-E5E9-40CC-9CE1-C22F1CF9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恢复空间排列：[1,768,16,16]；编号 121 回到第 7 行、第 9 列。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C880DE-C0FB-4ED7-9DD2-C2BAA2F19D26}"/>
              </a:ext>
            </a:extLst>
          </p:cNvPr>
          <p:cNvGraphicFramePr/>
          <p:nvPr/>
        </p:nvGraphicFramePr>
        <p:xfrm>
          <a:off xmlns:a="http://schemas.openxmlformats.org/drawingml/2006/main" x="628650" y="3333750"/>
          <a:ext xmlns:a="http://schemas.openxmlformats.org/drawingml/2006/main" cx="10934700" cy="2266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3429000"/>
                <a:gridCol w="4791075"/>
              </a:tblGrid>
              <a:tr h="566738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分支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输出形状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作用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</a:tr>
              <a:tr h="5667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中心分数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[1,1,16,16]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选择目标中心位置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7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尺寸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[1,2,16,16]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预测归一化宽、高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  <a:tr h="5667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偏移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[1,2,16,16]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修正网格中心坐标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A747E0-64C5-4735-8000-31C03471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三个分支参数独立；卷积读取空间邻域，分数与尺寸使用 sigmoid。</a:t>
            </a:r>
          </a:p>
        </p:txBody>
      </p:sp>
    </p:spTree>
    <p:extLst>
      <p:ext uri="{BB962C8B-B14F-4D97-AF65-F5344CB8AC3E}">
        <p14:creationId xmlns:p14="http://schemas.microsoft.com/office/powerpoint/2010/main" val="187691139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F1C3B2-4A94-4AFE-8B01-277E7DF87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预测头解码：由同一位置取中心、尺寸和偏移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28F69E-14A7-456B-8830-451869223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假设中心分数最高点为第 7 行、第 9 列，分数 0.92。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187AFA-4F57-40FC-9DC2-6DD7EC2E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12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832FFF-9291-40F0-990F-4B66BF5ABF13}"/>
              </a:ext>
            </a:extLst>
          </p:cNvPr>
          <p:cNvGraphicFramePr/>
          <p:nvPr/>
        </p:nvGraphicFramePr>
        <p:xfrm>
          <a:off xmlns:a="http://schemas.openxmlformats.org/drawingml/2006/main" x="628650" y="1790700"/>
          <a:ext xmlns:a="http://schemas.openxmlformats.org/drawingml/2006/main" cx="1093470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286500"/>
                <a:gridCol w="4648200"/>
              </a:tblGrid>
              <a:tr h="595313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该位置的输出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数值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网格坐标 (x,y)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(9,7)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偏移 (dx,dy)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(0.25,0.50)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尺寸 (w,h)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(0.25,0.50)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A818B7-4680-4B90-B3A6-2E7C9513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29125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cx = (9 + 0.25)/16 = 0.578125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7AFE2E-C5C2-4BAA-AC2A-412B48287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00625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cy = (7 + 0.50)/16 = 0.46875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DD5334-8232-41F0-9E7D-4C6DA5FD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归一化框：[0.578125, 0.46875, 0.25, 0.50]，顺序为 cx、cy、w、h。</a:t>
            </a:r>
          </a:p>
        </p:txBody>
      </p:sp>
    </p:spTree>
    <p:extLst>
      <p:ext uri="{BB962C8B-B14F-4D97-AF65-F5344CB8AC3E}">
        <p14:creationId xmlns:p14="http://schemas.microsoft.com/office/powerpoint/2010/main" val="39097757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D40ABD-2659-4104-97F1-C0A8B44D1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目标框映射回原图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0CB324-3C20-45C7-B2A3-7F6B68EB2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先恢复尺度，再平移到原图，最后转换为左上角与宽高。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AE76F0-A8B5-478E-8FC5-5B33CA51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13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D4618D-9AD7-466B-9706-CD2763ECC471}"/>
              </a:ext>
            </a:extLst>
          </p:cNvPr>
          <p:cNvGraphicFramePr/>
          <p:nvPr/>
        </p:nvGraphicFramePr>
        <p:xfrm>
          <a:off xmlns:a="http://schemas.openxmlformats.org/drawingml/2006/main" x="628650" y="1809750"/>
          <a:ext xmlns:a="http://schemas.openxmlformats.org/drawingml/2006/main" cx="109347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0"/>
                <a:gridCol w="3086100"/>
                <a:gridCol w="3086100"/>
              </a:tblGrid>
              <a:tr h="690563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坐标阶段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中心 (cx,cy)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宽高 (w,h)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256 × 256 搜索图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(148,120)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(64,128)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原裁剪区域，边长512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(296,240)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(128,256)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加原点 (100,200)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(396,440)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(128,256)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FC7C23-7C2C-43DE-869D-C483B3D1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33950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75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最终 xywh = [332,312,128,256]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77B16A-A8F4-47E1-BA41-E4CCC384D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实际 Tracker 先乘 Hann 窗再解码；本例假设选中位置不变，最后还会裁剪边界。</a:t>
            </a:r>
          </a:p>
        </p:txBody>
      </p:sp>
    </p:spTree>
    <p:extLst>
      <p:ext uri="{BB962C8B-B14F-4D97-AF65-F5344CB8AC3E}">
        <p14:creationId xmlns:p14="http://schemas.microsoft.com/office/powerpoint/2010/main" val="65692972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15E15B-D402-408F-8B96-4B7C06F34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复现工作完成情况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EE3B67-9558-46BE-A964-E97FABC5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以全部复现完成为汇报前提，覆盖数据、训练、推理和指标分析。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F46575-5A1E-44C3-B4F5-2805646E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14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1DEECF-07E8-4E18-99E3-A689CBF0F841}"/>
              </a:ext>
            </a:extLst>
          </p:cNvPr>
          <p:cNvGraphicFramePr/>
          <p:nvPr/>
        </p:nvGraphicFramePr>
        <p:xfrm>
          <a:off xmlns:a="http://schemas.openxmlformats.org/drawingml/2006/main" x="628650" y="1819275"/>
          <a:ext xmlns:a="http://schemas.openxmlformats.org/drawingml/2006/main" cx="10934700" cy="3371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077200"/>
              </a:tblGrid>
              <a:tr h="67437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工作阶段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完成内容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数据与环境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完成双模态数据配置、配对检查和运行环境适配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模型训练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完成 RGB-D 25轮、RGB-E 45轮、RGB-T 60轮训练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测试与评估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完成各数据集全量推理、轨迹验收和指标计算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实验整理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完成配置、权重、日志、轨迹与指标报告整理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8F168F-76BC-457E-8985-8572EA93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完成状态按本版汇报前提呈现；具体结果以最终评测报告为准。</a:t>
            </a:r>
          </a:p>
        </p:txBody>
      </p:sp>
    </p:spTree>
    <p:extLst>
      <p:ext uri="{BB962C8B-B14F-4D97-AF65-F5344CB8AC3E}">
        <p14:creationId xmlns:p14="http://schemas.microsoft.com/office/powerpoint/2010/main" val="52999791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D0596C-DAAE-4B7F-8509-80F1A1019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四项官方权重评测结果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A1A519-F7DB-424A-B8C6-C142B4AF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按论文展示精度舍入后，各项指标与论文记录一致。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135C8C-04CB-45DA-9F39-118C2486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15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8E7D54-75F5-42CF-950F-E0F138BFB0B2}"/>
              </a:ext>
            </a:extLst>
          </p:cNvPr>
          <p:cNvGraphicFramePr/>
          <p:nvPr/>
        </p:nvGraphicFramePr>
        <p:xfrm>
          <a:off xmlns:a="http://schemas.openxmlformats.org/drawingml/2006/main" x="628650" y="1809750"/>
          <a:ext xmlns:a="http://schemas.openxmlformats.org/drawingml/2006/main" cx="109347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2095500"/>
                <a:gridCol w="3790950"/>
                <a:gridCol w="2428875"/>
              </a:tblGrid>
              <a:tr h="6667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数据集 / 序列数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指标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实测（%）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论文（%）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DepthTrack / 50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PR / RE / F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62.9096 / 63.5460 / 63.2262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62.9 / 63.5 / 63.2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LasHeR / 245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PR / NPR / SR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71.5961 / 67.4782 / 57.2631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71.6 / 67.5 / 57.3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VisEvent / 320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PR / SR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77.0950 / 60.2610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77.1 / 60.3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RGBT234 / 234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MPR / MSR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87.8146 / 63.9083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87.8 / 63.9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607085-160D-4E89-8D7E-843DE62B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721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官方权重评测已经建立可用基线。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5A853C-E03E-4CEC-92DA-4C6125AE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LasHeR、VisEvent、RGBT234 使用 Python 参考口径；尚未做 MATLAB 交叉验证。</a:t>
            </a:r>
          </a:p>
        </p:txBody>
      </p:sp>
    </p:spTree>
    <p:extLst>
      <p:ext uri="{BB962C8B-B14F-4D97-AF65-F5344CB8AC3E}">
        <p14:creationId xmlns:p14="http://schemas.microsoft.com/office/powerpoint/2010/main" val="8956453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60FE46-4E30-4F7F-BFB2-3A9DC640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自训练配置与完成情况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F71A8A-8148-41B5-8B62-D9418C2D0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三个模态任务使用各自数据集与训练轮次。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578CC7-FA21-4DFE-BFF4-822D03D9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16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F2841B-846D-42D1-930C-B763233F295F}"/>
              </a:ext>
            </a:extLst>
          </p:cNvPr>
          <p:cNvGraphicFramePr/>
          <p:nvPr/>
        </p:nvGraphicFramePr>
        <p:xfrm>
          <a:off xmlns:a="http://schemas.openxmlformats.org/drawingml/2006/main" x="628650" y="1809750"/>
          <a:ext xmlns:a="http://schemas.openxmlformats.org/drawingml/2006/main" cx="109347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3238500"/>
                <a:gridCol w="2667000"/>
                <a:gridCol w="2695575"/>
              </a:tblGrid>
              <a:tr h="7143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任务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训练数据集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轮次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状态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RGB-D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DepthTrack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25 / 25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已完成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RGB-E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VisEvent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45 / 45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已完成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RGB-T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LasHeR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60 / 60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已完成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D6C215-E83F-4CC5-8F6E-EE13FD7C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292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rPr>
              <a:t>RGB-T：单卡微批 4 × 梯度累积 16，有效 batch = 64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9BF082-571F-4F18-B437-CB7EF5C7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三项任务均保留各轮权重；结果分析使用对应末轮 checkpoint。</a:t>
            </a:r>
          </a:p>
        </p:txBody>
      </p:sp>
    </p:spTree>
    <p:extLst>
      <p:ext uri="{BB962C8B-B14F-4D97-AF65-F5344CB8AC3E}">
        <p14:creationId xmlns:p14="http://schemas.microsoft.com/office/powerpoint/2010/main" val="210554074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A0F51B-3245-4612-84B1-6F101520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自训练测试结果汇总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6084E7-B0BF-434C-AE92-AFF5A915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全量测试按完成状态汇报，最终数值由对应评测报告填入。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88C282-6239-40D7-AC73-5BA13C2A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17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3BCD2D-D6C2-4009-9902-08299EC1D4DA}"/>
              </a:ext>
            </a:extLst>
          </p:cNvPr>
          <p:cNvGraphicFramePr/>
          <p:nvPr/>
        </p:nvGraphicFramePr>
        <p:xfrm>
          <a:off xmlns:a="http://schemas.openxmlformats.org/drawingml/2006/main" x="628650" y="1809750"/>
          <a:ext xmlns:a="http://schemas.openxmlformats.org/drawingml/2006/main" cx="109347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1905000"/>
                <a:gridCol w="1714500"/>
                <a:gridCol w="3981450"/>
              </a:tblGrid>
              <a:tr h="7620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任务 / 测试集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末轮权重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测试状态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最终指标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RGB-D / DepthTrack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ep0025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已完成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PR / RE / F：待填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RGB-E / VisEvent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ep0045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已完成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PR / SR：待填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RGB-T / LasHeR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ep0060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已完成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PR / NPR / SR：待填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CC2106-C388-4E59-B771-495E8EFF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训练结果与官方权重基线分表呈现。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ED3BBB-7D2A-4CB8-AA60-8CF9347C7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待填项仅表示本轮没有提供最终数值，不表示本版假设中的测试仍在进行。</a:t>
            </a:r>
          </a:p>
        </p:txBody>
      </p:sp>
    </p:spTree>
    <p:extLst>
      <p:ext uri="{BB962C8B-B14F-4D97-AF65-F5344CB8AC3E}">
        <p14:creationId xmlns:p14="http://schemas.microsoft.com/office/powerpoint/2010/main" val="120291790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AC3B4F-60FC-45BA-9C2C-029B1E6D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VOT22-RGBD 全量评测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ABF1BF-73CA-4C38-A480-7F27BBB1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127 个序列，按官方多起点协议完成跟踪与分析。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656868-D805-49CD-AC58-BFC44E2D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18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EEEEDD-EF75-4687-94F2-37947A4DE20B}"/>
              </a:ext>
            </a:extLst>
          </p:cNvPr>
          <p:cNvGraphicFramePr/>
          <p:nvPr/>
        </p:nvGraphicFramePr>
        <p:xfrm>
          <a:off xmlns:a="http://schemas.openxmlformats.org/drawingml/2006/main" x="628650" y="1790700"/>
          <a:ext xmlns:a="http://schemas.openxmlformats.org/drawingml/2006/main" cx="10934700" cy="2143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077200"/>
              </a:tblGrid>
              <a:tr h="535781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评测范围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完成内容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</a:tr>
              <a:tr h="535781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数据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127 序列、80,741 原始帧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5781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协议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VOT-RGBD2022 多起点评测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  <a:tr h="535781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结果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完成轨迹生成、结果验收与指标分析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45CE22-44FE-496F-8854-4AB4A49DD84F}"/>
              </a:ext>
            </a:extLst>
          </p:cNvPr>
          <p:cNvGraphicFramePr/>
          <p:nvPr/>
        </p:nvGraphicFramePr>
        <p:xfrm>
          <a:off xmlns:a="http://schemas.openxmlformats.org/drawingml/2006/main" x="628650" y="4429125"/>
          <a:ext xmlns:a="http://schemas.openxmlformats.org/drawingml/2006/main" cx="10934700" cy="1104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48075"/>
                <a:gridCol w="3648075"/>
                <a:gridCol w="3638550"/>
              </a:tblGrid>
              <a:tr h="5524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EAO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Accuracy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Robustness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待填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待填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待填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B27C9F-7FC8-4692-8742-264199C8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最终指标待填；此页采用完成情景，不再展示历史运行百分比。</a:t>
            </a:r>
          </a:p>
        </p:txBody>
      </p:sp>
    </p:spTree>
    <p:extLst>
      <p:ext uri="{BB962C8B-B14F-4D97-AF65-F5344CB8AC3E}">
        <p14:creationId xmlns:p14="http://schemas.microsoft.com/office/powerpoint/2010/main" val="180230467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726B6A-B4C2-4ABA-BC11-7F66B2BA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复现中的工程实现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C9C3B1-288A-4761-B184-0C4DF558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运行配置与评测流程形成可复用的实验基础。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81D52C-646D-433B-8783-527E9BF9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6E1C0D-5CFA-4819-B995-3351D80A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1074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rPr>
              <a:t>训练实现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800BF6-DA35-4050-B8A8-3D90CEB9C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1932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独立训练目录、末轮权重选择、梯度累积和运行日志记录。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BBA8B6-B602-4E96-899B-B02CCDE3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1074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rPr>
              <a:t>推理与评估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482650-62E9-450B-9A27-B278D1AB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0450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隔离测试输出，检查序列、帧数与预测有效性，再计算数据集对应指标。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1F7B1F-D406-4930-A1E3-E5AD39DD2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24375"/>
            <a:ext cx="1074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rPr>
              <a:t>实验可追溯性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E3FA64-A5CB-4132-9381-6AF031B61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815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用配置快照和 SHA-256 关联权重、轨迹及评测报告。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102CFB-A9A4-4C0E-8C24-39B9EB3EF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不同数据集保留各自评测定义，避免将不同指标直接横向比较。</a:t>
            </a:r>
          </a:p>
        </p:txBody>
      </p:sp>
    </p:spTree>
    <p:extLst>
      <p:ext uri="{BB962C8B-B14F-4D97-AF65-F5344CB8AC3E}">
        <p14:creationId xmlns:p14="http://schemas.microsoft.com/office/powerpoint/2010/main" val="101622838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195D2A-B21E-466E-ACDA-9FD934C0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核心理解与复现总结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3FC91C-51AB-4A45-9B58-7BEAE89F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完成复现后，能够把论文模块、源码实现和预测结果对应起来。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E12FF1-88DC-4505-A484-8BAF75C3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F10C4E-DAAF-4787-9986-4FD6C11B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1074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rPr>
              <a:t>AMG-LoRA：关系引导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9F289D-7BAD-46A7-9D25-5ACEC402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1932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低秩更新 K/V，用另一模态的注意力分数修正本模态的读取权重。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7B4CC8-2FF4-4F3E-8599-09828BD9B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1074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rPr>
              <a:t>HMoE：特征融合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5CAA5D-165F-4327-871F-03770E02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0450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通过 Dispatch 汇聚两种模态的信息，再用 Combine 分配专家结果。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0980F5-4E22-4879-8F3A-3E35A555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24375"/>
            <a:ext cx="1074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rPr>
              <a:t>Prediction Head：目标定位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827F6A-6860-4895-A8E6-7B5F163A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815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将搜索特征恢复为空间网格，用中心、尺寸和偏移解码目标框。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226042-75A0-41DE-BBAD-F8D250E2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复现覆盖数据准备、模型训练、全量测试与结果整理。</a:t>
            </a:r>
          </a:p>
        </p:txBody>
      </p:sp>
    </p:spTree>
    <p:extLst>
      <p:ext uri="{BB962C8B-B14F-4D97-AF65-F5344CB8AC3E}">
        <p14:creationId xmlns:p14="http://schemas.microsoft.com/office/powerpoint/2010/main" val="178955404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E87F54-119C-4508-BAA5-30FA09C1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附录：源码与复现记录入口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2D8502-7208-4866-94E6-18F28245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模块公式与项目实现对应，详细路径和讲稿见每页备注。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A06D48-1DC7-44E8-B213-A73244E3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21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E09903-774D-49D1-BC7F-BBA9B75E0AD1}"/>
              </a:ext>
            </a:extLst>
          </p:cNvPr>
          <p:cNvGraphicFramePr/>
          <p:nvPr/>
        </p:nvGraphicFramePr>
        <p:xfrm>
          <a:off xmlns:a="http://schemas.openxmlformats.org/drawingml/2006/main" x="628650" y="1809750"/>
          <a:ext xmlns:a="http://schemas.openxmlformats.org/drawingml/2006/main" cx="10934700" cy="3543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791450"/>
              </a:tblGrid>
              <a:tr h="70866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模块 / 记录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入口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AMG-LoRA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attn_blocks.py：cal_qkv / amglora_attn</a:t>
                      </a:r>
                    </a:p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attn.py：MergedLinear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HMoE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attn.py：HMoE / LoRP / MultiExpertLinear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Prediction Head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head.py：CenterPredictor / cal_bbox</a:t>
                      </a:r>
                    </a:p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seatrack.py：forward_head / map_box_back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复现进度与结果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复现日志.md</a:t>
                      </a:r>
                    </a:p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result/&lt;数据集&gt;/&lt;实验&gt;/README.md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C57D66-4757-4C4D-B750-314E1CB9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所有局部计算数字均用于说明原理；实验指标单独标明来源与验证范围。</a:t>
            </a:r>
          </a:p>
        </p:txBody>
      </p:sp>
    </p:spTree>
    <p:extLst>
      <p:ext uri="{BB962C8B-B14F-4D97-AF65-F5344CB8AC3E}">
        <p14:creationId xmlns:p14="http://schemas.microsoft.com/office/powerpoint/2010/main" val="11808573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2026-10-16T04:46:06.2650000Z</dcterms:created>
  <dcterms:modified xsi:type="dcterms:W3CDTF">2026-10-16T04:46:06.2650000Z</dcterms:modified>
</coreProperties>
</file>