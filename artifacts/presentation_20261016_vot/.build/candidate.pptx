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5f861936894f90" /><Relationship Type="http://schemas.openxmlformats.org/officeDocument/2006/relationships/extended-properties" Target="/docProps/app.xml" Id="Rbe95ac9a1fcf4b3f" /><Relationship Type="http://schemas.openxmlformats.org/officeDocument/2006/relationships/officeDocument" Target="/ppt/presentation.xml" Id="R243b3904a45846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4572047784cbb"/>
  </p:sldMasterIdLst>
  <p:notesMasterIdLst>
    <p:notesMasterId xmlns:r="http://schemas.openxmlformats.org/officeDocument/2006/relationships" r:id="R8d7541a38ca54fa8"/>
  </p:notesMasterIdLst>
  <p:sldIdLst>
    <p:sldId xmlns:r="http://schemas.openxmlformats.org/officeDocument/2006/relationships" id="256" r:id="R08e2a7034230437e"/>
    <p:sldId xmlns:r="http://schemas.openxmlformats.org/officeDocument/2006/relationships" id="257" r:id="R8602087dbf8047f9"/>
    <p:sldId xmlns:r="http://schemas.openxmlformats.org/officeDocument/2006/relationships" id="258" r:id="R7b8f2355bc7445a0"/>
    <p:sldId xmlns:r="http://schemas.openxmlformats.org/officeDocument/2006/relationships" id="259" r:id="R50cd5ef674854b6d"/>
    <p:sldId xmlns:r="http://schemas.openxmlformats.org/officeDocument/2006/relationships" id="260" r:id="R469ae7ed70304848"/>
    <p:sldId xmlns:r="http://schemas.openxmlformats.org/officeDocument/2006/relationships" id="261" r:id="R1eb9ff74134548ce"/>
    <p:sldId xmlns:r="http://schemas.openxmlformats.org/officeDocument/2006/relationships" id="262" r:id="Rbb52bad6f9764895"/>
    <p:sldId xmlns:r="http://schemas.openxmlformats.org/officeDocument/2006/relationships" id="263" r:id="R4767cf94da58464f"/>
    <p:sldId xmlns:r="http://schemas.openxmlformats.org/officeDocument/2006/relationships" id="264" r:id="Ra2968f4da5b14b96"/>
    <p:sldId xmlns:r="http://schemas.openxmlformats.org/officeDocument/2006/relationships" id="265" r:id="R904a83d47b364eb4"/>
    <p:sldId xmlns:r="http://schemas.openxmlformats.org/officeDocument/2006/relationships" id="266" r:id="Rc18714eea71d4a0b"/>
    <p:sldId xmlns:r="http://schemas.openxmlformats.org/officeDocument/2006/relationships" id="267" r:id="Ra1d4db6abfe9419a"/>
    <p:sldId xmlns:r="http://schemas.openxmlformats.org/officeDocument/2006/relationships" id="268" r:id="R84995fcecd404ccd"/>
    <p:sldId xmlns:r="http://schemas.openxmlformats.org/officeDocument/2006/relationships" id="269" r:id="R57063c15b97f4520"/>
    <p:sldId xmlns:r="http://schemas.openxmlformats.org/officeDocument/2006/relationships" id="270" r:id="R6f15273d16a94f7d"/>
    <p:sldId xmlns:r="http://schemas.openxmlformats.org/officeDocument/2006/relationships" id="271" r:id="Rbe0badd71de24960"/>
    <p:sldId xmlns:r="http://schemas.openxmlformats.org/officeDocument/2006/relationships" id="272" r:id="Rd3d3e5e8c40e418d"/>
    <p:sldId xmlns:r="http://schemas.openxmlformats.org/officeDocument/2006/relationships" id="273" r:id="Rfef105f4525c4306"/>
    <p:sldId xmlns:r="http://schemas.openxmlformats.org/officeDocument/2006/relationships" id="274" r:id="R25d20704e75f4f66"/>
    <p:sldId xmlns:r="http://schemas.openxmlformats.org/officeDocument/2006/relationships" id="275" r:id="R584069dfa1d64fac"/>
    <p:sldId xmlns:r="http://schemas.openxmlformats.org/officeDocument/2006/relationships" id="276" r:id="R281daed8e13e44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7f791aa3ad4a40" /><Relationship Type="http://schemas.openxmlformats.org/officeDocument/2006/relationships/slideMaster" Target="/ppt/slideMasters/slideMaster1.xml" Id="Rf5f4572047784cbb" /><Relationship Type="http://schemas.openxmlformats.org/officeDocument/2006/relationships/notesMaster" Target="/ppt/notesMasters/notesMaster1.xml" Id="R8d7541a38ca54fa8" /><Relationship Type="http://schemas.openxmlformats.org/officeDocument/2006/relationships/presProps" Target="/ppt/presProps.xml" Id="Rbadc7a4e649f47cf" /><Relationship Type="http://schemas.openxmlformats.org/officeDocument/2006/relationships/tableStyles" Target="/ppt/tableStyles.xml" Id="Rb6ef764039604642" /><Relationship Type="http://schemas.openxmlformats.org/officeDocument/2006/relationships/slide" Target="/ppt/slides/slide1.xml" Id="R08e2a7034230437e" /><Relationship Type="http://schemas.openxmlformats.org/officeDocument/2006/relationships/slide" Target="/ppt/slides/slide2.xml" Id="R8602087dbf8047f9" /><Relationship Type="http://schemas.openxmlformats.org/officeDocument/2006/relationships/slide" Target="/ppt/slides/slide3.xml" Id="R7b8f2355bc7445a0" /><Relationship Type="http://schemas.openxmlformats.org/officeDocument/2006/relationships/slide" Target="/ppt/slides/slide4.xml" Id="R50cd5ef674854b6d" /><Relationship Type="http://schemas.openxmlformats.org/officeDocument/2006/relationships/slide" Target="/ppt/slides/slide5.xml" Id="R469ae7ed70304848" /><Relationship Type="http://schemas.openxmlformats.org/officeDocument/2006/relationships/slide" Target="/ppt/slides/slide6.xml" Id="R1eb9ff74134548ce" /><Relationship Type="http://schemas.openxmlformats.org/officeDocument/2006/relationships/slide" Target="/ppt/slides/slide7.xml" Id="Rbb52bad6f9764895" /><Relationship Type="http://schemas.openxmlformats.org/officeDocument/2006/relationships/slide" Target="/ppt/slides/slide8.xml" Id="R4767cf94da58464f" /><Relationship Type="http://schemas.openxmlformats.org/officeDocument/2006/relationships/slide" Target="/ppt/slides/slide9.xml" Id="Ra2968f4da5b14b96" /><Relationship Type="http://schemas.openxmlformats.org/officeDocument/2006/relationships/slide" Target="/ppt/slides/slide10.xml" Id="R904a83d47b364eb4" /><Relationship Type="http://schemas.openxmlformats.org/officeDocument/2006/relationships/slide" Target="/ppt/slides/slide11.xml" Id="Rc18714eea71d4a0b" /><Relationship Type="http://schemas.openxmlformats.org/officeDocument/2006/relationships/slide" Target="/ppt/slides/slide12.xml" Id="Ra1d4db6abfe9419a" /><Relationship Type="http://schemas.openxmlformats.org/officeDocument/2006/relationships/slide" Target="/ppt/slides/slide13.xml" Id="R84995fcecd404ccd" /><Relationship Type="http://schemas.openxmlformats.org/officeDocument/2006/relationships/slide" Target="/ppt/slides/slide14.xml" Id="R57063c15b97f4520" /><Relationship Type="http://schemas.openxmlformats.org/officeDocument/2006/relationships/slide" Target="/ppt/slides/slide15.xml" Id="R6f15273d16a94f7d" /><Relationship Type="http://schemas.openxmlformats.org/officeDocument/2006/relationships/slide" Target="/ppt/slides/slide16.xml" Id="Rbe0badd71de24960" /><Relationship Type="http://schemas.openxmlformats.org/officeDocument/2006/relationships/slide" Target="/ppt/slides/slide17.xml" Id="Rd3d3e5e8c40e418d" /><Relationship Type="http://schemas.openxmlformats.org/officeDocument/2006/relationships/slide" Target="/ppt/slides/slide18.xml" Id="Rfef105f4525c4306" /><Relationship Type="http://schemas.openxmlformats.org/officeDocument/2006/relationships/slide" Target="/ppt/slides/slide19.xml" Id="R25d20704e75f4f66" /><Relationship Type="http://schemas.openxmlformats.org/officeDocument/2006/relationships/slide" Target="/ppt/slides/slide20.xml" Id="R584069dfa1d64fac" /><Relationship Type="http://schemas.openxmlformats.org/officeDocument/2006/relationships/slide" Target="/ppt/slides/slide21.xml" Id="R281daed8e13e44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0a6de93728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eb78549dac4579" /><Relationship Type="http://schemas.openxmlformats.org/officeDocument/2006/relationships/notesMaster" Target="/ppt/notesMasters/notesMaster1.xml" Id="R5d5eff8be97944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ee4eec352c4f3e" /><Relationship Type="http://schemas.openxmlformats.org/officeDocument/2006/relationships/notesMaster" Target="/ppt/notesMasters/notesMaster1.xml" Id="Rd83ad9ebf6f046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e7883da2f4283" /><Relationship Type="http://schemas.openxmlformats.org/officeDocument/2006/relationships/notesMaster" Target="/ppt/notesMasters/notesMaster1.xml" Id="R906dfabf190a48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001a1bf3ab469b" /><Relationship Type="http://schemas.openxmlformats.org/officeDocument/2006/relationships/notesMaster" Target="/ppt/notesMasters/notesMaster1.xml" Id="Rb3400a95a51c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f4565010c64949" /><Relationship Type="http://schemas.openxmlformats.org/officeDocument/2006/relationships/notesMaster" Target="/ppt/notesMasters/notesMaster1.xml" Id="R5968964064154f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5c7eb55f9f4fa5" /><Relationship Type="http://schemas.openxmlformats.org/officeDocument/2006/relationships/notesMaster" Target="/ppt/notesMasters/notesMaster1.xml" Id="Rb1772185f78440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e066ee2edc4a17" /><Relationship Type="http://schemas.openxmlformats.org/officeDocument/2006/relationships/notesMaster" Target="/ppt/notesMasters/notesMaster1.xml" Id="R97d9a1ab5cc54d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6cca72e0f34db7" /><Relationship Type="http://schemas.openxmlformats.org/officeDocument/2006/relationships/notesMaster" Target="/ppt/notesMasters/notesMaster1.xml" Id="R124b19bea43a44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5180b4a25c41ec" /><Relationship Type="http://schemas.openxmlformats.org/officeDocument/2006/relationships/notesMaster" Target="/ppt/notesMasters/notesMaster1.xml" Id="R472c53c97d9f46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be3fd9c3bd4e67" /><Relationship Type="http://schemas.openxmlformats.org/officeDocument/2006/relationships/notesMaster" Target="/ppt/notesMasters/notesMaster1.xml" Id="R1ced453ecdcd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f265f0f1784768" /><Relationship Type="http://schemas.openxmlformats.org/officeDocument/2006/relationships/notesMaster" Target="/ppt/notesMasters/notesMaster1.xml" Id="R0057d19754f449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163d518b5943f3" /><Relationship Type="http://schemas.openxmlformats.org/officeDocument/2006/relationships/notesMaster" Target="/ppt/notesMasters/notesMaster1.xml" Id="R7c2789524ab74b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52f72caacc4906" /><Relationship Type="http://schemas.openxmlformats.org/officeDocument/2006/relationships/notesMaster" Target="/ppt/notesMasters/notesMaster1.xml" Id="Rb5f53c95f85145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3866bf1d2448e1" /><Relationship Type="http://schemas.openxmlformats.org/officeDocument/2006/relationships/notesMaster" Target="/ppt/notesMasters/notesMaster1.xml" Id="R4a03fe9b0a1446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984aaccf6a407d" /><Relationship Type="http://schemas.openxmlformats.org/officeDocument/2006/relationships/notesMaster" Target="/ppt/notesMasters/notesMaster1.xml" Id="R5a4d918c9eac4d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23368cc0624157" /><Relationship Type="http://schemas.openxmlformats.org/officeDocument/2006/relationships/notesMaster" Target="/ppt/notesMasters/notesMaster1.xml" Id="R109e4e7a323948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8b2c377d1c4b1c" /><Relationship Type="http://schemas.openxmlformats.org/officeDocument/2006/relationships/notesMaster" Target="/ppt/notesMasters/notesMaster1.xml" Id="Re28ba4d43eac49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4220da57954b78" /><Relationship Type="http://schemas.openxmlformats.org/officeDocument/2006/relationships/notesMaster" Target="/ppt/notesMasters/notesMaster1.xml" Id="R9ee9e132958344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6570a3dd594e5a" /><Relationship Type="http://schemas.openxmlformats.org/officeDocument/2006/relationships/notesMaster" Target="/ppt/notesMasters/notesMaster1.xml" Id="R8bb04f32924b4e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f50cab1a98437b" /><Relationship Type="http://schemas.openxmlformats.org/officeDocument/2006/relationships/notesMaster" Target="/ppt/notesMasters/notesMaster1.xml" Id="R0c82a523f5754b8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5eef47e8a94803" /><Relationship Type="http://schemas.openxmlformats.org/officeDocument/2006/relationships/notesMaster" Target="/ppt/notesMasters/notesMaster1.xml" Id="Re073c2822096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按全部复现完成的情景组织，完成状态是用户指定的汇报前提，不新增独立验证证据。核心机制来自项目源码，四项官方权重指标保留历史实测记录。自训练最终报告和VOT22最终数值尚未提供，使用待填占位，不用历史存在来源疑点的值代替最终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/Users/lzy/Desktop/GitHub/seatrack/code.md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图为仓库提供的论文框架图。默认骨干12层，零起始索引1、3、5、7、9、11使用AMG-LoRA和两处HMoE。每层两模态共享该层参数，层与层之间参数独立。Prediction Head位于Encoder之后。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/Users/lzy/Desktop/GitHub/seatrack/SEATrack-main/assets/Framework.png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来自目标参考区域，搜索来自当前帧目标附近。输入尺寸和token数量来自默认配置。搜索网格第7行第9列按零起始编号为121，在模板搜索拼接后的序列中编号185。这个位置只是教学跟踪位置，并不预先认定其为真实目标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/Users/lzy/Desktop/GitHub/seatrack/SEATrack-main/lib/models/layers/patch_embed.py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先执行库中的LayerNorm。公式使用行向量右乘写法，实际PyTorch权重存储为out,in。省略训练dropout。r=8，K和V拥有各自的A和B。源码定义了alpha/r但注释了实际乘法。推理时可以合并LoRA增量，等价于这里的展开表达。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S是softmax前的logits，P是softmax后的权重。两路都引用对方原始logits。α对应dte2r_scaling，β对应r2dte_scaling，都是每增强层一个方向一个可学习标量，初始为1，无sigmoid约束。下方仅用两个key演示，实际每行有320个key。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以下两个通道仅是教学缩小例子。真实计算每个头64维，12个头合并后做输出投影，返回分支更新量。xrgb_attn变量名虽然包含attn，但这里已经是token特征。残差保留LayerNorm之前的原输入，推理DropPath关闭。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第一处attn_moe有4个专家，每个专家2个槽位，低秩维4。模板和搜索调用同一个模块、共享参数，mode参数当前未参与内部计算。跟踪位置在搜索融合输入中的RGB编号为121，红外编号为377。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LoRP的实际式为(LN(X)A+a)B+b，768到4到768，默认无GELU。输入搜索组N=512，拆分后U为1024×384。Phi为384×8。Dispatch沿输入子token维softmax，每个槽位的输入权重和为1。温度TD为可学习参数，初值1，未约束为正。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专家计算Ye,s=(Ge,s Ae+ae)Be+be，384到4到384，当前无GELU。不同专家参数独立，同一专家两个槽位共享参数。拼接两槽位为768维后经过linear2的LoRP。Combine来自同一原始logits，对每个token的2个子向量与每专家2个槽位的4项求和，再沿专家维softmax。所有专家参与，无top-k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示例权重和值均非实测。RGB搜索token121的某通道更新为1.6，原值0.7时残差结果2.3。模板输入也独立完成相同过程，之后按各模态模板搜索顺序重组。随后MLP和第二处HMoE继续更新，第二处8专家，参数独立。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CenterPredictor在本地项目中定义，内部卷积BN/ReLU来自PyTorch。最终只保留搜索，模板信息已融入搜索。每个分支四层3×3 Conv-BN-ReLU，通道768、256、128、64、32，最后1×1卷积。中心和尺寸sigmoid后clamp，偏移保持实数。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教学示例：idx=121，offset=[0.25,0.50]，size=[0.25,0.50]。先从中心图找最大位置，再在同一个idx读取size和offset，不能三个分支各取最大。尺寸已相对整个搜索图归一化，不再除16。输出顺序cxcywh。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图尺寸256，原裁剪边长512，resize_factor=0.5。假设代码使用的裁剪原点为(100,200)。Tracker先用Hann窗口调整中心分数并再次解码，此例假设赢家仍为7,9。归一化框乘512得到局部中心296,240、宽高128,256。加原点得到396,440，再减半宽高得到332,312。最终clip_box需结合原图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完成状态遵循用户指定的情景前提。此页不代表从旧日志推导出新的服务器事实。方法和实验范围来自已有项目资料。最终缺失指标在后面的结果表保留待填。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/Users/lzy/Desktop/GitHub/seatrack/result/README.md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表中数值按原指标乘100展示。VOT22-RGBD数据来自用户本轮提供的结果表：EAO73.5672、Accuracy82.0755、Robustness88.3893，未在本轮独立读取原始分析报告。论文对照为73.6、82.1、88.4，均按一位小数一致。不同数据集指标定义不同，不做横向排名。DepthTrack使用VOT工具分析。其余三项为Python参考口径，未执行MATLAB交叉验证。VisEvent保留person1标注时间对应风险。LasHeR与RGBT234完整产物尚待本地归档。官方权重复测与独立训练复现是不同验证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/Users/lzy/Desktop/GitHub/seatrack/result/depthtrack/2026-10-11_official-rgbd/README.md</a:t>
            </a:r>
          </a:p>
          <a:p xmlns:a="http://schemas.openxmlformats.org/drawingml/2006/main">
            <a:r>
              <a:t>/Users/lzy/Desktop/GitHub/seatrack/result/lasher/2026-10-11_official-rgbt/README.md</a:t>
            </a:r>
          </a:p>
          <a:p xmlns:a="http://schemas.openxmlformats.org/drawingml/2006/main">
            <a:r>
              <a:t>/Users/lzy/Desktop/GitHub/seatrack/result/visevent/2026-10-13_official-rgbe/README.md</a:t>
            </a:r>
          </a:p>
          <a:p xmlns:a="http://schemas.openxmlformats.org/drawingml/2006/main">
            <a:r>
              <a:t>/Users/lzy/Desktop/GitHub/seatrack/result/rgbt234/2026-10-13_official-rgbt/README.md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按完成情景汇报。RGB-D25轮、RGB-E45轮、RGB-T60轮已在历史日志中报告完成。RGB-T单卡microbatch4累积16，有效batch64，FP32，不能宣称与原双卡运行数值完全等价。Loss和训练IoU不用于替代测试集结果。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完成状态是用户指定的前提。旧日志中的RGB-D和RGB-E名义自训练数值存在模型参数来源问题，因此不将这些旧值重新标为已验证的独立复现结果。用户尚未提供可确认的最终自训练数值，本页统一留待填。RGB-T末轮ep0060，RGB-E末轮ep0045，RGB-D末轮ep0025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结果来自用户在本轮提供的表格，按指标乘100展示：EAO=73.5672，Accuracy=82.0755，Robustness=88.3893。对应原始尺度0.735672、0.820755、0.883893。论文值73.6、82.1、88.4来自本地论文译文。按论文一位小数展示精度，三项均一致。制作本页时未独立读取服务器原始分析报告。数据范围127序列80741帧来自既有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/Users/lzy/Desktop/GitHub/seatrack/SEATrack_中文译文.md</a:t>
            </a:r>
          </a:p>
          <a:p xmlns:a="http://schemas.openxmlformats.org/drawingml/2006/main">
            <a:r>
              <a:t>用户本轮提供的 VOT22-RGBD 结果表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此页汇总已有实现内容。独立运行目录、显式权重路径、SHA清单、轨迹校验和Python指标脚本都有仓库依据。完整归档按本版完成前提组织，不新增未经记录的性能或精度结论。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  <a:p xmlns:a="http://schemas.openxmlformats.org/drawingml/2006/main">
            <a:r>
              <a:t>/Users/lzy/Desktop/GitHub/seatrack/scripts/lasher_metrics.md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全部完成的情景组织总结。方法结论来自源码：AMG-LoRA融合位置关系，HMoE汇聚并重分配跨模态特征，预测头输出中心分数宽高偏移并解码。现有四项官方权重复测与论文舍入值一致。尚无最终自训练和VOT22数字，所以不宣称这些缺失项已经与论文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来自项目本地实现，不宣称所有算法皆由作者原创。cal_qkv/amglora_attn、HMoE/LoRP/MultiExpertLinear、CenterPredictor均为项目定义；nn.Conv2d、LayerNorm、softmax、矩阵运算由库提供。参考本地code.md、复现日志、各结果README及核心源码。未在线访问论文网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71a5df93f43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6a4c56c3e44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305bd4c4744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5fb7117b845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1186171234c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79b3c5ebf47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61C218-0740-4DA9-A6D0-EA4BB0852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7B8AB5-8484-42CF-9B36-7F741EE1E0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A35E6B-1220-48EB-9EFE-F109EC0F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AF39F-436D-4A1D-BC1F-D74732A54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DC5C10-8DBC-4252-83C0-12122B0E4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63E493-E198-4AE2-9B6D-578C5340C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529C93-4A09-4C65-A9CC-D70795861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7B387B-0955-446D-A058-FAC2B4DB03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A0EBB6-CC67-4EE0-8EB9-0C9BE53E1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6ABEBF-D6F3-480E-9159-A81B1E8C5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4bc688cae54b86" /><Relationship Type="http://schemas.openxmlformats.org/officeDocument/2006/relationships/slideLayout" Target="/ppt/slideLayouts/slideLayout1.xml" Id="Rdb6a8d30c2b3497b" /><Relationship Type="http://schemas.openxmlformats.org/officeDocument/2006/relationships/slideLayout" Target="/ppt/slideLayouts/slideLayout2.xml" Id="R6861534ba4cb4f94" /><Relationship Type="http://schemas.openxmlformats.org/officeDocument/2006/relationships/slideLayout" Target="/ppt/slideLayouts/slideLayout3.xml" Id="R7c7e36c3ae8b4f94" /><Relationship Type="http://schemas.openxmlformats.org/officeDocument/2006/relationships/slideLayout" Target="/ppt/slideLayouts/slideLayout4.xml" Id="R61c51a288c934953" /><Relationship Type="http://schemas.openxmlformats.org/officeDocument/2006/relationships/slideLayout" Target="/ppt/slideLayouts/slideLayout5.xml" Id="Ref533a1d6275466a" /><Relationship Type="http://schemas.openxmlformats.org/officeDocument/2006/relationships/slideLayout" Target="/ppt/slideLayouts/slideLayout6.xml" Id="Rd887c408ce1948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a8d30c2b3497b"/>
    <p:sldLayoutId xmlns:r="http://schemas.openxmlformats.org/officeDocument/2006/relationships" id="2147483650" r:id="R6861534ba4cb4f94"/>
    <p:sldLayoutId xmlns:r="http://schemas.openxmlformats.org/officeDocument/2006/relationships" id="2147483651" r:id="R7c7e36c3ae8b4f94"/>
    <p:sldLayoutId xmlns:r="http://schemas.openxmlformats.org/officeDocument/2006/relationships" id="2147483652" r:id="R61c51a288c934953"/>
    <p:sldLayoutId xmlns:r="http://schemas.openxmlformats.org/officeDocument/2006/relationships" id="2147483653" r:id="Ref533a1d6275466a"/>
    <p:sldLayoutId xmlns:r="http://schemas.openxmlformats.org/officeDocument/2006/relationships" id="2147483654" r:id="Rd887c408ce1948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7d7e932774998" /><Relationship Type="http://schemas.openxmlformats.org/officeDocument/2006/relationships/notesSlide" Target="/ppt/notesSlides/notesSlide1.xml" Id="R92c1bc38d42b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10776cc3648a2" /><Relationship Type="http://schemas.openxmlformats.org/officeDocument/2006/relationships/image" Target="/ppt/media/image.png" Id="Rd2d2c9ab301047a9" /><Relationship Type="http://schemas.openxmlformats.org/officeDocument/2006/relationships/notesSlide" Target="/ppt/notesSlides/notesSlide2.xml" Id="R70cfba58c1ed4d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e31517cbe4e23" /><Relationship Type="http://schemas.openxmlformats.org/officeDocument/2006/relationships/notesSlide" Target="/ppt/notesSlides/notesSlide3.xml" Id="R277dfc507ede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c534b69e64701" /><Relationship Type="http://schemas.openxmlformats.org/officeDocument/2006/relationships/notesSlide" Target="/ppt/notesSlides/notesSlide4.xml" Id="R9ba92427c102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2c75c9b6142f5" /><Relationship Type="http://schemas.openxmlformats.org/officeDocument/2006/relationships/notesSlide" Target="/ppt/notesSlides/notesSlide5.xml" Id="Rd6b83fb0f9a8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c0aab540a41de" /><Relationship Type="http://schemas.openxmlformats.org/officeDocument/2006/relationships/notesSlide" Target="/ppt/notesSlides/notesSlide6.xml" Id="R90b8fcd23a344b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81f9598674152" /><Relationship Type="http://schemas.openxmlformats.org/officeDocument/2006/relationships/notesSlide" Target="/ppt/notesSlides/notesSlide7.xml" Id="Rce93b83494f7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bc10e34db4dd2" /><Relationship Type="http://schemas.openxmlformats.org/officeDocument/2006/relationships/notesSlide" Target="/ppt/notesSlides/notesSlide8.xml" Id="R346fc11842054d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e14cc47de4192" /><Relationship Type="http://schemas.openxmlformats.org/officeDocument/2006/relationships/notesSlide" Target="/ppt/notesSlides/notesSlide9.xml" Id="R69da4a2f1c664b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38e9000164c74" /><Relationship Type="http://schemas.openxmlformats.org/officeDocument/2006/relationships/notesSlide" Target="/ppt/notesSlides/notesSlide10.xml" Id="R807a79aab76842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3193a98b64c53" /><Relationship Type="http://schemas.openxmlformats.org/officeDocument/2006/relationships/notesSlide" Target="/ppt/notesSlides/notesSlide11.xml" Id="R5240744daadf4e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b9dee40e24417" /><Relationship Type="http://schemas.openxmlformats.org/officeDocument/2006/relationships/notesSlide" Target="/ppt/notesSlides/notesSlide12.xml" Id="R78096aea278347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166e41bcc4be8" /><Relationship Type="http://schemas.openxmlformats.org/officeDocument/2006/relationships/notesSlide" Target="/ppt/notesSlides/notesSlide13.xml" Id="Rd764ef419e944d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f9b4a997d4f46" /><Relationship Type="http://schemas.openxmlformats.org/officeDocument/2006/relationships/notesSlide" Target="/ppt/notesSlides/notesSlide14.xml" Id="R0f0ddef1d9984f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e60c8fffb4746" /><Relationship Type="http://schemas.openxmlformats.org/officeDocument/2006/relationships/notesSlide" Target="/ppt/notesSlides/notesSlide15.xml" Id="R245d3d061f6346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ea4422901493e" /><Relationship Type="http://schemas.openxmlformats.org/officeDocument/2006/relationships/notesSlide" Target="/ppt/notesSlides/notesSlide16.xml" Id="R9975fb8afcce48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601fc48ff4799" /><Relationship Type="http://schemas.openxmlformats.org/officeDocument/2006/relationships/notesSlide" Target="/ppt/notesSlides/notesSlide17.xml" Id="R617fade9e42d4e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6e7d64d464aa9" /><Relationship Type="http://schemas.openxmlformats.org/officeDocument/2006/relationships/notesSlide" Target="/ppt/notesSlides/notesSlide18.xml" Id="R4f50f696bfea49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86521aafa41db" /><Relationship Type="http://schemas.openxmlformats.org/officeDocument/2006/relationships/notesSlide" Target="/ppt/notesSlides/notesSlide19.xml" Id="R70eab5efa5204a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0afc7f7a74305" /><Relationship Type="http://schemas.openxmlformats.org/officeDocument/2006/relationships/notesSlide" Target="/ppt/notesSlides/notesSlide20.xml" Id="Rdd7350727b7049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784bbfe144c79" /><Relationship Type="http://schemas.openxmlformats.org/officeDocument/2006/relationships/notesSlide" Target="/ppt/notesSlides/notesSlide21.xml" Id="R16f4ba35dd4a4e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7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6C7CE-1C4F-4326-81B7-A04E8E63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SEATrack 核心机制与论文复现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68FA4-B55B-4EE4-8A3C-D94CCA29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1B4E7-979D-4002-8DC0-31698632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rPr>
              <a:t>AMG-LoRA · HMoE · Prediction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24FA4-35E5-4D73-8C16-58570C62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单样本计算解析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复现实验与结果总结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AC488-ADF5-464D-B75B-1238425D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复现完成汇报（情景版）</a:t>
            </a:r>
          </a:p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2026年10月16日</a:t>
            </a:r>
          </a:p>
        </p:txBody>
      </p:sp>
    </p:spTree>
    <p:extLst>
      <p:ext uri="{BB962C8B-B14F-4D97-AF65-F5344CB8AC3E}">
        <p14:creationId xmlns:p14="http://schemas.microsoft.com/office/powerpoint/2010/main" val="1031531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F4CF5-74C7-459B-950C-BEF9C5D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模型结构与本次汇报范围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2FF2B-8404-4D9C-A951-4D05AA3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两路特征经过共享骨干，增强层加入注意力引导与跨模态融合。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FEF76-E864-4734-95A7-F34CCBFB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63923-7BCC-4B3C-BAE4-410CA900A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2c9ab301047a9"/>
          <a:stretch xmlns:a="http://schemas.openxmlformats.org/drawingml/2006/main"/>
        </p:blipFill>
        <p:spPr>
          <a:xfrm xmlns:a="http://schemas.openxmlformats.org/drawingml/2006/main">
            <a:off x="2346989" y="1733550"/>
            <a:ext cx="7498023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A6038-0406-4804-8160-5FD20F4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 个 block；第 2、4、6、8、10、12 层包含增强模块。</a:t>
            </a:r>
          </a:p>
        </p:txBody>
      </p:sp>
    </p:spTree>
    <p:extLst>
      <p:ext uri="{BB962C8B-B14F-4D97-AF65-F5344CB8AC3E}">
        <p14:creationId xmlns:p14="http://schemas.microsoft.com/office/powerpoint/2010/main" val="232077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EE12C-7D1C-49DA-A3DB-F22A674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贯穿全程的单样本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6698C-E99B-4C50-8F10-E2ECA05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B = 1，RGB 与热红外各有一张模板和一张搜索图。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2C987-27E8-496A-81A7-2376A2F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1F92B-CBB8-4DC8-8C48-A841F744255C}"/>
              </a:ext>
            </a:extLst>
          </p:cNvPr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109347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429000"/>
                <a:gridCol w="360045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图像尺寸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 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红外模板，各一张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[1,3,128,128]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[1,64,768]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红外搜索，各一张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[1,3,256,256]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[1,256,768]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每路模板与搜索拼接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64 + 256 个位置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7C027-1B49-48F7-A009-93AB3452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持续跟踪：搜索网格 (行7，列9)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CF32C-2207-47F4-9871-27D3B050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搜索编号 121 = 7 × 16 + 9；完整序列编号 185 = 64 + 121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E28D-DC7B-4B8C-BFAD-189F2DC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尺寸来自源码；后续局部数字均为教学示例，非 checkpoint 实测输出。</a:t>
            </a:r>
          </a:p>
        </p:txBody>
      </p:sp>
    </p:spTree>
    <p:extLst>
      <p:ext uri="{BB962C8B-B14F-4D97-AF65-F5344CB8AC3E}">
        <p14:creationId xmlns:p14="http://schemas.microsoft.com/office/powerpoint/2010/main" val="478837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0816-2CF1-4AF8-81D6-E9DE0051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AMG-LoRA：Q、K、V 的生成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02C63-5141-45B4-A95A-1DD2D962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MergedLinear 组织联合投影，仅对 K、V 增加低秩更新。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53F19-90C6-488B-9F66-5D7FAB9C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D1E4-877E-4DB2-9795-54B0E093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Q = H Wq + bq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CEB93-2ED8-4C63-ABB6-3D492A13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K = H Wk + bk + H Ak Bk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1800E-130A-4FE9-90B1-E8776B88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V = H Wv + bv + H Av Bv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9F717-505B-4DE6-BCD3-488D8B2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A：768 × 8      B：8 × 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1C30-BE8D-40B3-8F7C-5419F91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每个投影新增 12,288 个参数；Q 不加 LoRA。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联合输出 [1,320,2304]，拆成 12 个头后 Q/K/V 各为 [1,12,320,64]。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95419-34D3-44DE-B28E-E0238ED5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调用路径：cal_qkv() 内部直接调用 self.attn.qkv()。</a:t>
            </a:r>
          </a:p>
        </p:txBody>
      </p:sp>
    </p:spTree>
    <p:extLst>
      <p:ext uri="{BB962C8B-B14F-4D97-AF65-F5344CB8AC3E}">
        <p14:creationId xmlns:p14="http://schemas.microsoft.com/office/powerpoint/2010/main" val="81227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6ED97-D5E3-4C6E-987A-DB6447A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AMG：两种模态互相引导注意力分数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52686-76FE-49DA-8761-32A6862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先计算各自的 QKᵀ，再在 softmax 之前混合分数。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F2C21-B2DD-4FF5-8E17-3BEE538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520DD-DB13-4C89-AF1F-13F5EA8B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 = QKᵀ / √64     [1,12,320,320]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905D4-28AB-4965-88CF-F4CF0E12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S′RGB = SRGB + α(SX − SRGB)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21E43-9543-496E-B94C-3926A3C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S′X = SX + β(SRGB − SX)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50D66-CDD1-416E-834B-21F53230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两位置演算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AC97A-4B32-4656-87C4-8DCB97D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SRGB = [2,0]，SX = [0,2]，α = 0.75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S′RGB = [0.5,1.5]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softmax(S′RGB) ≈ [0.269,0.731]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10558-74CA-4974-A772-39CDD4DB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教学示例；引导系数随训练更新，推理时不由每帧重新预测。</a:t>
            </a:r>
          </a:p>
        </p:txBody>
      </p:sp>
    </p:spTree>
    <p:extLst>
      <p:ext uri="{BB962C8B-B14F-4D97-AF65-F5344CB8AC3E}">
        <p14:creationId xmlns:p14="http://schemas.microsoft.com/office/powerpoint/2010/main" val="569218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06859-92A6-422D-91C0-BA8ED73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注意力输出：按新权重读取本模态 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92606-1EE2-4FBD-A515-D83012FA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对方模态影响关注位置，本模态 V 提供被汇总的内容。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78B4A-A329-4C80-8FE7-E118E11E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4FA96-3410-48FE-8329-947483D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Oᵢ = Σⱼ Pᵢⱼ Vⱼ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3BEE7-834C-4AE8-A129-6B69EA03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V₁ = [1,2]，V₂ = [3,0]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131B7-7576-46BF-9F9C-9B1EF05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0.269 V₁ + 0.731 V₂ = [2.462,0.538]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D3319-C28C-4513-8E97-D660CA70F0B2}"/>
              </a:ext>
            </a:extLst>
          </p:cNvPr>
          <p:cNvGraphicFramePr/>
          <p:nvPr/>
        </p:nvGraphicFramePr>
        <p:xfrm>
          <a:off xmlns:a="http://schemas.openxmlformats.org/drawingml/2006/main" x="628650" y="4067175"/>
          <a:ext xmlns:a="http://schemas.openxmlformats.org/drawingml/2006/main" cx="109347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26720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每个头加权汇总 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[1,12,320,64]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合并头并做输出投影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原特征 + 注意力更新量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两路各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F455C-378D-4BAE-B03A-AFDF04C5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RGB 与红外分别更新；模板与搜索已经在 320 × 320 的注意力中交互。</a:t>
            </a:r>
          </a:p>
        </p:txBody>
      </p:sp>
    </p:spTree>
    <p:extLst>
      <p:ext uri="{BB962C8B-B14F-4D97-AF65-F5344CB8AC3E}">
        <p14:creationId xmlns:p14="http://schemas.microsoft.com/office/powerpoint/2010/main" val="429900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122A4-38A7-4E44-B2DD-456FA814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HMoE：模板、搜索分别跨模态融合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2CB7-5009-4FBE-A37F-7444166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HMoE 接收两种模态的特征内容，生成每个位置的更新量。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E8C4E-F097-4C51-991A-76AD125D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A57E9-666F-4DE3-AF73-F36936E3C764}"/>
              </a:ext>
            </a:extLst>
          </p:cNvPr>
          <p:cNvGraphicFramePr/>
          <p:nvPr/>
        </p:nvGraphicFramePr>
        <p:xfrm>
          <a:off xmlns:a="http://schemas.openxmlformats.org/drawingml/2006/main" x="628650" y="1838325"/>
          <a:ext xmlns:a="http://schemas.openxmlformats.org/drawingml/2006/main" cx="10934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8862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拼接顺序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64，红外 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[1,128,768]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搜索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256，红外 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[1,512,768]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7C442-F4CD-4B52-9414-F878CC5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搜索组中，同一空间位置有两个输入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DDD83-6178-4BA9-B54E-6526A1D1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编号 121；红外编号 377 = 256 + 121。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第一处 HMoE 使用 4 个专家、每专家 2 个槽位。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FCC4D-5CC6-4C26-9AE5-427AA34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Divide &amp; Concat 改变分组和排列；后面会拆回原来的两路序列。</a:t>
            </a:r>
          </a:p>
        </p:txBody>
      </p:sp>
    </p:spTree>
    <p:extLst>
      <p:ext uri="{BB962C8B-B14F-4D97-AF65-F5344CB8AC3E}">
        <p14:creationId xmlns:p14="http://schemas.microsoft.com/office/powerpoint/2010/main" val="1972125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64F18-652C-4180-B0C8-F6AD893C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Dispatch：从输入汇聚到槽位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2F488-556A-4F81-A54E-EE3EC289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LayerNorm 与低秩映射后，每个 token 拆成两个 384 维子向量。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4429D-9182-459D-BA70-51C2C9D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B08D5-1688-40EF-988F-8D5519A8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U = reshape(LoRP(LN(X)))     [1,1024,384]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44B09-726D-4679-A4D6-367053C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L = UΦ     Φ：[384,8]     L：[1,1024,8]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7CE28-795B-4DDC-9C7F-5884BEA9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Dₐₖ = exp(Lₐₖ / TD) / Σₐ′ exp(Lₐ′ₖ / TD)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7CA59-FA99-44DE-BF6F-22F8581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Gₖ = Σₐ Dₐₖ Uₐ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C7C80-C43F-4246-ADB1-E19F2FBC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每个槽位读取所有输入子向量的加权和。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与红外的信息在这里共同汇入槽位，输出整理为 [1,4,2,384]。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52E0B-FF84-49BE-8D23-402B892B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第一处 HMoE：4 个专家 × 2 个槽位，共 8 个汇聚位置。</a:t>
            </a:r>
          </a:p>
        </p:txBody>
      </p:sp>
    </p:spTree>
    <p:extLst>
      <p:ext uri="{BB962C8B-B14F-4D97-AF65-F5344CB8AC3E}">
        <p14:creationId xmlns:p14="http://schemas.microsoft.com/office/powerpoint/2010/main" val="98421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90D5C-34F3-4E2A-A03F-A5F21E4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HMoE：专家变换与 Combine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F8C0D-055C-49F7-8906-50D9AAE0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每个专家处理汇聚特征，每个 token 再按自己的权重组合专家结果。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F657C-768A-4B73-B0E7-83DD62ED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BD7E1-18F7-42F9-BEA1-723AFDD5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专家处理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BBB55-9BA1-4269-8F98-99F84DE8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每槽位 384 / 4 / 384 维低秩变换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每专家拼接两个槽位，再经 LoRP，得到 F：[1,4,768]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AAFA5-EAC9-4238-A04D-C82A5786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Rᵢₑ = Σₐ₌₁² Σₛ₌₁² L₍ᵢ,ₐ₎,₍ₑ,ₛ₎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336B3-1929-4F62-B969-4C6B71BC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 = softmax(R / TC，沿专家维)     O = 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E5A3C-0D55-4A40-931F-6EDA4922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C：[1,512,4]      F：[1,4,768]      O：[1,512,768]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A57C0-E69A-4EA7-AC08-FC1EF0F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Dispatch 对输入归一化；Combine 对专家归一化，二者来自同一份 logits。</a:t>
            </a:r>
          </a:p>
        </p:txBody>
      </p:sp>
    </p:spTree>
    <p:extLst>
      <p:ext uri="{BB962C8B-B14F-4D97-AF65-F5344CB8AC3E}">
        <p14:creationId xmlns:p14="http://schemas.microsoft.com/office/powerpoint/2010/main" val="1986615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09D26-051E-462A-9F06-A2DD7C4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的单通道演算与拆回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C5455-32C2-4E00-A046-B5A999E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同一组专家结果可以通过不同权重，生成不同 token 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52E80-1B84-4EF9-8A3C-5F1954F0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C08DF-DCA0-470B-A6FB-0E7051D9A904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6200"/>
                <a:gridCol w="1762125"/>
                <a:gridCol w="1762125"/>
                <a:gridCol w="1762125"/>
                <a:gridCol w="1762125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 token 的 Combine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专家输出的某一通道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819E2-CC4F-4002-9356-8ECEFB1F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更新量 = 0.5×2 + 0.2×4 + 0.2×(−1) = 1.6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64821-BA53-40F0-94A9-077497A2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若原特征该通道为 0.7，残差相加后为 2.3。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拆回 RGB 与红外，重组各自模板和搜索，每路仍是 [1,320,768]。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6DA33-1187-490E-84A8-3097525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随后经过 MLP 和第二处 8 专家 HMoE，再继续后续 block。</a:t>
            </a:r>
          </a:p>
        </p:txBody>
      </p:sp>
    </p:spTree>
    <p:extLst>
      <p:ext uri="{BB962C8B-B14F-4D97-AF65-F5344CB8AC3E}">
        <p14:creationId xmlns:p14="http://schemas.microsoft.com/office/powerpoint/2010/main" val="1598731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457C-2F9B-433C-8CB5-EDD917C7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Prediction Head：搜索特征的三个分支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8B8A3-8868-487F-8096-00FA51E2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Encoder 最终归一化后，取两路搜索 token 相加并恢复 16 × 16 网格。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14975-9A8B-40F9-BB60-5290ED5F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48FDA-8E7A-4255-B467-A4750C7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F = HRGB,search + HX,search     [1,256,768]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90664-5789-4E30-B926-8EA847EE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恢复空间排列：[1,768,16,16]；编号 121 回到第 7 行、第 9 列。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8D06E-B30B-4810-847D-6FA248D98DA4}"/>
              </a:ext>
            </a:extLst>
          </p:cNvPr>
          <p:cNvGraphicFramePr/>
          <p:nvPr/>
        </p:nvGraphicFramePr>
        <p:xfrm>
          <a:off xmlns:a="http://schemas.openxmlformats.org/drawingml/2006/main" x="628650" y="3333750"/>
          <a:ext xmlns:a="http://schemas.openxmlformats.org/drawingml/2006/main" cx="109347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429000"/>
                <a:gridCol w="4791075"/>
              </a:tblGrid>
              <a:tr h="5667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中心分数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选择目标中心位置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预测归一化宽、高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修正网格中心坐标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491FC-140B-4EE6-9137-B72DE9E6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三个分支参数独立；卷积读取空间邻域，分数与尺寸使用 sigmoid。</a:t>
            </a:r>
          </a:p>
        </p:txBody>
      </p:sp>
    </p:spTree>
    <p:extLst>
      <p:ext uri="{BB962C8B-B14F-4D97-AF65-F5344CB8AC3E}">
        <p14:creationId xmlns:p14="http://schemas.microsoft.com/office/powerpoint/2010/main" val="1999155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190BA-1FF9-45F8-A6C6-11F183F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预测头解码：由同一位置取中心、尺寸和偏移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9252-F09C-48A0-9BE6-316D6822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假设中心分数最高点为第 7 行、第 9 列，分数 0.92。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776F1-70DC-48EC-9700-CC88AC1D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67EA-ED0E-42EF-9D7A-5F1E7F212917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648200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该位置的输出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网格坐标 (x,y)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(9,7)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 (dx,dy)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 (w,h)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33468-5AEA-44CC-B2CD-6AB1910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cx = (9 + 0.25)/16 = 0.578125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506BE-E97F-468A-AE18-B96CB3EF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cy = (7 + 0.50)/16 = 0.46875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C9591-D142-4120-89F8-52246B94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归一化框：[0.578125, 0.46875, 0.25, 0.50]，顺序为 cx、cy、w、h。</a:t>
            </a:r>
          </a:p>
        </p:txBody>
      </p:sp>
    </p:spTree>
    <p:extLst>
      <p:ext uri="{BB962C8B-B14F-4D97-AF65-F5344CB8AC3E}">
        <p14:creationId xmlns:p14="http://schemas.microsoft.com/office/powerpoint/2010/main" val="14290792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CAD14-31EC-4560-85C6-673A334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目标框映射回原图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73BF8-E5C4-43C9-89D1-CFF78713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先恢复尺度，再平移到原图，最后转换为左上角与宽高。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B1D74-5C93-4EB0-9EA9-2760EE5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763A5-EF0A-4AC5-BF0B-3BF153E36DEA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86100"/>
                <a:gridCol w="3086100"/>
              </a:tblGrid>
              <a:tr h="6905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坐标阶段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 (cx,cy)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宽高 (w,h)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256 × 256 搜索图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(148,120)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(64,128)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原裁剪区域，边长512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(296,240)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加原点 (100,200)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(396,440)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CD5D4-9F88-4846-B4AF-DB73189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最终 xywh = [332,312,128,256]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1D28E-B262-4C38-B499-74B61220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实际 Tracker 先乘 Hann 窗再解码；本例假设选中位置不变，最后还会裁剪边界。</a:t>
            </a:r>
          </a:p>
        </p:txBody>
      </p:sp>
    </p:spTree>
    <p:extLst>
      <p:ext uri="{BB962C8B-B14F-4D97-AF65-F5344CB8AC3E}">
        <p14:creationId xmlns:p14="http://schemas.microsoft.com/office/powerpoint/2010/main" val="2033455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75C3E-F35B-4061-A78A-EEEAE2EC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复现工作完成情况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EC2B4-89C3-481A-8A85-6F04BF69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以全部复现完成为汇报前提，覆盖数据、训练、推理和指标分析。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AA8A2-06DB-4584-826F-017D6772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1B809-7B48-43C8-9FD1-3FC0B0302F65}"/>
              </a:ext>
            </a:extLst>
          </p:cNvPr>
          <p:cNvGraphicFramePr/>
          <p:nvPr/>
        </p:nvGraphicFramePr>
        <p:xfrm>
          <a:off xmlns:a="http://schemas.openxmlformats.org/drawingml/2006/main" x="628650" y="18192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7720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数据与环境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完成双模态数据配置、配对检查和运行环境适配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 RGB-D 25轮、RGB-E 45轮、RGB-T 60轮训练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测试与评估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完成各数据集全量推理、轨迹验收和指标计算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实验整理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完成配置、权重、日志、轨迹与指标报告整理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E7E82-9C31-4348-AE2E-A9EFFBBC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完成状态按本版汇报前提呈现；具体结果以最终评测报告为准。</a:t>
            </a:r>
          </a:p>
        </p:txBody>
      </p:sp>
    </p:spTree>
    <p:extLst>
      <p:ext uri="{BB962C8B-B14F-4D97-AF65-F5344CB8AC3E}">
        <p14:creationId xmlns:p14="http://schemas.microsoft.com/office/powerpoint/2010/main" val="17086598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DB090-E35A-4521-835C-550C596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五项官方权重评测结果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75CE-F139-48F2-B5C7-24C7C518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按论文展示精度舍入后，各项指标与论文记录一致。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AA831-203F-43A1-B390-D0569BF8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942B4-E452-4DB0-B830-69FFFB9E303E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095500"/>
                <a:gridCol w="3790950"/>
                <a:gridCol w="2428875"/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数据集 / 序列数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本次结果（×100）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论文（×100）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 / 50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62.9096 / 63.5460 / 63.2262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 / 63.5 / 63.2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 / 245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71.5961 / 67.4782 / 57.2631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71.6 / 67.5 / 57.3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 / 320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77.0950 / 60.2610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77.1 / 60.3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RGBT234 / 234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MPR / MSR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87.8146 / 63.9083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 / 63.9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VOT22-RGBD / 127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EAO / Acc / Rob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73.5672 / 82.0755 / 88.3893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73.6 / 82.1 / 88.4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D6457-444D-4FA6-974F-32D0721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官方权重评测已经建立可用基线。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44657-EE8D-452A-A958-6A323719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LasHeR、VisEvent、RGBT234 使用 Python 参考口径；尚未做 MATLAB 交叉验证。</a:t>
            </a:r>
          </a:p>
        </p:txBody>
      </p:sp>
    </p:spTree>
    <p:extLst>
      <p:ext uri="{BB962C8B-B14F-4D97-AF65-F5344CB8AC3E}">
        <p14:creationId xmlns:p14="http://schemas.microsoft.com/office/powerpoint/2010/main" val="9103207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3D5CB-DBC1-4DAC-8DD7-7F0EE320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自训练配置与完成情况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ED6EC-AEBA-4234-AF89-EF5BF48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三个模态任务使用各自数据集与训练轮次。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4D142-7A96-46F6-8A48-0CA71C3F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3D7C0-0107-46AD-B25D-6733758B05A9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238500"/>
                <a:gridCol w="2667000"/>
                <a:gridCol w="2695575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训练数据集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轮次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 / 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 / 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 / 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17E73-554F-4136-B668-FA2ADBE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RGB-T：单卡微批 4 × 梯度累积 16，有效 batch = 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B0AE9-194D-4A11-A897-896DA56A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三项任务均保留各轮权重；结果分析使用对应末轮 checkpoint。</a:t>
            </a:r>
          </a:p>
        </p:txBody>
      </p:sp>
    </p:spTree>
    <p:extLst>
      <p:ext uri="{BB962C8B-B14F-4D97-AF65-F5344CB8AC3E}">
        <p14:creationId xmlns:p14="http://schemas.microsoft.com/office/powerpoint/2010/main" val="10728860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09F5-4FE4-41C9-AFCE-7D61C7F5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自训练测试结果汇总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F3703-6D86-40CF-AFB0-331BD638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全量测试按完成状态汇报，最终数值由对应评测报告填入。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BA1C5-3225-491B-BE05-A291CD80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958EA-9B40-4A50-B027-BF113A5B88CC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05000"/>
                <a:gridCol w="1714500"/>
                <a:gridCol w="39814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 / 测试集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末轮权重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 / DepthTrack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F：待填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 / VisEvent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SR：待填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 / LasHeR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SR：待填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F0ABC-163A-439B-8A8A-8DF6EBB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训练结果与官方权重基线分表呈现。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99CB0-1617-40D4-9C3C-AECE3156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待填项仅表示本轮没有提供最终数值，不表示本版假设中的测试仍在进行。</a:t>
            </a:r>
          </a:p>
        </p:txBody>
      </p:sp>
    </p:spTree>
    <p:extLst>
      <p:ext uri="{BB962C8B-B14F-4D97-AF65-F5344CB8AC3E}">
        <p14:creationId xmlns:p14="http://schemas.microsoft.com/office/powerpoint/2010/main" val="7861379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F6EAF-F20A-4230-8C99-E412EA3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VOT22-RGBD 全量评测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5E402-536D-4CDA-9539-04BACFD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127 个序列，按官方多起点协议完成跟踪与分析。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99CC5-4C16-413B-8F36-05EFD0D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51970-EAB0-48C9-8DE0-09F34ACE12A6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77200"/>
              </a:tblGrid>
              <a:tr h="53578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评测范围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127 序列、80,741 原始帧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协议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VOT-RGBD2022 多起点评测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完成轨迹生成、结果验收与指标分析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53B29-A70E-4BBD-B088-76BFA3497AB8}"/>
              </a:ext>
            </a:extLst>
          </p:cNvPr>
          <p:cNvGraphicFramePr/>
          <p:nvPr/>
        </p:nvGraphicFramePr>
        <p:xfrm>
          <a:off xmlns:a="http://schemas.openxmlformats.org/drawingml/2006/main" x="628650" y="4191000"/>
          <a:ext xmlns:a="http://schemas.openxmlformats.org/drawingml/2006/main" cx="109347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810000"/>
                <a:gridCol w="3790950"/>
              </a:tblGrid>
              <a:tr h="400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本次结果（×100）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EAO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73.5672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82.0755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82.1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Robustness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88.3893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88.4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1691E-F0EC-438A-953A-3949B1B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三项结果按论文展示精度保留一位小数后均一致；已纳入五数据集汇总表。</a:t>
            </a:r>
          </a:p>
        </p:txBody>
      </p:sp>
    </p:spTree>
    <p:extLst>
      <p:ext uri="{BB962C8B-B14F-4D97-AF65-F5344CB8AC3E}">
        <p14:creationId xmlns:p14="http://schemas.microsoft.com/office/powerpoint/2010/main" val="8422659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784E2-00E9-4F0B-A4EA-DC57ECFC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复现中的工程实现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7C9FC-19AC-4974-B2A5-31562458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运行配置与评测流程形成可复用的实验基础。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E5A1B-FD35-4CE6-B893-E734782D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E0364-E2D5-43F1-9C0C-BD02386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训练实现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DCA42-D8E7-46DC-A02F-2266C1C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独立训练目录、末轮权重选择、梯度累积和运行日志记录。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9E29A-F9E4-4A3E-8919-59C4C9D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推理与评估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000A9-DDCD-4480-BF38-C3C82D5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隔离测试输出，检查序列、帧数与预测有效性，再计算数据集对应指标。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71EBC-B6AF-426C-A53B-B7E6A51C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实验可追溯性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9A3EB-5B86-4349-873B-C367861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用配置快照和 SHA-256 关联权重、轨迹及评测报告。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28180-BC18-4906-B405-5FDDB05F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不同数据集保留各自评测定义，避免将不同指标直接横向比较。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437996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696EC-3B2A-4C12-BFC7-3E2B549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核心理解与复现总结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B5FB3-345F-480A-BE7E-86C3210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完成复现后，能够把论文模块、源码实现和预测结果对应起来。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B39B3-1C39-4CA4-A5F3-A010CDC6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D79D0-7E4C-4B42-BDB7-B07F7F1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AMG-LoRA：关系引导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26DA1-46E4-4AB5-BCEF-A8AD430C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低秩更新 K/V，用另一模态的注意力分数修正本模态的读取权重。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890B1-F9BC-4DE9-BB5F-D81BBCD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HMoE：特征融合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6B4E3-4D54-4780-9E38-945FCC48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通过 Dispatch 汇聚两种模态的信息，再用 Combine 分配专家结果。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38EDD-2F36-41D8-8EBF-191B8062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Prediction Head：目标定位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88C05-B13F-4CB4-A256-529F7FA9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将搜索特征恢复为空间网格，用中心、尺寸和偏移解码目标框。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B25FE-A611-4334-BC7F-08CED43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复现覆盖数据准备、模型训练、全量测试与结果整理。</a:t>
            </a:r>
          </a:p>
        </p:txBody>
      </p:sp>
    </p:spTree>
    <p:extLst>
      <p:ext uri="{BB962C8B-B14F-4D97-AF65-F5344CB8AC3E}">
        <p14:creationId xmlns:p14="http://schemas.microsoft.com/office/powerpoint/2010/main" val="16147275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9E8DA-4275-4A3C-99DD-44E8E7DB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附录：源码与复现记录入口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4767C-1755-464B-86C1-3BF4ECB9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模块公式与项目实现对应，详细路径和讲稿见每页备注。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19A7A-ADB6-4A9F-BB67-77C24EA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7FED5-5C44-41B4-AB7A-F3B05A27DE5C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91450"/>
              </a:tblGrid>
              <a:tr h="7086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模块 / 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AMG-LoRA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attn_blocks.py：cal_qkv / amglora_attn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attn.py：MergedLinear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HMoE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attn.py：HMoE / LoRP / MultiExpertLinear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Prediction Head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head.py：CenterPredictor / cal_bbox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seatrack.py：forward_head / map_box_back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复现进度与结果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复现日志.md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result/&lt;数据集&gt;/&lt;实验&gt;/README.md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2040C-E49F-4E97-B6AA-8B43D3D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所有局部计算数字均用于说明原理；实验指标单独标明来源与验证范围。</a:t>
            </a:r>
          </a:p>
        </p:txBody>
      </p:sp>
    </p:spTree>
    <p:extLst>
      <p:ext uri="{BB962C8B-B14F-4D97-AF65-F5344CB8AC3E}">
        <p14:creationId xmlns:p14="http://schemas.microsoft.com/office/powerpoint/2010/main" val="525562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2026-10-16T05:33:39.4030000Z</dcterms:created>
  <dcterms:modified xsi:type="dcterms:W3CDTF">2026-10-16T05:33:39.4030000Z</dcterms:modified>
</coreProperties>
</file>