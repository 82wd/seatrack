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ec5d88d0bc4871" /><Relationship Type="http://schemas.openxmlformats.org/officeDocument/2006/relationships/extended-properties" Target="/docProps/app.xml" Id="Rac5cb7339a544303" /><Relationship Type="http://schemas.openxmlformats.org/officeDocument/2006/relationships/officeDocument" Target="/ppt/presentation.xml" Id="Ra6ed74ccffd84a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78da4d51294cb3"/>
  </p:sldMasterIdLst>
  <p:notesMasterIdLst>
    <p:notesMasterId xmlns:r="http://schemas.openxmlformats.org/officeDocument/2006/relationships" r:id="R786b1037df0d4008"/>
  </p:notesMasterIdLst>
  <p:sldIdLst>
    <p:sldId xmlns:r="http://schemas.openxmlformats.org/officeDocument/2006/relationships" id="256" r:id="R843dc327919d4d3e"/>
    <p:sldId xmlns:r="http://schemas.openxmlformats.org/officeDocument/2006/relationships" id="257" r:id="R24e3b858723a4229"/>
    <p:sldId xmlns:r="http://schemas.openxmlformats.org/officeDocument/2006/relationships" id="258" r:id="Rbfacd0bc260542b9"/>
    <p:sldId xmlns:r="http://schemas.openxmlformats.org/officeDocument/2006/relationships" id="259" r:id="R8029c7462f904719"/>
    <p:sldId xmlns:r="http://schemas.openxmlformats.org/officeDocument/2006/relationships" id="260" r:id="Rf88a1ef6146a4356"/>
    <p:sldId xmlns:r="http://schemas.openxmlformats.org/officeDocument/2006/relationships" id="261" r:id="R89ed46254c2f4ae5"/>
    <p:sldId xmlns:r="http://schemas.openxmlformats.org/officeDocument/2006/relationships" id="262" r:id="R6ac8d496bad544db"/>
    <p:sldId xmlns:r="http://schemas.openxmlformats.org/officeDocument/2006/relationships" id="263" r:id="R542529ce4e4744fb"/>
    <p:sldId xmlns:r="http://schemas.openxmlformats.org/officeDocument/2006/relationships" id="264" r:id="R5de209810f944ae7"/>
    <p:sldId xmlns:r="http://schemas.openxmlformats.org/officeDocument/2006/relationships" id="265" r:id="Rd771a9d139b64a0c"/>
    <p:sldId xmlns:r="http://schemas.openxmlformats.org/officeDocument/2006/relationships" id="266" r:id="R63b96e1b12e1418d"/>
    <p:sldId xmlns:r="http://schemas.openxmlformats.org/officeDocument/2006/relationships" id="267" r:id="R90b89b5ba26743da"/>
    <p:sldId xmlns:r="http://schemas.openxmlformats.org/officeDocument/2006/relationships" id="268" r:id="R7fc77c4948fe47ed"/>
    <p:sldId xmlns:r="http://schemas.openxmlformats.org/officeDocument/2006/relationships" id="269" r:id="R1cef2255d7cb4be2"/>
    <p:sldId xmlns:r="http://schemas.openxmlformats.org/officeDocument/2006/relationships" id="270" r:id="R5d7ebde9379b47d2"/>
    <p:sldId xmlns:r="http://schemas.openxmlformats.org/officeDocument/2006/relationships" id="271" r:id="R7d91cc0a7bd3455f"/>
    <p:sldId xmlns:r="http://schemas.openxmlformats.org/officeDocument/2006/relationships" id="272" r:id="Ra895c70d109443dc"/>
    <p:sldId xmlns:r="http://schemas.openxmlformats.org/officeDocument/2006/relationships" id="273" r:id="R59d0d95d7e8944cc"/>
    <p:sldId xmlns:r="http://schemas.openxmlformats.org/officeDocument/2006/relationships" id="274" r:id="R6a602bbb29b743af"/>
    <p:sldId xmlns:r="http://schemas.openxmlformats.org/officeDocument/2006/relationships" id="275" r:id="Rd56bbe27d01648b6"/>
    <p:sldId xmlns:r="http://schemas.openxmlformats.org/officeDocument/2006/relationships" id="276" r:id="R8c2a568604f24d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401f9d234b4a7e" /><Relationship Type="http://schemas.openxmlformats.org/officeDocument/2006/relationships/slideMaster" Target="/ppt/slideMasters/slideMaster1.xml" Id="R0178da4d51294cb3" /><Relationship Type="http://schemas.openxmlformats.org/officeDocument/2006/relationships/notesMaster" Target="/ppt/notesMasters/notesMaster1.xml" Id="R786b1037df0d4008" /><Relationship Type="http://schemas.openxmlformats.org/officeDocument/2006/relationships/presProps" Target="/ppt/presProps.xml" Id="R8dfebd388b434df8" /><Relationship Type="http://schemas.openxmlformats.org/officeDocument/2006/relationships/tableStyles" Target="/ppt/tableStyles.xml" Id="R015910b9c8764662" /><Relationship Type="http://schemas.openxmlformats.org/officeDocument/2006/relationships/slide" Target="/ppt/slides/slide1.xml" Id="R843dc327919d4d3e" /><Relationship Type="http://schemas.openxmlformats.org/officeDocument/2006/relationships/slide" Target="/ppt/slides/slide2.xml" Id="R24e3b858723a4229" /><Relationship Type="http://schemas.openxmlformats.org/officeDocument/2006/relationships/slide" Target="/ppt/slides/slide3.xml" Id="Rbfacd0bc260542b9" /><Relationship Type="http://schemas.openxmlformats.org/officeDocument/2006/relationships/slide" Target="/ppt/slides/slide4.xml" Id="R8029c7462f904719" /><Relationship Type="http://schemas.openxmlformats.org/officeDocument/2006/relationships/slide" Target="/ppt/slides/slide5.xml" Id="Rf88a1ef6146a4356" /><Relationship Type="http://schemas.openxmlformats.org/officeDocument/2006/relationships/slide" Target="/ppt/slides/slide6.xml" Id="R89ed46254c2f4ae5" /><Relationship Type="http://schemas.openxmlformats.org/officeDocument/2006/relationships/slide" Target="/ppt/slides/slide7.xml" Id="R6ac8d496bad544db" /><Relationship Type="http://schemas.openxmlformats.org/officeDocument/2006/relationships/slide" Target="/ppt/slides/slide8.xml" Id="R542529ce4e4744fb" /><Relationship Type="http://schemas.openxmlformats.org/officeDocument/2006/relationships/slide" Target="/ppt/slides/slide9.xml" Id="R5de209810f944ae7" /><Relationship Type="http://schemas.openxmlformats.org/officeDocument/2006/relationships/slide" Target="/ppt/slides/slide10.xml" Id="Rd771a9d139b64a0c" /><Relationship Type="http://schemas.openxmlformats.org/officeDocument/2006/relationships/slide" Target="/ppt/slides/slide11.xml" Id="R63b96e1b12e1418d" /><Relationship Type="http://schemas.openxmlformats.org/officeDocument/2006/relationships/slide" Target="/ppt/slides/slide12.xml" Id="R90b89b5ba26743da" /><Relationship Type="http://schemas.openxmlformats.org/officeDocument/2006/relationships/slide" Target="/ppt/slides/slide13.xml" Id="R7fc77c4948fe47ed" /><Relationship Type="http://schemas.openxmlformats.org/officeDocument/2006/relationships/slide" Target="/ppt/slides/slide14.xml" Id="R1cef2255d7cb4be2" /><Relationship Type="http://schemas.openxmlformats.org/officeDocument/2006/relationships/slide" Target="/ppt/slides/slide15.xml" Id="R5d7ebde9379b47d2" /><Relationship Type="http://schemas.openxmlformats.org/officeDocument/2006/relationships/slide" Target="/ppt/slides/slide16.xml" Id="R7d91cc0a7bd3455f" /><Relationship Type="http://schemas.openxmlformats.org/officeDocument/2006/relationships/slide" Target="/ppt/slides/slide17.xml" Id="Ra895c70d109443dc" /><Relationship Type="http://schemas.openxmlformats.org/officeDocument/2006/relationships/slide" Target="/ppt/slides/slide18.xml" Id="R59d0d95d7e8944cc" /><Relationship Type="http://schemas.openxmlformats.org/officeDocument/2006/relationships/slide" Target="/ppt/slides/slide19.xml" Id="R6a602bbb29b743af" /><Relationship Type="http://schemas.openxmlformats.org/officeDocument/2006/relationships/slide" Target="/ppt/slides/slide20.xml" Id="Rd56bbe27d01648b6" /><Relationship Type="http://schemas.openxmlformats.org/officeDocument/2006/relationships/slide" Target="/ppt/slides/slide21.xml" Id="R8c2a568604f24d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c1864d760f4a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5ee8d04bf941c6" /><Relationship Type="http://schemas.openxmlformats.org/officeDocument/2006/relationships/notesMaster" Target="/ppt/notesMasters/notesMaster1.xml" Id="Rf6f13b690b2643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89117237c24bdd" /><Relationship Type="http://schemas.openxmlformats.org/officeDocument/2006/relationships/notesMaster" Target="/ppt/notesMasters/notesMaster1.xml" Id="R1aae7081d8b544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f832a58181475d" /><Relationship Type="http://schemas.openxmlformats.org/officeDocument/2006/relationships/notesMaster" Target="/ppt/notesMasters/notesMaster1.xml" Id="R958ae916e3bc48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e39a3a18d54c77" /><Relationship Type="http://schemas.openxmlformats.org/officeDocument/2006/relationships/notesMaster" Target="/ppt/notesMasters/notesMaster1.xml" Id="R995e6ed3fbf648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d04a952e664608" /><Relationship Type="http://schemas.openxmlformats.org/officeDocument/2006/relationships/notesMaster" Target="/ppt/notesMasters/notesMaster1.xml" Id="R2e6fb3ba329e41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3fa438640c4b07" /><Relationship Type="http://schemas.openxmlformats.org/officeDocument/2006/relationships/notesMaster" Target="/ppt/notesMasters/notesMaster1.xml" Id="Rded5004429494a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fdd097e1604a5e" /><Relationship Type="http://schemas.openxmlformats.org/officeDocument/2006/relationships/notesMaster" Target="/ppt/notesMasters/notesMaster1.xml" Id="Rfef0c91a4d1f40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d900a0f38448bb" /><Relationship Type="http://schemas.openxmlformats.org/officeDocument/2006/relationships/notesMaster" Target="/ppt/notesMasters/notesMaster1.xml" Id="R7f4959363892459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28e3ee3cb494602" /><Relationship Type="http://schemas.openxmlformats.org/officeDocument/2006/relationships/notesMaster" Target="/ppt/notesMasters/notesMaster1.xml" Id="R7c55a8e808e1419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f2881102122475c" /><Relationship Type="http://schemas.openxmlformats.org/officeDocument/2006/relationships/notesMaster" Target="/ppt/notesMasters/notesMaster1.xml" Id="Re952eb57a3c4406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240712490dd408e" /><Relationship Type="http://schemas.openxmlformats.org/officeDocument/2006/relationships/notesMaster" Target="/ppt/notesMasters/notesMaster1.xml" Id="Re32f6eae1693406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a772c84a31b44fe" /><Relationship Type="http://schemas.openxmlformats.org/officeDocument/2006/relationships/notesMaster" Target="/ppt/notesMasters/notesMaster1.xml" Id="R36c035f8a6194f6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bee8fa32f37444d" /><Relationship Type="http://schemas.openxmlformats.org/officeDocument/2006/relationships/notesMaster" Target="/ppt/notesMasters/notesMaster1.xml" Id="R7c653381bdc5428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50fddf533c942f3" /><Relationship Type="http://schemas.openxmlformats.org/officeDocument/2006/relationships/notesMaster" Target="/ppt/notesMasters/notesMaster1.xml" Id="R7c70c3a39b9d400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3134dae44354890" /><Relationship Type="http://schemas.openxmlformats.org/officeDocument/2006/relationships/notesMaster" Target="/ppt/notesMasters/notesMaster1.xml" Id="Raf5707dc0ce54d6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366098081b54176" /><Relationship Type="http://schemas.openxmlformats.org/officeDocument/2006/relationships/notesMaster" Target="/ppt/notesMasters/notesMaster1.xml" Id="R0dc82957b3fd4fe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3e01d461e954e71" /><Relationship Type="http://schemas.openxmlformats.org/officeDocument/2006/relationships/notesMaster" Target="/ppt/notesMasters/notesMaster1.xml" Id="R9845f92cf22447a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913e63eb9e94561" /><Relationship Type="http://schemas.openxmlformats.org/officeDocument/2006/relationships/notesMaster" Target="/ppt/notesMasters/notesMaster1.xml" Id="Rcd95b8a61e7649b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887e169a290413d" /><Relationship Type="http://schemas.openxmlformats.org/officeDocument/2006/relationships/notesMaster" Target="/ppt/notesMasters/notesMaster1.xml" Id="R2c2db3006bde4ba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a0f027d2d534106" /><Relationship Type="http://schemas.openxmlformats.org/officeDocument/2006/relationships/notesMaster" Target="/ppt/notesMasters/notesMaster1.xml" Id="R56b9934fa60e435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a9f544bc0a34f20" /><Relationship Type="http://schemas.openxmlformats.org/officeDocument/2006/relationships/notesMaster" Target="/ppt/notesMasters/notesMaster1.xml" Id="R78f1c155a9ca46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汇报分为方法理解和复现进度两部分。以一个RGB与热红外样本说明数据在AMG-LoRA、HMoE和预测头中的流动。计算数值用于教学，实验数值来自仓库记录。进度证据最近更新为2026年10月14日，没有在制作时连接服务器查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/Users/lzy/Desktop/GitHub/seatrack/code.md</a:t>
            </a:r>
          </a:p>
          <a:p xmlns:a="http://schemas.openxmlformats.org/drawingml/2006/main">
            <a:r>
              <a:t>/Users/lzy/Desktop/GitHub/seatrack/复现日志.md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图为仓库提供的论文框架图。默认骨干12层，零起始索引1、3、5、7、9、11使用AMG-LoRA和两处HMoE。每层两模态共享该层参数，层与层之间参数独立。Prediction Head位于Encoder之后。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/Users/lzy/Desktop/GitHub/seatrack/SEATrack-main/assets/Framework.png</a:t>
            </a:r>
          </a:p>
          <a:p xmlns:a="http://schemas.openxmlformats.org/drawingml/2006/main">
            <a:r>
              <a:t>/Users/lzy/Desktop/GitHub/seatrack/SEATrack-main/lib/models/seatrack/vit_ci.py</a:t>
            </a:r>
          </a:p>
          <a:p xmlns:a="http://schemas.openxmlformats.org/drawingml/2006/main">
            <a:r>
              <a:t>/Users/lzy/Desktop/GitHub/seatrack/SEATrack-main/lib/models/layers/attn_blocks.py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来自目标参考区域，搜索来自当前帧目标附近。输入尺寸和token数量来自默认配置。搜索网格第7行第9列按零起始编号为121，在模板搜索拼接后的序列中编号185。这个位置只是教学跟踪位置，并不预先认定其为真实目标中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/Users/lzy/Desktop/GitHub/seatrack/SEATrack-main/lib/models/seatrack/vit_ci.py</a:t>
            </a:r>
          </a:p>
          <a:p xmlns:a="http://schemas.openxmlformats.org/drawingml/2006/main">
            <a:r>
              <a:t>/Users/lzy/Desktop/GitHub/seatrack/SEATrack-main/lib/models/layers/patch_embed.py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先执行库中的LayerNorm。公式使用行向量右乘写法，实际PyTorch权重存储为out,in。省略训练dropout。r=8，K和V拥有各自的A和B。源码定义了alpha/r但注释了实际乘法。推理时可以合并LoRA增量，等价于这里的展开表达。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/Users/lzy/Desktop/GitHub/seatrack/SEATrack-main/lib/models/layers/attn.py</a:t>
            </a:r>
          </a:p>
          <a:p xmlns:a="http://schemas.openxmlformats.org/drawingml/2006/main">
            <a:r>
              <a:t>/Users/lzy/Desktop/GitHub/seatrack/SEATrack-main/lib/models/layers/attn_blocks.py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S是softmax前的logits，P是softmax后的权重。两路都引用对方原始logits。α对应dte2r_scaling，β对应r2dte_scaling，都是每增强层一个方向一个可学习标量，初始为1，无sigmoid约束。下方仅用两个key演示，实际每行有320个key。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/Users/lzy/Desktop/GitHub/seatrack/SEATrack-main/lib/models/layers/attn_blocks.py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以下两个通道仅是教学缩小例子。真实计算每个头64维，12个头合并后做输出投影，返回分支更新量。xrgb_attn变量名虽然包含attn，但这里已经是token特征。残差保留LayerNorm之前的原输入，推理DropPath关闭。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/Users/lzy/Desktop/GitHub/seatrack/SEATrack-main/lib/models/layers/attn_blocks.py</a:t>
            </a:r>
          </a:p>
          <a:p xmlns:a="http://schemas.openxmlformats.org/drawingml/2006/main">
            <a:r>
              <a:t>/Users/lzy/Desktop/GitHub/seatrack/SEATrack-main/lib/models/layers/attn.py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第一处attn_moe有4个专家，每个专家2个槽位，低秩维4。模板和搜索调用同一个模块、共享参数，mode参数当前未参与内部计算。跟踪位置在搜索融合输入中的RGB编号为121，红外编号为377。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/Users/lzy/Desktop/GitHub/seatrack/SEATrack-main/lib/models/layers/attn_blocks.py</a:t>
            </a:r>
          </a:p>
          <a:p xmlns:a="http://schemas.openxmlformats.org/drawingml/2006/main">
            <a:r>
              <a:t>/Users/lzy/Desktop/GitHub/seatrack/SEATrack-main/lib/models/layers/attn.py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LoRP的实际式为(LN(X)A+a)B+b，768到4到768，默认无GELU。输入搜索组N=512，拆分后U为1024×384。Phi为384×8。Dispatch沿输入子token维softmax，每个槽位的输入权重和为1。温度TD为可学习参数，初值1，未约束为正。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/Users/lzy/Desktop/GitHub/seatrack/SEATrack-main/lib/models/layers/attn.py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专家计算Ye,s=(Ge,s Ae+ae)Be+be，384到4到384，当前无GELU。不同专家参数独立，同一专家两个槽位共享参数。拼接两槽位为768维后经过linear2的LoRP。Combine来自同一原始logits，对每个token的2个子向量与每专家2个槽位的4项求和，再沿专家维softmax。所有专家参与，无top-k筛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/Users/lzy/Desktop/GitHub/seatrack/SEATrack-main/lib/models/layers/attn.py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示例权重和值均非实测。RGB搜索token121的某通道更新为1.6，原值0.7时残差结果2.3。模板输入也独立完成相同过程，之后按各模态模板搜索顺序重组。随后MLP和第二处HMoE继续更新，第二处8专家，参数独立。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/Users/lzy/Desktop/GitHub/seatrack/SEATrack-main/lib/models/layers/attn_blocks.py</a:t>
            </a:r>
          </a:p>
          <a:p xmlns:a="http://schemas.openxmlformats.org/drawingml/2006/main">
            <a:r>
              <a:t>/Users/lzy/Desktop/GitHub/seatrack/SEATrack-main/lib/models/layers/attn.py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CenterPredictor在本地项目中定义，内部卷积BN/ReLU来自PyTorch。最终只保留搜索，模板信息已融入搜索。每个分支四层3×3 Conv-BN-ReLU，通道768、256、128、64、32，最后1×1卷积。中心和尺寸sigmoid后clamp，偏移保持实数。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/Users/lzy/Desktop/GitHub/seatrack/SEATrack-main/lib/models/seatrack/vit_ci.py</a:t>
            </a:r>
          </a:p>
          <a:p xmlns:a="http://schemas.openxmlformats.org/drawingml/2006/main">
            <a:r>
              <a:t>/Users/lzy/Desktop/GitHub/seatrack/SEATrack-main/lib/models/seatrack/seatrack.py</a:t>
            </a:r>
          </a:p>
          <a:p xmlns:a="http://schemas.openxmlformats.org/drawingml/2006/main">
            <a:r>
              <a:t>/Users/lzy/Desktop/GitHub/seatrack/SEATrack-main/lib/models/layers/head.py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教学示例：idx=121，offset=[0.25,0.50]，size=[0.25,0.50]。先从中心图找最大位置，再在同一个idx读取size和offset，不能三个分支各取最大。尺寸已相对整个搜索图归一化，不再除16。输出顺序cxcywh。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/Users/lzy/Desktop/GitHub/seatrack/SEATrack-main/lib/models/layers/head.py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搜索图尺寸256，原裁剪边长512，resize_factor=0.5。假设代码使用的裁剪原点为(100,200)。Tracker先用Hann窗口调整中心分数并再次解码，此例假设赢家仍为7,9。归一化框乘512得到局部中心296,240、宽高128,256。加原点得到396,440，再减半宽高得到332,312。最终clip_box需结合原图尺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/Users/lzy/Desktop/GitHub/seatrack/SEATrack-main/lib/test/tracker/seatrack.py</a:t>
            </a:r>
          </a:p>
          <a:p xmlns:a="http://schemas.openxmlformats.org/drawingml/2006/main">
            <a:r>
              <a:t>/Users/lzy/Desktop/GitHub/seatrack/SEATrack-main/lib/models/layers/head.py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本页依据本地复现日志最新记录至2026-10-14。result/README.md对VOT22仍是旧状态，因此采用较新的详细日志。制作于2026-10-16，不宣称实时状态。三个训练任务均报告完成，但验证证据强度不同。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/Users/lzy/Desktop/GitHub/seatrack/复现日志.md</a:t>
            </a:r>
          </a:p>
          <a:p xmlns:a="http://schemas.openxmlformats.org/drawingml/2006/main">
            <a:r>
              <a:t>/Users/lzy/Desktop/GitHub/seatrack/result/README.md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表中数值为百分数。不同数据集指标定义不同，不做横向排名。DepthTrack使用VOT工具分析。其余三项为Python参考口径，未执行MATLAB交叉验证。VisEvent保留person1标注时间对应风险。LasHeR与RGBT234完整产物尚待本地归档。官方权重复测与独立训练复现是不同验证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/Users/lzy/Desktop/GitHub/seatrack/result/depthtrack/2026-10-11_official-rgbd/README.md</a:t>
            </a:r>
          </a:p>
          <a:p xmlns:a="http://schemas.openxmlformats.org/drawingml/2006/main">
            <a:r>
              <a:t>/Users/lzy/Desktop/GitHub/seatrack/result/lasher/2026-10-11_official-rgbt/README.md</a:t>
            </a:r>
          </a:p>
          <a:p xmlns:a="http://schemas.openxmlformats.org/drawingml/2006/main">
            <a:r>
              <a:t>/Users/lzy/Desktop/GitHub/seatrack/result/visevent/2026-10-13_official-rgbe/README.md</a:t>
            </a:r>
          </a:p>
          <a:p xmlns:a="http://schemas.openxmlformats.org/drawingml/2006/main">
            <a:r>
              <a:t>/Users/lzy/Desktop/GitHub/seatrack/result/rgbt234/2026-10-13_official-rgbt/README.md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GB-D第5到25轮234个张量变化，优化器步数4685到23425。RGB-E45轮，早末轮228个张量变化。RGB-T完成状态来自用户回传面板，本次没有独立读取completion.json或逐个检查checkpoint内容。RGB-T微批4累积16保持有效batch64，但不能宣称与原双卡训练数值完全等价。训练IoU和loss不能当作测试集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/Users/lzy/Desktop/GitHub/seatrack/复现日志.md</a:t>
            </a:r>
          </a:p>
          <a:p xmlns:a="http://schemas.openxmlformats.org/drawingml/2006/main">
            <a:r>
              <a:t>/Users/lzy/Desktop/GitHub/seatrack/scripts/remaining_training/README.md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GB-D已有PR62.9096/RE63.5460/F63.2262，与当前官方路径模型参数相同，来源疑点未解决。RGB-E自训练320条跟踪完成，PR20=77.09504076887207和SR_AUC=60.2609637859865，逐条轨迹相同、不同0、缺失0；当前官方路径和自训练末轮net参数逐张量相同，文件不是samefile。不能据此推断无训练更新，也不能据此证明独立训练精确复现。用户已要求暂缓核查并优先进行RGB-T测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/Users/lzy/Desktop/GitHub/seatrack/复现日志.md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在本地与服务器均通过127序列、80741原始帧结构验收。单序列adapter01_indoor_1成功后启动全量。最新面板23/127序列，356/1765起点，对应283047/1327004重复跟踪帧。多起点协议使跟踪帧数大于原始数据帧数。该快照不是耗时比例。需要全量退出码、轨迹完整性和官方分析指标才能确认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/Users/lzy/Desktop/GitHub/seatrack/复现日志.md</a:t>
            </a:r>
          </a:p>
          <a:p xmlns:a="http://schemas.openxmlformats.org/drawingml/2006/main">
            <a:r>
              <a:t>/Users/lzy/Desktop/GitHub/seatrack/scripts/remaining_official/vot22_progress.py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讲解与复现工作结合：加入路径隔离、参数初始化校验、独立结果目录、锁、轨迹检查和指标脚本。RGBT234修复换行兼容只处理内存文本，不修改原始标注。VisEvent特殊person1序列原始332帧与官方标注306帧，按官方参考程序取预测前缀，并保留风险。不同数据集指标口径遵循各自参考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/Users/lzy/Desktop/GitHub/seatrack/复现日志.md</a:t>
            </a:r>
          </a:p>
          <a:p xmlns:a="http://schemas.openxmlformats.org/drawingml/2006/main">
            <a:r>
              <a:t>/Users/lzy/Desktop/GitHub/seatrack/scripts/lasher_metrics.md</a:t>
            </a:r>
          </a:p>
          <a:p xmlns:a="http://schemas.openxmlformats.org/drawingml/2006/main">
            <a:r>
              <a:t>/Users/lzy/Desktop/GitHub/seatrack/result/visevent/2026-10-13_official-rgbe/README.md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待执行计划，不代表已经运行。遵循用户此前暂缓RGB-E来源排查、先继续RGB-T评测的顺序。RGB-T入口已写好但尚无服务器运行完成证据。VOT22只读确认现有任务，避免重复启动。来源核查需要比对原始下载、官方目标、自训练末轮SHA，再审查初始化和恢复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/Users/lzy/Desktop/GitHub/seatrack/复现日志.md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块来自项目本地实现，不宣称所有算法皆由作者原创。cal_qkv/amglora_attn、HMoE/LoRP/MultiExpertLinear、CenterPredictor均为项目定义；nn.Conv2d、LayerNorm、softmax、矩阵运算由库提供。参考本地code.md、复现日志、各结果README及核心源码。未在线访问论文网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/Users/lzy/Desktop/GitHub/seatrack/SEATrack-main/lib/models/layers/attn_blocks.py</a:t>
            </a:r>
          </a:p>
          <a:p xmlns:a="http://schemas.openxmlformats.org/drawingml/2006/main">
            <a:r>
              <a:t>/Users/lzy/Desktop/GitHub/seatrack/SEATrack-main/lib/models/layers/attn.py</a:t>
            </a:r>
          </a:p>
          <a:p xmlns:a="http://schemas.openxmlformats.org/drawingml/2006/main">
            <a:r>
              <a:t>/Users/lzy/Desktop/GitHub/seatrack/SEATrack-main/lib/models/layers/head.py</a:t>
            </a:r>
          </a:p>
          <a:p xmlns:a="http://schemas.openxmlformats.org/drawingml/2006/main">
            <a:r>
              <a:t>/Users/lzy/Desktop/GitHub/seatrack/SEATrack-main/lib/models/seatrack/vit_ci.py</a:t>
            </a:r>
          </a:p>
          <a:p xmlns:a="http://schemas.openxmlformats.org/drawingml/2006/main">
            <a:r>
              <a:t>/Users/lzy/Desktop/GitHub/seatrack/SEATrack-main/lib/models/seatrack/seatrack.py</a:t>
            </a:r>
          </a:p>
          <a:p xmlns:a="http://schemas.openxmlformats.org/drawingml/2006/main">
            <a:r>
              <a:t>/Users/lzy/Desktop/GitHub/seatrack/SEATrack-main/lib/test/tracker/seatrack.py</a:t>
            </a:r>
          </a:p>
          <a:p xmlns:a="http://schemas.openxmlformats.org/drawingml/2006/main">
            <a:r>
              <a:t>/Users/lzy/Desktop/GitHub/seatrack/复现日志.md</a:t>
            </a:r>
          </a:p>
          <a:p xmlns:a="http://schemas.openxmlformats.org/drawingml/2006/main">
            <a:r>
              <a:t>/Users/lzy/Desktop/GitHub/seatrack/code.md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e8f9f3dffd498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a193988a6b40f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88bea7a8aa48a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f80105ca894b3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ec763795e84e6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2882ce42f941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BD01C90-2146-473B-99BD-E6B9F06D93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45D0491-4356-4291-B8A8-79166499395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E581D0F-77CE-43C9-BD94-4924739229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C00E65E-9314-4892-94B0-6149D24A9A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4901EE1-8C78-48A7-AC0E-C19B045620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D327D23-0B5A-4C72-A7EE-9D63957ABB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BD3DF2D-B7C0-4A3A-B36E-6C6AAA66C0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072F014-CD66-4E64-BE0B-CCBDBFF23EF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1ADFD6-EEA5-4ED2-8F86-9A904F41D9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AB52530-4E0E-4B40-A4C5-E5C55EE312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dfdb4684b14cc0" /><Relationship Type="http://schemas.openxmlformats.org/officeDocument/2006/relationships/slideLayout" Target="/ppt/slideLayouts/slideLayout1.xml" Id="R3d6ba9106fec4db0" /><Relationship Type="http://schemas.openxmlformats.org/officeDocument/2006/relationships/slideLayout" Target="/ppt/slideLayouts/slideLayout2.xml" Id="Rd1720ecd0f944f2d" /><Relationship Type="http://schemas.openxmlformats.org/officeDocument/2006/relationships/slideLayout" Target="/ppt/slideLayouts/slideLayout3.xml" Id="Rdd4c25877eb34ea7" /><Relationship Type="http://schemas.openxmlformats.org/officeDocument/2006/relationships/slideLayout" Target="/ppt/slideLayouts/slideLayout4.xml" Id="R7790c1ead3714e84" /><Relationship Type="http://schemas.openxmlformats.org/officeDocument/2006/relationships/slideLayout" Target="/ppt/slideLayouts/slideLayout5.xml" Id="R6e3fa1f9ea4e41a8" /><Relationship Type="http://schemas.openxmlformats.org/officeDocument/2006/relationships/slideLayout" Target="/ppt/slideLayouts/slideLayout6.xml" Id="R8f903d3bfa3342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6ba9106fec4db0"/>
    <p:sldLayoutId xmlns:r="http://schemas.openxmlformats.org/officeDocument/2006/relationships" id="2147483650" r:id="Rd1720ecd0f944f2d"/>
    <p:sldLayoutId xmlns:r="http://schemas.openxmlformats.org/officeDocument/2006/relationships" id="2147483651" r:id="Rdd4c25877eb34ea7"/>
    <p:sldLayoutId xmlns:r="http://schemas.openxmlformats.org/officeDocument/2006/relationships" id="2147483652" r:id="R7790c1ead3714e84"/>
    <p:sldLayoutId xmlns:r="http://schemas.openxmlformats.org/officeDocument/2006/relationships" id="2147483653" r:id="R6e3fa1f9ea4e41a8"/>
    <p:sldLayoutId xmlns:r="http://schemas.openxmlformats.org/officeDocument/2006/relationships" id="2147483654" r:id="R8f903d3bfa3342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2965dbe43c478a" /><Relationship Type="http://schemas.openxmlformats.org/officeDocument/2006/relationships/notesSlide" Target="/ppt/notesSlides/notesSlide1.xml" Id="Raf508b0371554d4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0b2a97e896413e" /><Relationship Type="http://schemas.openxmlformats.org/officeDocument/2006/relationships/image" Target="/ppt/media/image.png" Id="R73462d2546224660" /><Relationship Type="http://schemas.openxmlformats.org/officeDocument/2006/relationships/notesSlide" Target="/ppt/notesSlides/notesSlide2.xml" Id="Rd9ae0a5fae5b4b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3d7cbfa8c544a7" /><Relationship Type="http://schemas.openxmlformats.org/officeDocument/2006/relationships/notesSlide" Target="/ppt/notesSlides/notesSlide3.xml" Id="Rea5121cdb7a742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ec6aee8a894fe4" /><Relationship Type="http://schemas.openxmlformats.org/officeDocument/2006/relationships/notesSlide" Target="/ppt/notesSlides/notesSlide4.xml" Id="Rac9f9950f77146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a5f5bf4b55467e" /><Relationship Type="http://schemas.openxmlformats.org/officeDocument/2006/relationships/notesSlide" Target="/ppt/notesSlides/notesSlide5.xml" Id="R21fa115cef9444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3c615e11144bb9" /><Relationship Type="http://schemas.openxmlformats.org/officeDocument/2006/relationships/notesSlide" Target="/ppt/notesSlides/notesSlide6.xml" Id="R919f2082eae34b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958ab174aa4f45" /><Relationship Type="http://schemas.openxmlformats.org/officeDocument/2006/relationships/notesSlide" Target="/ppt/notesSlides/notesSlide7.xml" Id="R9dc0bd6358a647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4af02858cd410a" /><Relationship Type="http://schemas.openxmlformats.org/officeDocument/2006/relationships/notesSlide" Target="/ppt/notesSlides/notesSlide8.xml" Id="Rde80623488894b4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ec6917cfd84db4" /><Relationship Type="http://schemas.openxmlformats.org/officeDocument/2006/relationships/notesSlide" Target="/ppt/notesSlides/notesSlide9.xml" Id="Rd73cb449392945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2771eb9f7f4d92" /><Relationship Type="http://schemas.openxmlformats.org/officeDocument/2006/relationships/notesSlide" Target="/ppt/notesSlides/notesSlide10.xml" Id="Rb035dba1eb0e4be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8a543287044f00" /><Relationship Type="http://schemas.openxmlformats.org/officeDocument/2006/relationships/notesSlide" Target="/ppt/notesSlides/notesSlide11.xml" Id="Rfd872e44efd043b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6eede853434764" /><Relationship Type="http://schemas.openxmlformats.org/officeDocument/2006/relationships/notesSlide" Target="/ppt/notesSlides/notesSlide12.xml" Id="R7aa0adaf7e71415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220b1c8a0749e0" /><Relationship Type="http://schemas.openxmlformats.org/officeDocument/2006/relationships/notesSlide" Target="/ppt/notesSlides/notesSlide13.xml" Id="Rb7b7f26a8e08400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85e4238bf742cc" /><Relationship Type="http://schemas.openxmlformats.org/officeDocument/2006/relationships/notesSlide" Target="/ppt/notesSlides/notesSlide14.xml" Id="R3e18083d0e4d427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40b0b36fd34d82" /><Relationship Type="http://schemas.openxmlformats.org/officeDocument/2006/relationships/notesSlide" Target="/ppt/notesSlides/notesSlide15.xml" Id="Rf6caa3fa499f42a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1a15aec09f4e30" /><Relationship Type="http://schemas.openxmlformats.org/officeDocument/2006/relationships/notesSlide" Target="/ppt/notesSlides/notesSlide16.xml" Id="R8708e4a0e16244f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3844bc4c084ac3" /><Relationship Type="http://schemas.openxmlformats.org/officeDocument/2006/relationships/notesSlide" Target="/ppt/notesSlides/notesSlide17.xml" Id="Rb5d874d1aeb54ca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2ea8ebdda1405b" /><Relationship Type="http://schemas.openxmlformats.org/officeDocument/2006/relationships/notesSlide" Target="/ppt/notesSlides/notesSlide18.xml" Id="R59bdd444936c453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2e8f3300df4aa0" /><Relationship Type="http://schemas.openxmlformats.org/officeDocument/2006/relationships/notesSlide" Target="/ppt/notesSlides/notesSlide19.xml" Id="R14dce4c8fc6c431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b8e5694bd34bfa" /><Relationship Type="http://schemas.openxmlformats.org/officeDocument/2006/relationships/notesSlide" Target="/ppt/notesSlides/notesSlide20.xml" Id="R312fa71a10fa454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ff8ee6697842ed" /><Relationship Type="http://schemas.openxmlformats.org/officeDocument/2006/relationships/notesSlide" Target="/ppt/notesSlides/notesSlide21.xml" Id="Rdce1be899c624f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7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124A99-AF24-41A7-AB56-23CB2E5F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SEATrack 核心机制与复现进展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B65B73-C5A3-4FE7-8FC7-1C1153C8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D34B89-5129-456A-98BA-465D44B1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84D3D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84D3D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84D3D4"/>
                </a:solidFill>
                <a:latin typeface="Hiragino Sans GB"/>
                <a:ea typeface="Hiragino Sans GB"/>
                <a:cs typeface="Hiragino Sans GB"/>
              </a:rPr>
              <a:t>AMG-LoRA · HMoE · Prediction Head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3E3462-70E4-446C-9F88-BDEB2E43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一个样本的计算过程</a:t>
            </a:r>
          </a:p>
          <a:p xmlns:a="http://schemas.openxmlformats.org/drawingml/2006/main">
            <a:pPr>
              <a:defRPr sz="255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官方权重评测、自训练与待完成验证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2D6BE3-B0E9-4D9A-9786-B9DB36DD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53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BBCAD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BBCAD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BBCAD7"/>
                </a:solidFill>
                <a:latin typeface="Hiragino Sans GB"/>
                <a:ea typeface="Hiragino Sans GB"/>
                <a:cs typeface="Hiragino Sans GB"/>
              </a:rPr>
              <a:t>汇报整理：2026年10月16日</a:t>
            </a:r>
          </a:p>
          <a:p xmlns:a="http://schemas.openxmlformats.org/drawingml/2006/main">
            <a:pPr>
              <a:defRPr sz="1725" b="0">
                <a:solidFill>
                  <a:srgbClr val="BBCAD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BBCAD7"/>
                </a:solidFill>
                <a:latin typeface="Hiragino Sans GB"/>
                <a:ea typeface="Hiragino Sans GB"/>
                <a:cs typeface="Hiragino Sans GB"/>
              </a:rPr>
              <a:t>进度依据：截至10月14日的本地记录</a:t>
            </a:r>
          </a:p>
        </p:txBody>
      </p:sp>
    </p:spTree>
    <p:extLst>
      <p:ext uri="{BB962C8B-B14F-4D97-AF65-F5344CB8AC3E}">
        <p14:creationId xmlns:p14="http://schemas.microsoft.com/office/powerpoint/2010/main" val="961475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BFB6DC-42FF-4ADC-B0B4-4BD942BC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模型结构与本次汇报范围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48D425-85D6-4FE9-BFBD-6B080F32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两路特征经过共享骨干，增强层加入注意力引导与跨模态融合。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F45F46-FA25-4BE1-B279-B5DDC00C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670DF7-477D-4C4F-BCC8-280E0885F5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462d2546224660"/>
          <a:stretch xmlns:a="http://schemas.openxmlformats.org/drawingml/2006/main"/>
        </p:blipFill>
        <p:spPr>
          <a:xfrm xmlns:a="http://schemas.openxmlformats.org/drawingml/2006/main">
            <a:off x="2346989" y="1733550"/>
            <a:ext cx="7498023" cy="4000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283444-F194-486E-9E8A-4042553AE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12 个 block；第 2、4、6、8、10、12 层包含增强模块。</a:t>
            </a:r>
          </a:p>
        </p:txBody>
      </p:sp>
    </p:spTree>
    <p:extLst>
      <p:ext uri="{BB962C8B-B14F-4D97-AF65-F5344CB8AC3E}">
        <p14:creationId xmlns:p14="http://schemas.microsoft.com/office/powerpoint/2010/main" val="18855502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4DC10A-DCEE-4197-95BC-16765530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贯穿全程的单样本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240EB2-0D64-453B-9904-F2E9E886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B = 1，RGB 与热红外各有一张模板和一张搜索图。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391914-3877-47DF-B518-1D554848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77E6D6-7FEB-417A-AEF1-2B3E0BCBF001}"/>
              </a:ext>
            </a:extLst>
          </p:cNvPr>
          <p:cNvGraphicFramePr/>
          <p:nvPr/>
        </p:nvGraphicFramePr>
        <p:xfrm>
          <a:off xmlns:a="http://schemas.openxmlformats.org/drawingml/2006/main" x="628650" y="1828800"/>
          <a:ext xmlns:a="http://schemas.openxmlformats.org/drawingml/2006/main" cx="109347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3429000"/>
                <a:gridCol w="3600450"/>
              </a:tblGrid>
              <a:tr h="6667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输入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图像尺寸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Token 形状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RGB / 红外模板，各一张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[1,3,128,128]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各 [1,64,768]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RGB / 红外搜索，各一张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[1,3,256,256]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各 [1,256,768]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每路模板与搜索拼接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64 + 256 个位置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各 [1,320,768]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9D7FD3-F3D6-4E1F-B96E-835E30BA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rPr>
              <a:t>持续跟踪：搜索网格 (行7，列9)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1439C8-9660-4466-93DD-C28DB92E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搜索编号 121 = 7 × 16 + 9；完整序列编号 185 = 64 + 121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A07DF8-C7E5-40B2-BA2D-3D4B05AE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尺寸来自源码；后续局部数字均为教学示例，非 checkpoint 实测输出。</a:t>
            </a:r>
          </a:p>
        </p:txBody>
      </p:sp>
    </p:spTree>
    <p:extLst>
      <p:ext uri="{BB962C8B-B14F-4D97-AF65-F5344CB8AC3E}">
        <p14:creationId xmlns:p14="http://schemas.microsoft.com/office/powerpoint/2010/main" val="21030377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B7E65D-EBA1-4E09-AA8B-B9AFD58E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AMG-LoRA：Q、K、V 的生成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25C52E-9993-49B9-8937-AC92403E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自定义 MergedLinear 组织联合投影，仅对 K、V 增加低秩更新。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05E583-DA02-4656-BFFD-9DC210E8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18D118-9073-43FD-9B3B-F5CA34CE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57375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Q = H Wq + bq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5920DB-7956-4A91-982E-2DE660E1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K = H Wk + bk + H Ak Bk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450C04-2396-4674-BCF8-3932314B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V = H Wv + bv + H Av Bv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B39317-9ED8-40D3-AC73-C8696D74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3387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rPr>
              <a:t>A：768 × 8      B：8 × 768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59DB69-374B-44A4-B2EF-DF397372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每个投影新增 12,288 个参数；Q 不加 LoRA。</a:t>
            </a:r>
          </a:p>
          <a:p xmlns:a="http://schemas.openxmlformats.org/drawingml/2006/main">
            <a:pPr>
              <a:defRPr sz="187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联合输出 [1,320,2304]，拆成 12 个头后 Q/K/V 各为 [1,12,320,64]。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86D75D-B839-4BEA-A2FC-70BBD9B3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调用路径：cal_qkv() 内部直接调用 self.attn.qkv()。</a:t>
            </a:r>
          </a:p>
        </p:txBody>
      </p:sp>
    </p:spTree>
    <p:extLst>
      <p:ext uri="{BB962C8B-B14F-4D97-AF65-F5344CB8AC3E}">
        <p14:creationId xmlns:p14="http://schemas.microsoft.com/office/powerpoint/2010/main" val="3243292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9D813C-70CF-4CA9-89EF-5039BD40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AMG：两种模态互相引导注意力分数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58F412-2D20-4420-8B4A-9CF2C950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先计算各自的 QKᵀ，再在 softmax 之前混合分数。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57F7B6-2BB5-4FEC-A54F-6A0AE784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DFF72A-19BD-411E-8E67-64992933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S = QKᵀ / √64     [1,12,320,320]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6DCDD6-630E-4E2D-9CB0-25981112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S′RGB = SRGB + α(SX − SRGB)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BB8555-9896-4CA2-8A0C-DFAB84DD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90875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S′X = SX + β(SRGB − SX)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19A32B-2C7A-4A24-8ABB-BB62C2FF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rPr>
              <a:t>两位置演算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1417BF-053A-4FB5-A530-FB3E7304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SRGB = [2,0]，SX = [0,2]，α = 0.75</a:t>
            </a:r>
          </a:p>
          <a:p xmlns:a="http://schemas.openxmlformats.org/drawingml/2006/main">
            <a:pPr>
              <a:defRPr sz="202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S′RGB = [0.5,1.5]</a:t>
            </a:r>
          </a:p>
          <a:p xmlns:a="http://schemas.openxmlformats.org/drawingml/2006/main">
            <a:pPr>
              <a:defRPr sz="202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softmax(S′RGB) ≈ [0.269,0.731]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1FDBC5-8A08-4387-BA53-D7C1C1DB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教学示例；引导系数随训练更新，推理时不由每帧重新预测。</a:t>
            </a:r>
          </a:p>
        </p:txBody>
      </p:sp>
    </p:spTree>
    <p:extLst>
      <p:ext uri="{BB962C8B-B14F-4D97-AF65-F5344CB8AC3E}">
        <p14:creationId xmlns:p14="http://schemas.microsoft.com/office/powerpoint/2010/main" val="16650189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E0CA4A-A487-4951-89B1-C46C7150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注意力输出：按新权重读取本模态 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4F1D11-92CC-4A97-A618-2A479F9E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对方模态影响关注位置，本模态 V 提供被汇总的内容。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4F323E-5351-4ADE-85B3-036DAAB4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E414A4-F2AB-4238-9E55-EB2BA85D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28800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Oᵢ = Σⱼ Pᵢⱼ Vⱼ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6BFA01-832C-4A3F-B6E1-EAA3303B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V₁ = [1,2]，V₂ = [3,0]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2D609F-CC74-4CFE-B49B-06821669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0.269 V₁ + 0.731 V₂ = [2.462,0.538]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0B880E-670B-4972-A351-F969E5B31C2D}"/>
              </a:ext>
            </a:extLst>
          </p:cNvPr>
          <p:cNvGraphicFramePr/>
          <p:nvPr/>
        </p:nvGraphicFramePr>
        <p:xfrm>
          <a:off xmlns:a="http://schemas.openxmlformats.org/drawingml/2006/main" x="628650" y="4067175"/>
          <a:ext xmlns:a="http://schemas.openxmlformats.org/drawingml/2006/main" cx="10934700" cy="1676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667500"/>
                <a:gridCol w="4267200"/>
              </a:tblGrid>
              <a:tr h="4191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阶段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形状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每个头加权汇总 V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[1,12,320,64]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合并头并做输出投影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[1,320,768]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原特征 + 注意力更新量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两路各 [1,320,768]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35973E-06FA-4563-8D20-47AFCCDF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RGB 与红外分别更新；模板与搜索已经在 320 × 320 的注意力中交互。</a:t>
            </a:r>
          </a:p>
        </p:txBody>
      </p:sp>
    </p:spTree>
    <p:extLst>
      <p:ext uri="{BB962C8B-B14F-4D97-AF65-F5344CB8AC3E}">
        <p14:creationId xmlns:p14="http://schemas.microsoft.com/office/powerpoint/2010/main" val="13953452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D735CF-7824-4CA6-AEF2-25881738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HMoE：模板、搜索分别跨模态融合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BBE145-D221-4711-8870-AC0DECA7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自定义 HMoE 接收两种模态的特征内容，生成每个位置的更新量。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A07F5D-6D4D-4864-A147-15E98669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25E841-6229-4816-861A-84589F2E6340}"/>
              </a:ext>
            </a:extLst>
          </p:cNvPr>
          <p:cNvGraphicFramePr/>
          <p:nvPr/>
        </p:nvGraphicFramePr>
        <p:xfrm>
          <a:off xmlns:a="http://schemas.openxmlformats.org/drawingml/2006/main" x="628650" y="1838325"/>
          <a:ext xmlns:a="http://schemas.openxmlformats.org/drawingml/2006/main" cx="109347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5048250"/>
                <a:gridCol w="3886200"/>
              </a:tblGrid>
              <a:tr h="7302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分组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拼接顺序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输入形状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模板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RGB 64，红外 64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[1,128,768]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搜索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RGB 256，红外 256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[1,512,768]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5A900D-3CF4-4C8F-BDF5-1A4634E4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29125"/>
            <a:ext cx="1074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rPr>
              <a:t>搜索组中，同一空间位置有两个输入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4D39B2-174F-43CA-8B68-9FA35F78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8632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RGB 编号 121；红外编号 377 = 256 + 121。</a:t>
            </a:r>
          </a:p>
          <a:p xmlns:a="http://schemas.openxmlformats.org/drawingml/2006/main">
            <a: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第一处 HMoE 使用 4 个专家、每专家 2 个槽位。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BEF24C-8F34-4D21-AA98-01CEF40C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Divide &amp; Concat 改变分组和排列；后面会拆回原来的两路序列。</a:t>
            </a:r>
          </a:p>
        </p:txBody>
      </p:sp>
    </p:spTree>
    <p:extLst>
      <p:ext uri="{BB962C8B-B14F-4D97-AF65-F5344CB8AC3E}">
        <p14:creationId xmlns:p14="http://schemas.microsoft.com/office/powerpoint/2010/main" val="1981594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BC1E33-D25F-4AD1-96EE-6FB694FB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HMoE Dispatch：从输入汇聚到槽位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7C7FB9-7316-4A4D-B0CC-2B9C23BD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LayerNorm 与低秩映射后，每个 token 拆成两个 384 维子向量。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00AACD-0C19-47B9-B3FA-F748EFD9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41A1CB-8FCE-41D4-A15A-15E7C4A4F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U = reshape(LoRP(LN(X)))     [1,1024,384]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67A26-2282-43AF-B8CF-35FBA4AA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L = UΦ     Φ：[384,8]     L：[1,1024,8]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ABB6D6-B6E3-4156-A450-065CA33F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28975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Dₐₖ = exp(Lₐₖ / TD) / Σₐ′ exp(Lₐ′ₖ / TD)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096DC1-92D7-4954-91AE-95519CC2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Gₖ = Σₐ Dₐₖ Uₐ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CDA5B9-EDA2-4A14-90D0-C8865A53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每个槽位读取所有输入子向量的加权和。</a:t>
            </a:r>
          </a:p>
          <a:p xmlns:a="http://schemas.openxmlformats.org/drawingml/2006/main">
            <a: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RGB 与红外的信息在这里共同汇入槽位，输出整理为 [1,4,2,384]。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B7D919-4F98-448C-B884-11103F08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第一处 HMoE：4 个专家 × 2 个槽位，共 8 个汇聚位置。</a:t>
            </a:r>
          </a:p>
        </p:txBody>
      </p:sp>
    </p:spTree>
    <p:extLst>
      <p:ext uri="{BB962C8B-B14F-4D97-AF65-F5344CB8AC3E}">
        <p14:creationId xmlns:p14="http://schemas.microsoft.com/office/powerpoint/2010/main" val="9359241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199142-5FF9-4E2B-8A6E-1208A1E1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HMoE：专家变换与 Combine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E39483-2422-4289-93C7-B64C20B7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每个专家处理汇聚特征，每个 token 再按自己的权重组合专家结果。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0C7E02-FF8F-4663-B218-CD509CFE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812745-30E6-4B22-8D71-3D7FA67D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rPr>
              <a:t>专家处理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B4E5BF-EFE2-4BD3-BF7F-E1757749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955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每槽位 384 / 4 / 384 维低秩变换</a:t>
            </a:r>
          </a:p>
          <a:p xmlns:a="http://schemas.openxmlformats.org/drawingml/2006/main">
            <a:pPr>
              <a:defRPr sz="202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每专家拼接两个槽位，再经 LoRP，得到 F：[1,4,768]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24ED4E-FA07-414D-A330-96CEDBFF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Rᵢₑ = Σₐ₌₁² Σₛ₌₁² L₍ᵢ,ₐ₎,₍ₑ,ₛ₎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1DDED0-C8AD-41AA-AC45-52591931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C = softmax(R / TC，沿专家维)     O = CF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8ADC37-2919-40EE-AABB-E881460E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577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rPr>
              <a:t>C：[1,512,4]      F：[1,4,768]      O：[1,512,768]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231480-8034-4B3E-9718-A7E9D0AF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Dispatch 对输入归一化；Combine 对专家归一化，二者来自同一份 logits。</a:t>
            </a:r>
          </a:p>
        </p:txBody>
      </p:sp>
    </p:spTree>
    <p:extLst>
      <p:ext uri="{BB962C8B-B14F-4D97-AF65-F5344CB8AC3E}">
        <p14:creationId xmlns:p14="http://schemas.microsoft.com/office/powerpoint/2010/main" val="13187158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D30F33-98FB-4357-A312-205B9552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HMoE 的单通道演算与拆回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F359E3-E855-4E3F-A5D7-3A27E269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同一组专家结果可以通过不同权重，生成不同 token 的更新量。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222ED0-12A7-4A73-B563-72007BF5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EA84BF-02A3-44D1-8770-E7549150B78D}"/>
              </a:ext>
            </a:extLst>
          </p:cNvPr>
          <p:cNvGraphicFramePr/>
          <p:nvPr/>
        </p:nvGraphicFramePr>
        <p:xfrm>
          <a:off xmlns:a="http://schemas.openxmlformats.org/drawingml/2006/main" x="628650" y="1809750"/>
          <a:ext xmlns:a="http://schemas.openxmlformats.org/drawingml/2006/main" cx="1093470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86200"/>
                <a:gridCol w="1762125"/>
                <a:gridCol w="1762125"/>
                <a:gridCol w="1762125"/>
                <a:gridCol w="1762125"/>
              </a:tblGrid>
              <a:tr h="698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专家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 token 的 Combine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专家输出的某一通道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−1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BA35BC-8C66-4B2E-B433-18A82F1A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更新量 = 0.5×2 + 0.2×4 + 0.2×(−1) = 1.6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D3C40F-B108-4B78-8DA8-C577A482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8157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若原特征该通道为 0.7，残差相加后为 2.3。</a:t>
            </a:r>
          </a:p>
          <a:p xmlns:a="http://schemas.openxmlformats.org/drawingml/2006/main">
            <a:pPr>
              <a:defRPr sz="187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拆回 RGB 与红外，重组各自模板和搜索，每路仍是 [1,320,768]。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3378A7-B134-402A-AB62-11D55A8E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随后经过 MLP 和第二处 8 专家 HMoE，再继续后续 block。</a:t>
            </a:r>
          </a:p>
        </p:txBody>
      </p:sp>
    </p:spTree>
    <p:extLst>
      <p:ext uri="{BB962C8B-B14F-4D97-AF65-F5344CB8AC3E}">
        <p14:creationId xmlns:p14="http://schemas.microsoft.com/office/powerpoint/2010/main" val="16635884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5EDA6A-9FA4-4C24-93D1-7E4BE840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Prediction Head：搜索特征的三个分支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84731C-5B63-4044-80C3-5531411C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Encoder 最终归一化后，取两路搜索 token 相加并恢复 16 × 16 网格。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817411-33C0-49A2-AC58-744C6DEEF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C64F6D-62B7-4F77-BE8F-4DB0B13E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F = HRGB,search + HX,search     [1,256,768]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8C5C02-C22F-431D-B1DA-F6715CCF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恢复空间排列：[1,768,16,16]；编号 121 回到第 7 行、第 9 列。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996F79-08C0-47B0-9DF1-AA6075B465AC}"/>
              </a:ext>
            </a:extLst>
          </p:cNvPr>
          <p:cNvGraphicFramePr/>
          <p:nvPr/>
        </p:nvGraphicFramePr>
        <p:xfrm>
          <a:off xmlns:a="http://schemas.openxmlformats.org/drawingml/2006/main" x="628650" y="3333750"/>
          <a:ext xmlns:a="http://schemas.openxmlformats.org/drawingml/2006/main" cx="10934700" cy="2266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3429000"/>
                <a:gridCol w="4791075"/>
              </a:tblGrid>
              <a:tr h="56673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分支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输出形状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作用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中心分数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[1,1,16,16]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选择目标中心位置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尺寸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[1,2,16,16]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预测归一化宽、高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偏移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[1,2,16,16]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修正网格中心坐标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DCB029-CE3E-446D-929D-50EA0467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三个分支参数独立；卷积读取空间邻域，分数与尺寸使用 sigmoid。</a:t>
            </a:r>
          </a:p>
        </p:txBody>
      </p:sp>
    </p:spTree>
    <p:extLst>
      <p:ext uri="{BB962C8B-B14F-4D97-AF65-F5344CB8AC3E}">
        <p14:creationId xmlns:p14="http://schemas.microsoft.com/office/powerpoint/2010/main" val="14975198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85FDAF-ACA7-4A90-A8C6-848BFF99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预测头解码：由同一位置取中心、尺寸和偏移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6BCF55-2D66-436B-AF5A-90664064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假设中心分数最高点为第 7 行、第 9 列，分数 0.92。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FFBF19-B662-4748-AFA0-9E9AA1D0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12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C36F60-64C9-4EA0-95C0-AEDA33D250A6}"/>
              </a:ext>
            </a:extLst>
          </p:cNvPr>
          <p:cNvGraphicFramePr/>
          <p:nvPr/>
        </p:nvGraphicFramePr>
        <p:xfrm>
          <a:off xmlns:a="http://schemas.openxmlformats.org/drawingml/2006/main" x="628650" y="1790700"/>
          <a:ext xmlns:a="http://schemas.openxmlformats.org/drawingml/2006/main" cx="109347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286500"/>
                <a:gridCol w="4648200"/>
              </a:tblGrid>
              <a:tr h="595313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该位置的输出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数值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网格坐标 (x,y)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(9,7)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偏移 (dx,dy)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(0.25,0.50)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尺寸 (w,h)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(0.25,0.50)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F6268C-5561-4C91-B9CA-69D4E574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29125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cx = (9 + 0.25)/16 = 0.578125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CBAC2A-01F9-4B81-A59A-9A991CF9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cy = (7 + 0.50)/16 = 0.46875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115368-2F36-4FB1-879E-64314EBA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归一化框：[0.578125, 0.46875, 0.25, 0.50]，顺序为 cx、cy、w、h。</a:t>
            </a:r>
          </a:p>
        </p:txBody>
      </p:sp>
    </p:spTree>
    <p:extLst>
      <p:ext uri="{BB962C8B-B14F-4D97-AF65-F5344CB8AC3E}">
        <p14:creationId xmlns:p14="http://schemas.microsoft.com/office/powerpoint/2010/main" val="11423365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62AF15-1466-46B2-9DA7-4BEA0B8E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目标框映射回原图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F95B64-C4D7-492B-B89F-EE23B5BC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先恢复尺度，再平移到原图，最后转换为左上角与宽高。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C7B0E3-6A33-4465-B711-A3B3FED3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13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FB1F18-C028-43C0-81F3-16DB23543614}"/>
              </a:ext>
            </a:extLst>
          </p:cNvPr>
          <p:cNvGraphicFramePr/>
          <p:nvPr/>
        </p:nvGraphicFramePr>
        <p:xfrm>
          <a:off xmlns:a="http://schemas.openxmlformats.org/drawingml/2006/main" x="628650" y="1809750"/>
          <a:ext xmlns:a="http://schemas.openxmlformats.org/drawingml/2006/main" cx="109347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3086100"/>
                <a:gridCol w="3086100"/>
              </a:tblGrid>
              <a:tr h="690563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坐标阶段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中心 (cx,cy)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宽高 (w,h)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256 × 256 搜索图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(148,120)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(64,128)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原裁剪区域，边长512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(296,240)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(128,256)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加原点 (100,200)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(396,440)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(128,256)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BA97C7-6EAE-478E-84EE-09A10188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33950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7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最终 xywh = [332,312,128,256]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D2787B-5ADF-440F-94BE-862D1AE7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实际 Tracker 先乘 Hann 窗再解码；本例假设选中位置不变，最后还会裁剪边界。</a:t>
            </a:r>
          </a:p>
        </p:txBody>
      </p:sp>
    </p:spTree>
    <p:extLst>
      <p:ext uri="{BB962C8B-B14F-4D97-AF65-F5344CB8AC3E}">
        <p14:creationId xmlns:p14="http://schemas.microsoft.com/office/powerpoint/2010/main" val="115266680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D07E4D-8AAF-4F2A-9DF1-2733E7AB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论文复现进度总览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0B7ECB-3F21-4CFF-8C1D-E4C724AE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已形成官方权重评测结果，自训练验证仍有未完成事项。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8FFDAE-7DA6-44CA-9097-145198BB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14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FD7C35-4FCE-49EA-919A-DB4351192BC4}"/>
              </a:ext>
            </a:extLst>
          </p:cNvPr>
          <p:cNvGraphicFramePr/>
          <p:nvPr/>
        </p:nvGraphicFramePr>
        <p:xfrm>
          <a:off xmlns:a="http://schemas.openxmlformats.org/drawingml/2006/main" x="628650" y="1819275"/>
          <a:ext xmlns:a="http://schemas.openxmlformats.org/drawingml/2006/main" cx="1093470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600950"/>
              </a:tblGrid>
              <a:tr h="67437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工作项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最新有证据的状态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官方权重评测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DepthTrack、LasHeR、VisEvent、RGBT234 已有指标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三项自训练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RGB-D 25轮、RGB-E 45轮、RGB-T 60轮均报告完成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自训练测试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RGB-D、RGB-E 已有结果；RGB-T 入口已准备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VOT22 官方权重测试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10月14日确认运行，尚无全量完成和最终指标记录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DC79E2-9300-40C0-9FA6-E3BBE888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BA5D2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BA5D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BA5D23"/>
                </a:solidFill>
                <a:latin typeface="Hiragino Sans GB"/>
                <a:ea typeface="Hiragino Sans GB"/>
                <a:cs typeface="Hiragino Sans GB"/>
              </a:rPr>
              <a:t>进度依据截至 2026-10-14；汇报整理于 2026-10-16，未进行实时服务器查询。</a:t>
            </a:r>
          </a:p>
        </p:txBody>
      </p:sp>
    </p:spTree>
    <p:extLst>
      <p:ext uri="{BB962C8B-B14F-4D97-AF65-F5344CB8AC3E}">
        <p14:creationId xmlns:p14="http://schemas.microsoft.com/office/powerpoint/2010/main" val="79637155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A8F4B0-F934-4951-9C63-6C0248DE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四项官方权重评测结果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3BBF06-CBA6-4FAD-8E10-BB348698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按论文展示精度舍入后，各项指标与论文记录一致。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B73298-E80A-447E-AF40-0C78CAD7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15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5E2017-417E-4708-8E36-9F3A2C1884E6}"/>
              </a:ext>
            </a:extLst>
          </p:cNvPr>
          <p:cNvGraphicFramePr/>
          <p:nvPr/>
        </p:nvGraphicFramePr>
        <p:xfrm>
          <a:off xmlns:a="http://schemas.openxmlformats.org/drawingml/2006/main" x="628650" y="1809750"/>
          <a:ext xmlns:a="http://schemas.openxmlformats.org/drawingml/2006/main" cx="109347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2095500"/>
                <a:gridCol w="3790950"/>
                <a:gridCol w="2428875"/>
              </a:tblGrid>
              <a:tr h="6667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数据集 / 序列数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指标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实测（%）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论文（%）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DepthTrack / 50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PR / RE / F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62.9096 / 63.5460 / 63.2262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62.9 / 63.5 / 63.2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LasHeR / 245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PR / NPR / SR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71.5961 / 67.4782 / 57.2631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71.6 / 67.5 / 57.3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VisEvent / 320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PR / SR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77.0950 / 60.2610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77.1 / 60.3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RGBT234 / 234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MPR / MSR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87.8146 / 63.9083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87.8 / 63.9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43EBEA-76F3-462D-BDBC-E72B8594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721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官方权重评测已经建立可用基线。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366BED-DF9A-41C2-A985-09F11340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LasHeR、VisEvent、RGBT234 使用 Python 参考口径；尚未做 MATLAB 交叉验证。</a:t>
            </a:r>
          </a:p>
        </p:txBody>
      </p:sp>
    </p:spTree>
    <p:extLst>
      <p:ext uri="{BB962C8B-B14F-4D97-AF65-F5344CB8AC3E}">
        <p14:creationId xmlns:p14="http://schemas.microsoft.com/office/powerpoint/2010/main" val="54232411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E5EC97-7873-41BB-813F-3A53722F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三项训练均已报告完成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0A1E92-DEBD-4708-9266-2F32B9F4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完成训练与获得独立可信的测试结论，需要分别核验。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F29833-4F87-4F91-94E1-B03566F0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16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40C996-AF4C-4419-8ECF-E3B898DE06CA}"/>
              </a:ext>
            </a:extLst>
          </p:cNvPr>
          <p:cNvGraphicFramePr/>
          <p:nvPr/>
        </p:nvGraphicFramePr>
        <p:xfrm>
          <a:off xmlns:a="http://schemas.openxmlformats.org/drawingml/2006/main" x="628650" y="1809750"/>
          <a:ext xmlns:a="http://schemas.openxmlformats.org/drawingml/2006/main" cx="109347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1714500"/>
                <a:gridCol w="6267450"/>
              </a:tblGrid>
              <a:tr h="714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任务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完成轮次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已有证据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RGB-D / DepthTrack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25 / 25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末轮权重存在；第5至25轮参数与优化器步数变化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RGB-E / VisEvent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45 / 45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45份 checkpoint；早末轮228个张量变化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RGB-T / LasHeR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60 / 60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用户面板报告完成；60份 checkpoint，内容待独立复核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17EF78-F018-43C9-83BD-58CE6DDA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577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rPr>
              <a:t>RGB-T 使用单卡微批 4 × 累积 16，有效 batch = 64。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634109-566C-41EC-94B2-63510778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训练完成状态不等于测试达标；checkpoint 数量不替代逐文件内容验证。</a:t>
            </a:r>
          </a:p>
        </p:txBody>
      </p:sp>
    </p:spTree>
    <p:extLst>
      <p:ext uri="{BB962C8B-B14F-4D97-AF65-F5344CB8AC3E}">
        <p14:creationId xmlns:p14="http://schemas.microsoft.com/office/powerpoint/2010/main" val="119497310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EE7EC4-0E4C-42D1-8005-915586D8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自训练评测与权重来源问题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9667A9-F446-4BFE-9CBC-52BE8254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RGB-D、RGB-E 的测试结果已记录，但独立复现结论仍需来源证据。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0627AE-93C0-4898-8979-3525573A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17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4CF1D2-6CAD-47BD-9F2B-F963A780AB48}"/>
              </a:ext>
            </a:extLst>
          </p:cNvPr>
          <p:cNvGraphicFramePr/>
          <p:nvPr/>
        </p:nvGraphicFramePr>
        <p:xfrm>
          <a:off xmlns:a="http://schemas.openxmlformats.org/drawingml/2006/main" x="628650" y="1762125"/>
          <a:ext xmlns:a="http://schemas.openxmlformats.org/drawingml/2006/main" cx="109347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4572000"/>
                <a:gridCol w="4600575"/>
              </a:tblGrid>
              <a:tr h="86915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任务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评测记录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当前限制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RGB-D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DepthTrack PR / RE / F</a:t>
                      </a:r>
                    </a:p>
                    <a:p>
                      <a:r>
                        <a:rPr sz="180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62.9096 / 63.5460 / 63.2262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与当前官方路径模型参数相同</a:t>
                      </a:r>
                    </a:p>
                    <a:p>
                      <a:r>
                        <a:rPr sz="180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来源尚未厘清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RGB-E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VisEvent PR / SR</a:t>
                      </a:r>
                    </a:p>
                    <a:p>
                      <a:r>
                        <a:rPr sz="180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77.0950 / 60.2610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320条轨迹及模型参数相同</a:t>
                      </a:r>
                    </a:p>
                    <a:p>
                      <a:r>
                        <a:rPr sz="180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来源核查暂缓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RGB-T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末轮 ep0060 测试入口已准备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尚无测试完成或指标回传记录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F463EB-D5ED-42B1-A9BE-9BCA0E73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BA5D2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BA5D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BA5D23"/>
                </a:solidFill>
                <a:latin typeface="Hiragino Sans GB"/>
                <a:ea typeface="Hiragino Sans GB"/>
                <a:cs typeface="Hiragino Sans GB"/>
              </a:rPr>
              <a:t>结论边界：汇总指标一致，尚不足以证明独立训练复现成功。</a:t>
            </a:r>
          </a:p>
        </p:txBody>
      </p:sp>
    </p:spTree>
    <p:extLst>
      <p:ext uri="{BB962C8B-B14F-4D97-AF65-F5344CB8AC3E}">
        <p14:creationId xmlns:p14="http://schemas.microsoft.com/office/powerpoint/2010/main" val="54919061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81ABAF-514E-4577-8B2B-F3537F44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VOT22：最近记录仍处于全量评测阶段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618F87-C0FC-4D83-AD2C-14A24146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以下是 2026年10月14日采样快照，不代表今天的进度。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936867-DA4E-4490-8369-FB9E4204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18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7FAF96-4E6A-4379-9D96-4D0B15EFB29D}"/>
              </a:ext>
            </a:extLst>
          </p:cNvPr>
          <p:cNvGraphicFramePr/>
          <p:nvPr/>
        </p:nvGraphicFramePr>
        <p:xfrm>
          <a:off xmlns:a="http://schemas.openxmlformats.org/drawingml/2006/main" x="628650" y="1809750"/>
          <a:ext xmlns:a="http://schemas.openxmlformats.org/drawingml/2006/main" cx="109347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600950"/>
              </a:tblGrid>
              <a:tr h="571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检查项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记录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数据准备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127 序列、80,741 原始帧，服务器结构验收通过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单序列试跑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adapter01_indoor_1 成功，退出码 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已完成序列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23 / 127，18.11%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已完成起点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356 / 1,765，20.17%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最终指标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尚无记录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0927CA-D6BC-4D6B-A324-2776C16D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BA5D2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BA5D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BA5D23"/>
                </a:solidFill>
                <a:latin typeface="Hiragino Sans GB"/>
                <a:ea typeface="Hiragino Sans GB"/>
                <a:cs typeface="Hiragino Sans GB"/>
              </a:rPr>
              <a:t>待补：最新状态、全量退出码、结果验收和官方指标分析。</a:t>
            </a:r>
          </a:p>
        </p:txBody>
      </p:sp>
    </p:spTree>
    <p:extLst>
      <p:ext uri="{BB962C8B-B14F-4D97-AF65-F5344CB8AC3E}">
        <p14:creationId xmlns:p14="http://schemas.microsoft.com/office/powerpoint/2010/main" val="5346221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2BDDE1-CFD7-444E-9E43-0F0F4BE2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已完成的工程工作与评测边界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4B53CE-DE86-4F43-9619-66E927D7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数据、运行与结果验收已有流程，仍需保留口径和来源限制。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1F30DE-C4F6-4275-866B-EBD82CDC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02BC91-D131-4750-B040-5689EC9C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74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rPr>
              <a:t>训练与推理隔离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A11E6C-6083-4522-AE53-E092DB03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1932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独立训练副本、独立结果目录、显式末轮权重路径，记录 SHA-256。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4CFF0C-2EC4-4181-82D3-1C07004F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1074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rPr>
              <a:t>数据与轨迹验收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FEB82D-EF6C-4A40-BFFE-3DE93729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0450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检查序列清单、帧数、双模态配对、预测有限值和正宽高。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5F5542-8968-4498-8569-55FB7C5B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24375"/>
            <a:ext cx="1074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rPr>
              <a:t>协议差异持续留档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6EEA15-8527-4124-89B8-D5B4B215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815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VisEvent 一条序列标注对应问题保留；三项 Python 指标仍待 MATLAB 对照。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DEC81B-F43A-40A5-9826-0356D496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LasHeR、RGBT234 已有回传摘要，完整报告与轨迹还需归档。</a:t>
            </a:r>
          </a:p>
        </p:txBody>
      </p:sp>
    </p:spTree>
    <p:extLst>
      <p:ext uri="{BB962C8B-B14F-4D97-AF65-F5344CB8AC3E}">
        <p14:creationId xmlns:p14="http://schemas.microsoft.com/office/powerpoint/2010/main" val="129277001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A99BBC-83C8-45D2-B935-0AA0974D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下一步工作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2C0CF7-A835-4291-AA72-8902B93A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先补齐已安排的评测，再按约定恢复权重来源核查。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0D686F-58A8-4EFB-A4DB-A85027B8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20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41A64E-C46B-4F6C-B0A3-14CDEC0ECCFC}"/>
              </a:ext>
            </a:extLst>
          </p:cNvPr>
          <p:cNvGraphicFramePr/>
          <p:nvPr/>
        </p:nvGraphicFramePr>
        <p:xfrm>
          <a:off xmlns:a="http://schemas.openxmlformats.org/drawingml/2006/main" x="628650" y="1809750"/>
          <a:ext xmlns:a="http://schemas.openxmlformats.org/drawingml/2006/main" cx="109347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4191000"/>
                <a:gridCol w="5791200"/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顺序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具体工作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完成证据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RGB-T 末轮 LasHeR 测试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单序列试跑、245序列轨迹验收、PR/NPR/SR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补齐 VOT22 全量评测记录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最新状态、退出码、全起点结果及官方指标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恢复 RGB-D / RGB-E 来源核查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下载源与两套权重 SHA、参数和恢复链路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统一归档与协议对照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配置、日志、指标、轨迹及校验清单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FC6372-9F76-40FA-94D0-6744CFE3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独立复现的最终结论需要训练来源、测试协议和原始结果形成完整证据链。</a:t>
            </a:r>
          </a:p>
        </p:txBody>
      </p:sp>
    </p:spTree>
    <p:extLst>
      <p:ext uri="{BB962C8B-B14F-4D97-AF65-F5344CB8AC3E}">
        <p14:creationId xmlns:p14="http://schemas.microsoft.com/office/powerpoint/2010/main" val="73157447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777C9-32C8-4422-8F36-33D42B09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附录：源码与复现记录入口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839C8-4CC1-4C1B-A6D2-F4B9FD4E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模块公式与项目实现对应，详细路径和讲稿见每页备注。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AAB698-5787-491C-A421-83981972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21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29B7CB-6451-4672-B673-DB1C0649FC5D}"/>
              </a:ext>
            </a:extLst>
          </p:cNvPr>
          <p:cNvGraphicFramePr/>
          <p:nvPr/>
        </p:nvGraphicFramePr>
        <p:xfrm>
          <a:off xmlns:a="http://schemas.openxmlformats.org/drawingml/2006/main" x="628650" y="1809750"/>
          <a:ext xmlns:a="http://schemas.openxmlformats.org/drawingml/2006/main" cx="10934700" cy="3543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791450"/>
              </a:tblGrid>
              <a:tr h="70866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模块 / 记录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入口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AMG-LoRA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attn_blocks.py：cal_qkv / amglora_attn</a:t>
                      </a:r>
                    </a:p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attn.py：MergedLinear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HMoE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attn.py：HMoE / LoRP / MultiExpertLinear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Prediction Head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head.py：CenterPredictor / cal_bbox</a:t>
                      </a:r>
                    </a:p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seatrack.py：forward_head / map_box_back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复现进度与结果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复现日志.md</a:t>
                      </a:r>
                    </a:p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result/&lt;数据集&gt;/&lt;实验&gt;/README.md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41B6BF-0160-4BCE-994B-AED6354F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所有局部计算数字均用于说明原理；实验指标单独标明来源与验证范围。</a:t>
            </a:r>
          </a:p>
        </p:txBody>
      </p:sp>
    </p:spTree>
    <p:extLst>
      <p:ext uri="{BB962C8B-B14F-4D97-AF65-F5344CB8AC3E}">
        <p14:creationId xmlns:p14="http://schemas.microsoft.com/office/powerpoint/2010/main" val="19145807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2026-10-15T19:01:01.5300000Z</dcterms:created>
  <dcterms:modified xsi:type="dcterms:W3CDTF">2026-10-15T19:01:01.5300000Z</dcterms:modified>
</coreProperties>
</file>