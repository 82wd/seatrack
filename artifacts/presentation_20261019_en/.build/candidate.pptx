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349654943144a58" /><Relationship Type="http://schemas.openxmlformats.org/officeDocument/2006/relationships/extended-properties" Target="/docProps/app.xml" Id="R42ce7cf91f034877" /><Relationship Type="http://schemas.openxmlformats.org/officeDocument/2006/relationships/officeDocument" Target="/ppt/presentation.xml" Id="Rf4648667eb094219" /></Relationships>
</file>

<file path=ppt/presentation.xml><?xml version="1.0" encoding="utf-8"?>
<p:presentation xmlns:p="http://schemas.openxmlformats.org/presentationml/2006/main">
  <p:sldMasterIdLst>
    <p:sldMasterId xmlns:r="http://schemas.openxmlformats.org/officeDocument/2006/relationships" id="2147483648" r:id="Rd1a543bcae59401a"/>
  </p:sldMasterIdLst>
  <p:notesMasterIdLst>
    <p:notesMasterId xmlns:r="http://schemas.openxmlformats.org/officeDocument/2006/relationships" r:id="Ra0c9d5dd375d44b9"/>
  </p:notesMasterIdLst>
  <p:sldIdLst>
    <p:sldId xmlns:r="http://schemas.openxmlformats.org/officeDocument/2006/relationships" id="256" r:id="R8a6f162702ad49db"/>
    <p:sldId xmlns:r="http://schemas.openxmlformats.org/officeDocument/2006/relationships" id="257" r:id="Ra1257bc406c542ec"/>
    <p:sldId xmlns:r="http://schemas.openxmlformats.org/officeDocument/2006/relationships" id="258" r:id="R9276bfbd94cc4f30"/>
    <p:sldId xmlns:r="http://schemas.openxmlformats.org/officeDocument/2006/relationships" id="259" r:id="Re0121031d3424375"/>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6bc49baee8be452b" /><Relationship Type="http://schemas.openxmlformats.org/officeDocument/2006/relationships/slideMaster" Target="/ppt/slideMasters/slideMaster1.xml" Id="Rd1a543bcae59401a" /><Relationship Type="http://schemas.openxmlformats.org/officeDocument/2006/relationships/notesMaster" Target="/ppt/notesMasters/notesMaster1.xml" Id="Ra0c9d5dd375d44b9" /><Relationship Type="http://schemas.openxmlformats.org/officeDocument/2006/relationships/presProps" Target="/ppt/presProps.xml" Id="R5e5ea2698de44baf" /><Relationship Type="http://schemas.openxmlformats.org/officeDocument/2006/relationships/viewProps" Target="/ppt/viewProps.xml" Id="R65389bfdd27645d8" /><Relationship Type="http://schemas.openxmlformats.org/officeDocument/2006/relationships/tableStyles" Target="/ppt/tableStyles.xml" Id="R6e3023f0b34c4470" /><Relationship Type="http://schemas.openxmlformats.org/officeDocument/2006/relationships/slide" Target="/ppt/slides/slide1.xml" Id="R8a6f162702ad49db" /><Relationship Type="http://schemas.openxmlformats.org/officeDocument/2006/relationships/slide" Target="/ppt/slides/slide2.xml" Id="Ra1257bc406c542ec" /><Relationship Type="http://schemas.openxmlformats.org/officeDocument/2006/relationships/slide" Target="/ppt/slides/slide3.xml" Id="R9276bfbd94cc4f30" /><Relationship Type="http://schemas.openxmlformats.org/officeDocument/2006/relationships/slide" Target="/ppt/slides/slide4.xml" Id="Re0121031d342437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d11dd47b47a48c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63a54bfd2c94c40" /><Relationship Type="http://schemas.openxmlformats.org/officeDocument/2006/relationships/notesMaster" Target="/ppt/notesMasters/notesMaster1.xml" Id="R1039c6d582ec44c1" /></Relationships>
</file>

<file path=ppt/notesSlides/_rels/notesSlide2.xml.rels>&#65279;<?xml version="1.0" encoding="utf-8"?><Relationships xmlns="http://schemas.openxmlformats.org/package/2006/relationships"><Relationship Type="http://schemas.openxmlformats.org/officeDocument/2006/relationships/slide" Target="/ppt/slides/slide2.xml" Id="Re4e8fdb128654234" /><Relationship Type="http://schemas.openxmlformats.org/officeDocument/2006/relationships/notesMaster" Target="/ppt/notesMasters/notesMaster1.xml" Id="R6dd82d3f2c604f8f" /></Relationships>
</file>

<file path=ppt/notesSlides/_rels/notesSlide3.xml.rels>&#65279;<?xml version="1.0" encoding="utf-8"?><Relationships xmlns="http://schemas.openxmlformats.org/package/2006/relationships"><Relationship Type="http://schemas.openxmlformats.org/officeDocument/2006/relationships/slide" Target="/ppt/slides/slide3.xml" Id="R35aafcca63ee41c0" /><Relationship Type="http://schemas.openxmlformats.org/officeDocument/2006/relationships/notesMaster" Target="/ppt/notesMasters/notesMaster1.xml" Id="Rbb164cd8c0e9494c" /></Relationships>
</file>

<file path=ppt/notesSlides/_rels/notesSlide4.xml.rels>&#65279;<?xml version="1.0" encoding="utf-8"?><Relationships xmlns="http://schemas.openxmlformats.org/package/2006/relationships"><Relationship Type="http://schemas.openxmlformats.org/officeDocument/2006/relationships/slide" Target="/ppt/slides/slide4.xml" Id="Rb5a79f6b8db34f45" /><Relationship Type="http://schemas.openxmlformats.org/officeDocument/2006/relationships/notesMaster" Target="/ppt/notesMasters/notesMaster1.xml" Id="Reabc2f4770b24d4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Completion status follows the scenario specified by the user. This slide does not infer new server facts from earlier logs. The method and experimental scope come from existing project materials. The source deck states that any missing final metrics remain as placeholders in later result tables.</a:t>
            </a:r>
          </a:p>
          <a:p xmlns:a="http://schemas.openxmlformats.org/drawingml/2006/main">
            <a:r>
              <a:t>Sources:</a:t>
            </a:r>
            <a:endParaRPr/>
          </a:p>
          <a:p xmlns:a="http://schemas.openxmlformats.org/drawingml/2006/main">
            <a:r>
              <a:t>/Users/lzy/Desktop/GitHub/seatrack/复现日志.md</a:t>
            </a:r>
          </a:p>
          <a:p xmlns:a="http://schemas.openxmlformats.org/drawingml/2006/main">
            <a:r>
              <a:t>/Users/lzy/Desktop/GitHub/seatrack/result/README.md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table values show the original metrics multiplied by 100. VOT22-RGBD results come from the user-supplied table: EAO 73.5672, Accuracy 82.0755 and Robustness 88.3893. The original analysis report was not independently read during that update. Paper values are 73.6, 82.1 and 88.4, matching at one decimal place. Metric definitions differ across datasets, so these results do not form a cross-dataset ranking. DepthTrack uses the VOT toolkit. The other three benchmarks use Python reference evaluation without MATLAB cross-validation. The person1 annotation timing concern remains for VisEvent. Complete LasHeR and RGBT234 artifacts still await local archiving. Retesting official weights and reproducing independent training are different validation stages.</a:t>
            </a:r>
          </a:p>
          <a:p xmlns:a="http://schemas.openxmlformats.org/drawingml/2006/main">
            <a:r>
              <a:t>Sources:</a:t>
            </a:r>
            <a:endParaRPr/>
          </a:p>
          <a:p xmlns:a="http://schemas.openxmlformats.org/drawingml/2006/main">
            <a:r>
              <a:t>/Users/lzy/Desktop/GitHub/seatrack/result/depthtrack/2026-10-11_official-rgbd/README.md</a:t>
            </a:r>
          </a:p>
          <a:p xmlns:a="http://schemas.openxmlformats.org/drawingml/2006/main">
            <a:r>
              <a:t>/Users/lzy/Desktop/GitHub/seatrack/result/lasher/2026-10-11_official-rgbt/README.md</a:t>
            </a:r>
          </a:p>
          <a:p xmlns:a="http://schemas.openxmlformats.org/drawingml/2006/main">
            <a:r>
              <a:t>/Users/lzy/Desktop/GitHub/seatrack/result/visevent/2026-10-13_official-rgbe/README.md</a:t>
            </a:r>
          </a:p>
          <a:p xmlns:a="http://schemas.openxmlformats.org/drawingml/2006/main">
            <a:r>
              <a:t>/Users/lzy/Desktop/GitHub/seatrack/result/rgbt234/2026-10-13_official-rgbt/README.md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Presented under the completion scenario. Earlier logs report completion of 25 epochs for RGB-D, 45 for RGB-E and 60 for RGB-T. RGB-T uses one GPU, microbatch 4 and 16 gradient accumulation steps, giving an effective batch size of 64 in FP32. This does not establish exact numerical equivalence to the original two-GPU run. Training loss and training IoU do not replace test-set results.</a:t>
            </a:r>
          </a:p>
          <a:p xmlns:a="http://schemas.openxmlformats.org/drawingml/2006/main">
            <a:r>
              <a:t>Sources:</a:t>
            </a:r>
            <a:endParaRPr/>
          </a:p>
          <a:p xmlns:a="http://schemas.openxmlformats.org/drawingml/2006/main">
            <a:r>
              <a:t>/Users/lzy/Desktop/GitHub/seatrack/复现日志.md</a:t>
            </a:r>
          </a:p>
          <a:p xmlns:a="http://schemas.openxmlformats.org/drawingml/2006/main">
            <a:r>
              <a:t>/Users/lzy/Desktop/GitHub/seatrack/scripts/remaining_training/README.md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uses results supplied by the user: RGB-D / DepthTrack ep0025, PR 62.9096%, RE 63.5460%, F 63.2262%. RGB-E / VisEvent ep0045, PR 77.0950%, SR 60.2610%. RGB-T / LasHeR ep0060, PR 71.5961%, NPR 67.4782%, SR 57.2631%. All statuses are complete. The update relied on the supplied data and did not independently read original server evaluation reports. These summary values alone do not resolve the earlier questions about RGB-D / RGB-E weight provenance.</a:t>
            </a:r>
          </a:p>
          <a:p xmlns:a="http://schemas.openxmlformats.org/drawingml/2006/main">
            <a:r>
              <a:t>Sources:</a:t>
            </a:r>
            <a:endParaRPr/>
          </a:p>
          <a:p xmlns:a="http://schemas.openxmlformats.org/drawingml/2006/main">
            <a:r>
              <a:t>User-supplied test results for the three retrained models</a:t>
            </a:r>
          </a:p>
          <a:p xmlns:a="http://schemas.openxmlformats.org/drawingml/2006/main">
            <a:r>
              <a:t>/Users/lzy/Desktop/GitHub/seatrack/复现日志.md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408242e6dee4be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07e3cab7556434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21a7f286bf94e7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e6e4f0af690436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82167c4a5da4e9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57e2bc2b6d54d0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01E783C-52B4-450F-8423-5BFC946F062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Subtitle">
            <a:extLst xmlns:a="http://schemas.openxmlformats.org/drawingml/2006/main">
              <a:ext uri="{FF2B5EF4-FFF2-40B4-BE49-F238E27FC236}">
                <a16:creationId xmlns:a16="http://schemas.microsoft.com/office/drawing/2014/main" id="{5CACA665-6222-4D5E-A05A-9833F7857B3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ED38318-99F6-41DF-ACDC-3917F14CB83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AEE3AFE-1F85-4C0C-8ED1-D6D7B7BEC5A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Body">
            <a:extLst xmlns:a="http://schemas.openxmlformats.org/drawingml/2006/main">
              <a:ext uri="{FF2B5EF4-FFF2-40B4-BE49-F238E27FC236}">
                <a16:creationId xmlns:a16="http://schemas.microsoft.com/office/drawing/2014/main" id="{B5A1A024-9A81-406F-B033-7F58749F0A8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ECF8E83-969F-4835-B6C5-F853D8DBDBC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1D970C39-8513-45C6-B127-C867E4BF516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
        <p:nvSpPr>
          <p:cNvPr id="3" name="Right column">
            <a:extLst xmlns:a="http://schemas.openxmlformats.org/drawingml/2006/main">
              <a:ext uri="{FF2B5EF4-FFF2-40B4-BE49-F238E27FC236}">
                <a16:creationId xmlns:a16="http://schemas.microsoft.com/office/drawing/2014/main" id="{1AD3F73F-ADD7-4D8F-9414-ED3291D6312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6181CB9-042E-492D-B71C-F1E3278A12E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C5516B0C-55D5-48EB-A9C0-2105A2419C3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7f92fc31b7f4a49" /><Relationship Type="http://schemas.openxmlformats.org/officeDocument/2006/relationships/slideLayout" Target="/ppt/slideLayouts/slideLayout1.xml" Id="R4a32088aad51445b" /><Relationship Type="http://schemas.openxmlformats.org/officeDocument/2006/relationships/slideLayout" Target="/ppt/slideLayouts/slideLayout2.xml" Id="R184e25dea37b4f08" /><Relationship Type="http://schemas.openxmlformats.org/officeDocument/2006/relationships/slideLayout" Target="/ppt/slideLayouts/slideLayout3.xml" Id="R711611bcbd2a4f70" /><Relationship Type="http://schemas.openxmlformats.org/officeDocument/2006/relationships/slideLayout" Target="/ppt/slideLayouts/slideLayout4.xml" Id="Rca997c9967b645fc" /><Relationship Type="http://schemas.openxmlformats.org/officeDocument/2006/relationships/slideLayout" Target="/ppt/slideLayouts/slideLayout5.xml" Id="R0a7d9a6a287a40d1" /><Relationship Type="http://schemas.openxmlformats.org/officeDocument/2006/relationships/slideLayout" Target="/ppt/slideLayouts/slideLayout6.xml" Id="R4fc80e03423d4b3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a32088aad51445b"/>
    <p:sldLayoutId xmlns:r="http://schemas.openxmlformats.org/officeDocument/2006/relationships" id="2147483650" r:id="R184e25dea37b4f08"/>
    <p:sldLayoutId xmlns:r="http://schemas.openxmlformats.org/officeDocument/2006/relationships" id="2147483651" r:id="R711611bcbd2a4f70"/>
    <p:sldLayoutId xmlns:r="http://schemas.openxmlformats.org/officeDocument/2006/relationships" id="2147483652" r:id="Rca997c9967b645fc"/>
    <p:sldLayoutId xmlns:r="http://schemas.openxmlformats.org/officeDocument/2006/relationships" id="2147483653" r:id="R0a7d9a6a287a40d1"/>
    <p:sldLayoutId xmlns:r="http://schemas.openxmlformats.org/officeDocument/2006/relationships" id="2147483654" r:id="R4fc80e03423d4b3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4cbf72058c44e3a" /><Relationship Type="http://schemas.openxmlformats.org/officeDocument/2006/relationships/notesSlide" Target="/ppt/notesSlides/notesSlide1.xml" Id="R4223fc4e84b34c1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797cc3f5b5a491d" /><Relationship Type="http://schemas.openxmlformats.org/officeDocument/2006/relationships/notesSlide" Target="/ppt/notesSlides/notesSlide2.xml" Id="Rbe18b1beed05452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9d5acb1f4994c3b" /><Relationship Type="http://schemas.openxmlformats.org/officeDocument/2006/relationships/notesSlide" Target="/ppt/notesSlides/notesSlide3.xml" Id="Rce168e1a7f4b40b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3236818b9ea42df" /><Relationship Type="http://schemas.openxmlformats.org/officeDocument/2006/relationships/notesSlide" Target="/ppt/notesSlides/notesSlide4.xml" Id="Rc02b4ac9a79c48d8" /></Relationships>
</file>

<file path=ppt/slides/slide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矩形 5">
            <a:extLst xmlns:a="http://schemas.openxmlformats.org/drawingml/2006/main">
              <a:ext uri="{FF2B5EF4-FFF2-40B4-BE49-F238E27FC236}">
                <a16:creationId xmlns:a16="http://schemas.microsoft.com/office/drawing/2014/main" id="{9ED483A2-6E76-4F68-80C5-97B385FA783E}"/>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82B40"/>
                </a:solidFill>
                <a:latin typeface="Hiragino Sans GB"/>
                <a:ea typeface="Hiragino Sans GB"/>
                <a:cs typeface="Hiragino Sans GB"/>
              </a:defRPr>
            </a:defPPr>
          </a:lstStyle>
          <a:p xmlns:a="http://schemas.openxmlformats.org/drawingml/2006/main">
            <a:pPr>
              <a:buNone/>
              <a:defRPr sz="3300" b="1">
                <a:solidFill>
                  <a:srgbClr val="182B40"/>
                </a:solidFill>
                <a:latin typeface="Hiragino Sans GB"/>
                <a:ea typeface="Hiragino Sans GB"/>
                <a:cs typeface="Hiragino Sans GB"/>
              </a:defRPr>
            </a:pPr>
            <a:r>
              <a:rPr sz="3300" b="1">
                <a:solidFill>
                  <a:srgbClr val="182B40"/>
                </a:solidFill>
                <a:latin typeface="Hiragino Sans GB"/>
                <a:ea typeface="Hiragino Sans GB"/>
                <a:cs typeface="Hiragino Sans GB"/>
              </a:rPr>
              <a:t>Reproduction Completion Status</a:t>
            </a:r>
          </a:p>
        </p:txBody>
      </p:sp>
      <p:sp>
        <p:nvSpPr>
          <p:cNvPr id="2" name="矩形 1">
            <a:extLst xmlns:a="http://schemas.openxmlformats.org/drawingml/2006/main">
              <a:ext uri="{FF2B5EF4-FFF2-40B4-BE49-F238E27FC236}">
                <a16:creationId xmlns:a16="http://schemas.microsoft.com/office/drawing/2014/main" id="{EB410B74-32FB-48D7-8456-46DB041D1285}"/>
              </a:ext>
            </a:extLst>
          </p:cNvPr>
          <p:cNvSpPr>
            <a:spLocks xmlns:a="http://schemas.openxmlformats.org/drawingml/2006/main" noGrp="1"/>
          </p:cNvSpPr>
          <p:nvPr/>
        </p:nvSpPr>
        <p:spPr>
          <a:xfrm xmlns:a="http://schemas.openxmlformats.org/drawingml/2006/main">
            <a:off x="628650" y="1143000"/>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37385"/>
                </a:solidFill>
                <a:latin typeface="Hiragino Sans GB"/>
                <a:ea typeface="Hiragino Sans GB"/>
                <a:cs typeface="Hiragino Sans GB"/>
              </a:defRPr>
            </a:defPPr>
          </a:lstStyle>
          <a:p xmlns:a="http://schemas.openxmlformats.org/drawingml/2006/main">
            <a:pPr>
              <a:buNone/>
              <a:defRPr sz="1800" b="0">
                <a:solidFill>
                  <a:srgbClr val="637385"/>
                </a:solidFill>
                <a:latin typeface="Hiragino Sans GB"/>
                <a:ea typeface="Hiragino Sans GB"/>
                <a:cs typeface="Hiragino Sans GB"/>
              </a:defRPr>
            </a:pPr>
            <a:r>
              <a:rPr sz="1800" b="0">
                <a:solidFill>
                  <a:srgbClr val="637385"/>
                </a:solidFill>
                <a:latin typeface="Hiragino Sans GB"/>
                <a:ea typeface="Hiragino Sans GB"/>
                <a:cs typeface="Hiragino Sans GB"/>
              </a:rPr>
              <a:t>Assuming all reproduction work is complete: data, training, inference and metric analysis.</a:t>
            </a:r>
          </a:p>
        </p:txBody>
      </p:sp>
      <p:sp>
        <p:nvSpPr>
          <p:cNvPr id="3" name="矩形 2">
            <a:extLst xmlns:a="http://schemas.openxmlformats.org/drawingml/2006/main">
              <a:ext uri="{FF2B5EF4-FFF2-40B4-BE49-F238E27FC236}">
                <a16:creationId xmlns:a16="http://schemas.microsoft.com/office/drawing/2014/main" id="{D0B77F71-82FB-4B5C-AC1F-131EDBAE5289}"/>
              </a:ext>
            </a:extLst>
          </p:cNvPr>
          <p:cNvSpPr>
            <a:spLocks xmlns:a="http://schemas.openxmlformats.org/drawingml/2006/main" noGrp="1"/>
          </p:cNvSpPr>
          <p:nvPr/>
        </p:nvSpPr>
        <p:spPr>
          <a:xfrm xmlns:a="http://schemas.openxmlformats.org/drawingml/2006/main">
            <a:off x="11144250" y="63246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37385"/>
                </a:solidFill>
                <a:latin typeface="Hiragino Sans GB"/>
                <a:ea typeface="Hiragino Sans GB"/>
                <a:cs typeface="Hiragino Sans GB"/>
              </a:defRPr>
            </a:defPPr>
          </a:lstStyle>
          <a:p xmlns:a="http://schemas.openxmlformats.org/drawingml/2006/main">
            <a:pPr>
              <a:buNone/>
              <a:defRPr sz="1350" b="0">
                <a:solidFill>
                  <a:srgbClr val="637385"/>
                </a:solidFill>
                <a:latin typeface="Hiragino Sans GB"/>
                <a:ea typeface="Hiragino Sans GB"/>
                <a:cs typeface="Hiragino Sans GB"/>
              </a:defRPr>
            </a:pPr>
            <a:r>
              <a:rPr sz="1350" b="0">
                <a:solidFill>
                  <a:srgbClr val="637385"/>
                </a:solidFill>
                <a:latin typeface="Hiragino Sans GB"/>
                <a:ea typeface="Hiragino Sans GB"/>
                <a:cs typeface="Hiragino Sans GB"/>
              </a:rPr>
              <a:t>14</a:t>
            </a:r>
          </a:p>
        </p:txBody>
      </p:sp>
      <p:graphicFrame>
        <p:nvGraphicFramePr>
          <p:cNvPr id="4" name="表格 3">
            <a:extLst xmlns:a="http://schemas.openxmlformats.org/drawingml/2006/main">
              <a:ext uri="{FF2B5EF4-FFF2-40B4-BE49-F238E27FC236}">
                <a16:creationId xmlns:a16="http://schemas.microsoft.com/office/drawing/2014/main" id="{37D18714-7FA6-4906-B048-241138DE6787}"/>
              </a:ext>
            </a:extLst>
          </p:cNvPr>
          <p:cNvGraphicFramePr/>
          <p:nvPr/>
        </p:nvGraphicFramePr>
        <p:xfrm>
          <a:off xmlns:a="http://schemas.openxmlformats.org/drawingml/2006/main" x="628650" y="1819275"/>
          <a:ext xmlns:a="http://schemas.openxmlformats.org/drawingml/2006/main" cx="10934700" cy="3371850"/>
        </p:xfrm>
        <a:graphic xmlns:a="http://schemas.openxmlformats.org/drawingml/2006/main">
          <a:graphicData uri="http://schemas.openxmlformats.org/drawingml/2006/table">
            <a:tbl>
              <a:tblPr/>
              <a:tblGrid>
                <a:gridCol w="2857500"/>
                <a:gridCol w="8077200"/>
              </a:tblGrid>
              <a:tr h="674370">
                <a:tc>
                  <a:txBody>
                    <a:bodyPr/>
                    <a:lstStyle/>
                    <a:p>
                      <a:r>
                        <a:rPr sz="1875" b="1">
                          <a:solidFill>
                            <a:srgbClr val="FFFFFF"/>
                          </a:solidFill>
                          <a:latin typeface="Hiragino Sans GB"/>
                          <a:ea typeface="Hiragino Sans GB"/>
                          <a:cs typeface="Hiragino Sans GB"/>
                        </a:rPr>
                        <a:t>Stage</a:t>
                      </a:r>
                    </a:p>
                  </a:txBody>
                  <a:tcPr marL="91440" marR="91440" marT="45720" marB="45720">
                    <a:lnL w="9525">
                      <a:solidFill>
                        <a:srgbClr val="D9E1E9"/>
                      </a:solidFill>
                      <a:prstDash val="solid"/>
                    </a:lnL>
                    <a:lnR w="9525">
                      <a:solidFill>
                        <a:srgbClr val="D9E1E9"/>
                      </a:solidFill>
                      <a:prstDash val="solid"/>
                    </a:lnR>
                    <a:lnT w="9525">
                      <a:solidFill>
                        <a:srgbClr val="D9E1E9"/>
                      </a:solidFill>
                      <a:prstDash val="solid"/>
                    </a:lnT>
                    <a:lnB w="9525">
                      <a:solidFill>
                        <a:srgbClr val="D9E1E9"/>
                      </a:solidFill>
                      <a:prstDash val="solid"/>
                    </a:lnB>
                    <a:solidFill>
                      <a:srgbClr val="182B40"/>
                    </a:solidFill>
                  </a:tcPr>
                </a:tc>
                <a:tc>
                  <a:txBody>
                    <a:bodyPr/>
                    <a:lstStyle/>
                    <a:p>
                      <a:r>
                        <a:rPr sz="1875" b="1">
                          <a:solidFill>
                            <a:srgbClr val="FFFFFF"/>
                          </a:solidFill>
                          <a:latin typeface="Hiragino Sans GB"/>
                          <a:ea typeface="Hiragino Sans GB"/>
                          <a:cs typeface="Hiragino Sans GB"/>
                        </a:rPr>
                        <a:t>Completed work</a:t>
                      </a:r>
                    </a:p>
                  </a:txBody>
                  <a:tcPr marL="91440" marR="91440" marT="45720" marB="45720">
                    <a:lnL w="9525" cmpd="sng">
                      <a:solidFill>
                        <a:srgbClr val="D9E1E9"/>
                      </a:solidFill>
                      <a:prstDash val="solid"/>
                    </a:lnL>
                    <a:lnR w="9525">
                      <a:solidFill>
                        <a:srgbClr val="D9E1E9"/>
                      </a:solidFill>
                      <a:prstDash val="solid"/>
                    </a:lnR>
                    <a:lnT w="9525">
                      <a:solidFill>
                        <a:srgbClr val="D9E1E9"/>
                      </a:solidFill>
                      <a:prstDash val="solid"/>
                    </a:lnT>
                    <a:lnB w="9525">
                      <a:solidFill>
                        <a:srgbClr val="D9E1E9"/>
                      </a:solidFill>
                      <a:prstDash val="solid"/>
                    </a:lnB>
                    <a:solidFill>
                      <a:srgbClr val="182B40"/>
                    </a:solidFill>
                  </a:tcPr>
                </a:tc>
              </a:tr>
              <a:tr h="674370">
                <a:tc>
                  <a:txBody>
                    <a:bodyPr/>
                    <a:lstStyle/>
                    <a:p>
                      <a:r>
                        <a:rPr sz="1875" b="0">
                          <a:solidFill>
                            <a:srgbClr val="182B40"/>
                          </a:solidFill>
                          <a:latin typeface="Hiragino Sans GB"/>
                          <a:ea typeface="Hiragino Sans GB"/>
                          <a:cs typeface="Hiragino Sans GB"/>
                        </a:rPr>
                        <a:t>Data &amp; environment</a:t>
                      </a:r>
                    </a:p>
                  </a:txBody>
                  <a:tcPr marL="91440" marR="91440" marT="45720" marB="45720">
                    <a:lnL w="9525">
                      <a:solidFill>
                        <a:srgbClr val="D9E1E9"/>
                      </a:solidFill>
                      <a:prstDash val="solid"/>
                    </a:lnL>
                    <a:lnR w="9525">
                      <a:solidFill>
                        <a:srgbClr val="D9E1E9"/>
                      </a:solidFill>
                      <a:prstDash val="solid"/>
                    </a:lnR>
                    <a:lnT w="9525" cmpd="sng">
                      <a:solidFill>
                        <a:srgbClr val="D9E1E9"/>
                      </a:solidFill>
                      <a:prstDash val="solid"/>
                    </a:lnT>
                    <a:lnB w="9525">
                      <a:solidFill>
                        <a:srgbClr val="D9E1E9"/>
                      </a:solidFill>
                      <a:prstDash val="solid"/>
                    </a:lnB>
                    <a:solidFill>
                      <a:srgbClr val="FFFFFF"/>
                    </a:solidFill>
                  </a:tcPr>
                </a:tc>
                <a:tc>
                  <a:txBody>
                    <a:bodyPr/>
                    <a:lstStyle/>
                    <a:p>
                      <a:r>
                        <a:rPr sz="1875" b="0">
                          <a:solidFill>
                            <a:srgbClr val="182B40"/>
                          </a:solidFill>
                          <a:latin typeface="Hiragino Sans GB"/>
                          <a:ea typeface="Hiragino Sans GB"/>
                          <a:cs typeface="Hiragino Sans GB"/>
                        </a:rPr>
                        <a:t>Configured paired modalities, checked alignment and adapted the runtime</a:t>
                      </a:r>
                    </a:p>
                  </a:txBody>
                  <a:tcPr marL="91440" marR="91440" marT="45720" marB="45720">
                    <a:lnL w="9525" cmpd="sng">
                      <a:solidFill>
                        <a:srgbClr val="D9E1E9"/>
                      </a:solidFill>
                      <a:prstDash val="solid"/>
                    </a:lnL>
                    <a:lnR w="9525">
                      <a:solidFill>
                        <a:srgbClr val="D9E1E9"/>
                      </a:solidFill>
                      <a:prstDash val="solid"/>
                    </a:lnR>
                    <a:lnT w="9525" cmpd="sng">
                      <a:solidFill>
                        <a:srgbClr val="D9E1E9"/>
                      </a:solidFill>
                      <a:prstDash val="solid"/>
                    </a:lnT>
                    <a:lnB w="9525">
                      <a:solidFill>
                        <a:srgbClr val="D9E1E9"/>
                      </a:solidFill>
                      <a:prstDash val="solid"/>
                    </a:lnB>
                    <a:solidFill>
                      <a:srgbClr val="FFFFFF"/>
                    </a:solidFill>
                  </a:tcPr>
                </a:tc>
              </a:tr>
              <a:tr h="674370">
                <a:tc>
                  <a:txBody>
                    <a:bodyPr/>
                    <a:lstStyle/>
                    <a:p>
                      <a:r>
                        <a:rPr sz="1875" b="0">
                          <a:solidFill>
                            <a:srgbClr val="182B40"/>
                          </a:solidFill>
                          <a:latin typeface="Hiragino Sans GB"/>
                          <a:ea typeface="Hiragino Sans GB"/>
                          <a:cs typeface="Hiragino Sans GB"/>
                        </a:rPr>
                        <a:t>Model training</a:t>
                      </a:r>
                    </a:p>
                  </a:txBody>
                  <a:tcPr marL="91440" marR="91440" marT="45720" marB="45720">
                    <a:lnL w="9525">
                      <a:solidFill>
                        <a:srgbClr val="D9E1E9"/>
                      </a:solidFill>
                      <a:prstDash val="solid"/>
                    </a:lnL>
                    <a:lnR w="9525">
                      <a:solidFill>
                        <a:srgbClr val="D9E1E9"/>
                      </a:solidFill>
                      <a:prstDash val="solid"/>
                    </a:lnR>
                    <a:lnT w="9525" cmpd="sng">
                      <a:solidFill>
                        <a:srgbClr val="D9E1E9"/>
                      </a:solidFill>
                      <a:prstDash val="solid"/>
                    </a:lnT>
                    <a:lnB w="9525">
                      <a:solidFill>
                        <a:srgbClr val="D9E1E9"/>
                      </a:solidFill>
                      <a:prstDash val="solid"/>
                    </a:lnB>
                    <a:solidFill>
                      <a:srgbClr val="EEF3F7"/>
                    </a:solidFill>
                  </a:tcPr>
                </a:tc>
                <a:tc>
                  <a:txBody>
                    <a:bodyPr/>
                    <a:lstStyle/>
                    <a:p>
                      <a:r>
                        <a:rPr sz="1875" b="0">
                          <a:solidFill>
                            <a:srgbClr val="182B40"/>
                          </a:solidFill>
                          <a:latin typeface="Hiragino Sans GB"/>
                          <a:ea typeface="Hiragino Sans GB"/>
                          <a:cs typeface="Hiragino Sans GB"/>
                        </a:rPr>
                        <a:t>Completed RGB-D: 25 epochs, RGB-E: 45 epochs, RGB-T: 60 epochs</a:t>
                      </a:r>
                    </a:p>
                  </a:txBody>
                  <a:tcPr marL="91440" marR="91440" marT="45720" marB="45720">
                    <a:lnL w="9525" cmpd="sng">
                      <a:solidFill>
                        <a:srgbClr val="D9E1E9"/>
                      </a:solidFill>
                      <a:prstDash val="solid"/>
                    </a:lnL>
                    <a:lnR w="9525">
                      <a:solidFill>
                        <a:srgbClr val="D9E1E9"/>
                      </a:solidFill>
                      <a:prstDash val="solid"/>
                    </a:lnR>
                    <a:lnT w="9525" cmpd="sng">
                      <a:solidFill>
                        <a:srgbClr val="D9E1E9"/>
                      </a:solidFill>
                      <a:prstDash val="solid"/>
                    </a:lnT>
                    <a:lnB w="9525">
                      <a:solidFill>
                        <a:srgbClr val="D9E1E9"/>
                      </a:solidFill>
                      <a:prstDash val="solid"/>
                    </a:lnB>
                    <a:solidFill>
                      <a:srgbClr val="EEF3F7"/>
                    </a:solidFill>
                  </a:tcPr>
                </a:tc>
              </a:tr>
              <a:tr h="674370">
                <a:tc>
                  <a:txBody>
                    <a:bodyPr/>
                    <a:lstStyle/>
                    <a:p>
                      <a:r>
                        <a:rPr sz="1875" b="0">
                          <a:solidFill>
                            <a:srgbClr val="182B40"/>
                          </a:solidFill>
                          <a:latin typeface="Hiragino Sans GB"/>
                          <a:ea typeface="Hiragino Sans GB"/>
                          <a:cs typeface="Hiragino Sans GB"/>
                        </a:rPr>
                        <a:t>Testing &amp; evaluation</a:t>
                      </a:r>
                    </a:p>
                  </a:txBody>
                  <a:tcPr marL="91440" marR="91440" marT="45720" marB="45720">
                    <a:lnL w="9525">
                      <a:solidFill>
                        <a:srgbClr val="D9E1E9"/>
                      </a:solidFill>
                      <a:prstDash val="solid"/>
                    </a:lnL>
                    <a:lnR w="9525">
                      <a:solidFill>
                        <a:srgbClr val="D9E1E9"/>
                      </a:solidFill>
                      <a:prstDash val="solid"/>
                    </a:lnR>
                    <a:lnT w="9525" cmpd="sng">
                      <a:solidFill>
                        <a:srgbClr val="D9E1E9"/>
                      </a:solidFill>
                      <a:prstDash val="solid"/>
                    </a:lnT>
                    <a:lnB w="9525">
                      <a:solidFill>
                        <a:srgbClr val="D9E1E9"/>
                      </a:solidFill>
                      <a:prstDash val="solid"/>
                    </a:lnB>
                    <a:solidFill>
                      <a:srgbClr val="FFFFFF"/>
                    </a:solidFill>
                  </a:tcPr>
                </a:tc>
                <a:tc>
                  <a:txBody>
                    <a:bodyPr/>
                    <a:lstStyle/>
                    <a:p>
                      <a:r>
                        <a:rPr sz="1875" b="0">
                          <a:solidFill>
                            <a:srgbClr val="182B40"/>
                          </a:solidFill>
                          <a:latin typeface="Hiragino Sans GB"/>
                          <a:ea typeface="Hiragino Sans GB"/>
                          <a:cs typeface="Hiragino Sans GB"/>
                        </a:rPr>
                        <a:t>Completed full-dataset inference, trajectory checks and metric calculation</a:t>
                      </a:r>
                    </a:p>
                  </a:txBody>
                  <a:tcPr marL="91440" marR="91440" marT="45720" marB="45720">
                    <a:lnL w="9525" cmpd="sng">
                      <a:solidFill>
                        <a:srgbClr val="D9E1E9"/>
                      </a:solidFill>
                      <a:prstDash val="solid"/>
                    </a:lnL>
                    <a:lnR w="9525">
                      <a:solidFill>
                        <a:srgbClr val="D9E1E9"/>
                      </a:solidFill>
                      <a:prstDash val="solid"/>
                    </a:lnR>
                    <a:lnT w="9525" cmpd="sng">
                      <a:solidFill>
                        <a:srgbClr val="D9E1E9"/>
                      </a:solidFill>
                      <a:prstDash val="solid"/>
                    </a:lnT>
                    <a:lnB w="9525">
                      <a:solidFill>
                        <a:srgbClr val="D9E1E9"/>
                      </a:solidFill>
                      <a:prstDash val="solid"/>
                    </a:lnB>
                    <a:solidFill>
                      <a:srgbClr val="FFFFFF"/>
                    </a:solidFill>
                  </a:tcPr>
                </a:tc>
              </a:tr>
              <a:tr h="674370">
                <a:tc>
                  <a:txBody>
                    <a:bodyPr/>
                    <a:lstStyle/>
                    <a:p>
                      <a:r>
                        <a:rPr sz="1875" b="0">
                          <a:solidFill>
                            <a:srgbClr val="182B40"/>
                          </a:solidFill>
                          <a:latin typeface="Hiragino Sans GB"/>
                          <a:ea typeface="Hiragino Sans GB"/>
                          <a:cs typeface="Hiragino Sans GB"/>
                        </a:rPr>
                        <a:t>Experiment records</a:t>
                      </a:r>
                    </a:p>
                  </a:txBody>
                  <a:tcPr marL="91440" marR="91440" marT="45720" marB="45720">
                    <a:lnL w="9525">
                      <a:solidFill>
                        <a:srgbClr val="D9E1E9"/>
                      </a:solidFill>
                      <a:prstDash val="solid"/>
                    </a:lnL>
                    <a:lnR w="9525">
                      <a:solidFill>
                        <a:srgbClr val="D9E1E9"/>
                      </a:solidFill>
                      <a:prstDash val="solid"/>
                    </a:lnR>
                    <a:lnT w="9525" cmpd="sng">
                      <a:solidFill>
                        <a:srgbClr val="D9E1E9"/>
                      </a:solidFill>
                      <a:prstDash val="solid"/>
                    </a:lnT>
                    <a:lnB w="9525">
                      <a:solidFill>
                        <a:srgbClr val="D9E1E9"/>
                      </a:solidFill>
                      <a:prstDash val="solid"/>
                    </a:lnB>
                    <a:solidFill>
                      <a:srgbClr val="EEF3F7"/>
                    </a:solidFill>
                  </a:tcPr>
                </a:tc>
                <a:tc>
                  <a:txBody>
                    <a:bodyPr/>
                    <a:lstStyle/>
                    <a:p>
                      <a:r>
                        <a:rPr sz="1875" b="0">
                          <a:solidFill>
                            <a:srgbClr val="182B40"/>
                          </a:solidFill>
                          <a:latin typeface="Hiragino Sans GB"/>
                          <a:ea typeface="Hiragino Sans GB"/>
                          <a:cs typeface="Hiragino Sans GB"/>
                        </a:rPr>
                        <a:t>Organized configurations, weights, logs, trajectories and metric reports</a:t>
                      </a:r>
                    </a:p>
                  </a:txBody>
                  <a:tcPr marL="91440" marR="91440" marT="45720" marB="45720">
                    <a:lnL w="9525" cmpd="sng">
                      <a:solidFill>
                        <a:srgbClr val="D9E1E9"/>
                      </a:solidFill>
                      <a:prstDash val="solid"/>
                    </a:lnL>
                    <a:lnR w="9525">
                      <a:solidFill>
                        <a:srgbClr val="D9E1E9"/>
                      </a:solidFill>
                      <a:prstDash val="solid"/>
                    </a:lnR>
                    <a:lnT w="9525" cmpd="sng">
                      <a:solidFill>
                        <a:srgbClr val="D9E1E9"/>
                      </a:solidFill>
                      <a:prstDash val="solid"/>
                    </a:lnT>
                    <a:lnB w="9525">
                      <a:solidFill>
                        <a:srgbClr val="D9E1E9"/>
                      </a:solidFill>
                      <a:prstDash val="solid"/>
                    </a:lnB>
                    <a:solidFill>
                      <a:srgbClr val="EEF3F7"/>
                    </a:solidFill>
                  </a:tcPr>
                </a:tc>
              </a:tr>
            </a:tbl>
          </a:graphicData>
        </a:graphic>
      </p:graphicFrame>
      <p:sp>
        <p:nvSpPr>
          <p:cNvPr id="5" name="矩形 4">
            <a:extLst xmlns:a="http://schemas.openxmlformats.org/drawingml/2006/main">
              <a:ext uri="{FF2B5EF4-FFF2-40B4-BE49-F238E27FC236}">
                <a16:creationId xmlns:a16="http://schemas.microsoft.com/office/drawing/2014/main" id="{55422983-D73F-47EF-BB29-0198B85CDC10}"/>
              </a:ext>
            </a:extLst>
          </p:cNvPr>
          <p:cNvSpPr>
            <a:spLocks xmlns:a="http://schemas.openxmlformats.org/drawingml/2006/main" noGrp="1"/>
          </p:cNvSpPr>
          <p:nvPr/>
        </p:nvSpPr>
        <p:spPr>
          <a:xfrm xmlns:a="http://schemas.openxmlformats.org/drawingml/2006/main">
            <a:off x="628650" y="5943600"/>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637385"/>
                </a:solidFill>
                <a:latin typeface="Hiragino Sans GB"/>
                <a:ea typeface="Hiragino Sans GB"/>
                <a:cs typeface="Hiragino Sans GB"/>
              </a:defRPr>
            </a:defPPr>
          </a:lstStyle>
          <a:p xmlns:a="http://schemas.openxmlformats.org/drawingml/2006/main">
            <a:pPr>
              <a:buNone/>
              <a:defRPr sz="1425" b="0">
                <a:solidFill>
                  <a:srgbClr val="637385"/>
                </a:solidFill>
                <a:latin typeface="Hiragino Sans GB"/>
                <a:ea typeface="Hiragino Sans GB"/>
                <a:cs typeface="Hiragino Sans GB"/>
              </a:defRPr>
            </a:pPr>
            <a:r>
              <a:rPr sz="1425" b="0">
                <a:solidFill>
                  <a:srgbClr val="637385"/>
                </a:solidFill>
                <a:latin typeface="Hiragino Sans GB"/>
                <a:ea typeface="Hiragino Sans GB"/>
                <a:cs typeface="Hiragino Sans GB"/>
              </a:rPr>
              <a:t>Completion follows the stated assumption. Refer to final evaluation reports for definitive results.</a:t>
            </a:r>
          </a:p>
        </p:txBody>
      </p:sp>
    </p:spTree>
    <p:extLst>
      <p:ext uri="{BB962C8B-B14F-4D97-AF65-F5344CB8AC3E}">
        <p14:creationId xmlns:p14="http://schemas.microsoft.com/office/powerpoint/2010/main" val="246174027"/>
      </p:ext>
    </p:extLst>
  </p:cSld>
</p:sld>
</file>

<file path=ppt/slides/slide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7" name="矩形 6">
            <a:extLst xmlns:a="http://schemas.openxmlformats.org/drawingml/2006/main">
              <a:ext uri="{FF2B5EF4-FFF2-40B4-BE49-F238E27FC236}">
                <a16:creationId xmlns:a16="http://schemas.microsoft.com/office/drawing/2014/main" id="{12BC2FF8-9247-474F-A486-27C9EE0463D1}"/>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82B40"/>
                </a:solidFill>
                <a:latin typeface="Hiragino Sans GB"/>
                <a:ea typeface="Hiragino Sans GB"/>
                <a:cs typeface="Hiragino Sans GB"/>
              </a:defRPr>
            </a:defPPr>
          </a:lstStyle>
          <a:p xmlns:a="http://schemas.openxmlformats.org/drawingml/2006/main">
            <a:pPr>
              <a:buNone/>
              <a:defRPr sz="3300" b="1">
                <a:solidFill>
                  <a:srgbClr val="182B40"/>
                </a:solidFill>
                <a:latin typeface="Hiragino Sans GB"/>
                <a:ea typeface="Hiragino Sans GB"/>
                <a:cs typeface="Hiragino Sans GB"/>
              </a:defRPr>
            </a:pPr>
            <a:r>
              <a:rPr sz="3300" b="1">
                <a:solidFill>
                  <a:srgbClr val="182B40"/>
                </a:solidFill>
                <a:latin typeface="Hiragino Sans GB"/>
                <a:ea typeface="Hiragino Sans GB"/>
                <a:cs typeface="Hiragino Sans GB"/>
              </a:rPr>
              <a:t>Evaluation with Official Weights</a:t>
            </a:r>
          </a:p>
        </p:txBody>
      </p:sp>
      <p:sp>
        <p:nvSpPr>
          <p:cNvPr id="2" name="矩形 1">
            <a:extLst xmlns:a="http://schemas.openxmlformats.org/drawingml/2006/main">
              <a:ext uri="{FF2B5EF4-FFF2-40B4-BE49-F238E27FC236}">
                <a16:creationId xmlns:a16="http://schemas.microsoft.com/office/drawing/2014/main" id="{EEECFCB3-EE83-48D8-A1D8-293937F33E51}"/>
              </a:ext>
            </a:extLst>
          </p:cNvPr>
          <p:cNvSpPr>
            <a:spLocks xmlns:a="http://schemas.openxmlformats.org/drawingml/2006/main" noGrp="1"/>
          </p:cNvSpPr>
          <p:nvPr/>
        </p:nvSpPr>
        <p:spPr>
          <a:xfrm xmlns:a="http://schemas.openxmlformats.org/drawingml/2006/main">
            <a:off x="628650" y="1143000"/>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37385"/>
                </a:solidFill>
                <a:latin typeface="Hiragino Sans GB"/>
                <a:ea typeface="Hiragino Sans GB"/>
                <a:cs typeface="Hiragino Sans GB"/>
              </a:defRPr>
            </a:defPPr>
          </a:lstStyle>
          <a:p xmlns:a="http://schemas.openxmlformats.org/drawingml/2006/main">
            <a:pPr>
              <a:buNone/>
              <a:defRPr sz="1800" b="0">
                <a:solidFill>
                  <a:srgbClr val="637385"/>
                </a:solidFill>
                <a:latin typeface="Hiragino Sans GB"/>
                <a:ea typeface="Hiragino Sans GB"/>
                <a:cs typeface="Hiragino Sans GB"/>
              </a:defRPr>
            </a:pPr>
            <a:r>
              <a:rPr sz="1800" b="0">
                <a:solidFill>
                  <a:srgbClr val="637385"/>
                </a:solidFill>
                <a:latin typeface="Hiragino Sans GB"/>
                <a:ea typeface="Hiragino Sans GB"/>
                <a:cs typeface="Hiragino Sans GB"/>
              </a:rPr>
              <a:t>All five benchmarks match the paper when rounded to its reported precision.</a:t>
            </a:r>
          </a:p>
        </p:txBody>
      </p:sp>
      <p:sp>
        <p:nvSpPr>
          <p:cNvPr id="3" name="矩形 2">
            <a:extLst xmlns:a="http://schemas.openxmlformats.org/drawingml/2006/main">
              <a:ext uri="{FF2B5EF4-FFF2-40B4-BE49-F238E27FC236}">
                <a16:creationId xmlns:a16="http://schemas.microsoft.com/office/drawing/2014/main" id="{A32CD25D-DEDC-4267-A038-ED5B9DEC0C54}"/>
              </a:ext>
            </a:extLst>
          </p:cNvPr>
          <p:cNvSpPr>
            <a:spLocks xmlns:a="http://schemas.openxmlformats.org/drawingml/2006/main" noGrp="1"/>
          </p:cNvSpPr>
          <p:nvPr/>
        </p:nvSpPr>
        <p:spPr>
          <a:xfrm xmlns:a="http://schemas.openxmlformats.org/drawingml/2006/main">
            <a:off x="11144250" y="63246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37385"/>
                </a:solidFill>
                <a:latin typeface="Hiragino Sans GB"/>
                <a:ea typeface="Hiragino Sans GB"/>
                <a:cs typeface="Hiragino Sans GB"/>
              </a:defRPr>
            </a:defPPr>
          </a:lstStyle>
          <a:p xmlns:a="http://schemas.openxmlformats.org/drawingml/2006/main">
            <a:pPr>
              <a:buNone/>
              <a:defRPr sz="1350" b="0">
                <a:solidFill>
                  <a:srgbClr val="637385"/>
                </a:solidFill>
                <a:latin typeface="Hiragino Sans GB"/>
                <a:ea typeface="Hiragino Sans GB"/>
                <a:cs typeface="Hiragino Sans GB"/>
              </a:defRPr>
            </a:pPr>
            <a:r>
              <a:rPr sz="1350" b="0">
                <a:solidFill>
                  <a:srgbClr val="637385"/>
                </a:solidFill>
                <a:latin typeface="Hiragino Sans GB"/>
                <a:ea typeface="Hiragino Sans GB"/>
                <a:cs typeface="Hiragino Sans GB"/>
              </a:rPr>
              <a:t>15</a:t>
            </a:r>
          </a:p>
        </p:txBody>
      </p:sp>
      <p:graphicFrame>
        <p:nvGraphicFramePr>
          <p:cNvPr id="4" name="表格 3">
            <a:extLst xmlns:a="http://schemas.openxmlformats.org/drawingml/2006/main">
              <a:ext uri="{FF2B5EF4-FFF2-40B4-BE49-F238E27FC236}">
                <a16:creationId xmlns:a16="http://schemas.microsoft.com/office/drawing/2014/main" id="{8E4C23B7-0E41-46AF-8BE5-27C22B7B344E}"/>
              </a:ext>
            </a:extLst>
          </p:cNvPr>
          <p:cNvGraphicFramePr/>
          <p:nvPr/>
        </p:nvGraphicFramePr>
        <p:xfrm>
          <a:off xmlns:a="http://schemas.openxmlformats.org/drawingml/2006/main" x="628650" y="1809750"/>
          <a:ext xmlns:a="http://schemas.openxmlformats.org/drawingml/2006/main" cx="10934700" cy="3333750"/>
        </p:xfrm>
        <a:graphic xmlns:a="http://schemas.openxmlformats.org/drawingml/2006/main">
          <a:graphicData uri="http://schemas.openxmlformats.org/drawingml/2006/table">
            <a:tbl>
              <a:tblPr/>
              <a:tblGrid>
                <a:gridCol w="2619375"/>
                <a:gridCol w="2095500"/>
                <a:gridCol w="3790950"/>
                <a:gridCol w="2428875"/>
              </a:tblGrid>
              <a:tr h="555625">
                <a:tc>
                  <a:txBody>
                    <a:bodyPr/>
                    <a:lstStyle/>
                    <a:p>
                      <a:r>
                        <a:rPr sz="1650" b="1">
                          <a:solidFill>
                            <a:srgbClr val="FFFFFF"/>
                          </a:solidFill>
                          <a:latin typeface="Hiragino Sans GB"/>
                          <a:ea typeface="Hiragino Sans GB"/>
                          <a:cs typeface="Hiragino Sans GB"/>
                        </a:rPr>
                        <a:t>Dataset / sequences</a:t>
                      </a:r>
                    </a:p>
                  </a:txBody>
                  <a:tcPr marL="91440" marR="91440" marT="45720" marB="45720">
                    <a:lnL w="9525">
                      <a:solidFill>
                        <a:srgbClr val="D9E1E9"/>
                      </a:solidFill>
                      <a:prstDash val="solid"/>
                    </a:lnL>
                    <a:lnR w="9525">
                      <a:solidFill>
                        <a:srgbClr val="D9E1E9"/>
                      </a:solidFill>
                      <a:prstDash val="solid"/>
                    </a:lnR>
                    <a:lnT w="9525">
                      <a:solidFill>
                        <a:srgbClr val="D9E1E9"/>
                      </a:solidFill>
                      <a:prstDash val="solid"/>
                    </a:lnT>
                    <a:lnB w="9525">
                      <a:solidFill>
                        <a:srgbClr val="D9E1E9"/>
                      </a:solidFill>
                      <a:prstDash val="solid"/>
                    </a:lnB>
                    <a:solidFill>
                      <a:srgbClr val="182B40"/>
                    </a:solidFill>
                  </a:tcPr>
                </a:tc>
                <a:tc>
                  <a:txBody>
                    <a:bodyPr/>
                    <a:lstStyle/>
                    <a:p>
                      <a:r>
                        <a:rPr sz="1650" b="1">
                          <a:solidFill>
                            <a:srgbClr val="FFFFFF"/>
                          </a:solidFill>
                          <a:latin typeface="Hiragino Sans GB"/>
                          <a:ea typeface="Hiragino Sans GB"/>
                          <a:cs typeface="Hiragino Sans GB"/>
                        </a:rPr>
                        <a:t>Metrics</a:t>
                      </a:r>
                    </a:p>
                  </a:txBody>
                  <a:tcPr marL="91440" marR="91440" marT="45720" marB="45720">
                    <a:lnL w="9525" cmpd="sng">
                      <a:solidFill>
                        <a:srgbClr val="D9E1E9"/>
                      </a:solidFill>
                      <a:prstDash val="solid"/>
                    </a:lnL>
                    <a:lnR w="9525">
                      <a:solidFill>
                        <a:srgbClr val="D9E1E9"/>
                      </a:solidFill>
                      <a:prstDash val="solid"/>
                    </a:lnR>
                    <a:lnT w="9525">
                      <a:solidFill>
                        <a:srgbClr val="D9E1E9"/>
                      </a:solidFill>
                      <a:prstDash val="solid"/>
                    </a:lnT>
                    <a:lnB w="9525">
                      <a:solidFill>
                        <a:srgbClr val="D9E1E9"/>
                      </a:solidFill>
                      <a:prstDash val="solid"/>
                    </a:lnB>
                    <a:solidFill>
                      <a:srgbClr val="182B40"/>
                    </a:solidFill>
                  </a:tcPr>
                </a:tc>
                <a:tc>
                  <a:txBody>
                    <a:bodyPr/>
                    <a:lstStyle/>
                    <a:p>
                      <a:r>
                        <a:rPr sz="1650" b="1">
                          <a:solidFill>
                            <a:srgbClr val="FFFFFF"/>
                          </a:solidFill>
                          <a:latin typeface="Hiragino Sans GB"/>
                          <a:ea typeface="Hiragino Sans GB"/>
                          <a:cs typeface="Hiragino Sans GB"/>
                        </a:rPr>
                        <a:t>Results (×100)</a:t>
                      </a:r>
                    </a:p>
                  </a:txBody>
                  <a:tcPr marL="91440" marR="91440" marT="45720" marB="45720">
                    <a:lnL w="9525" cmpd="sng">
                      <a:solidFill>
                        <a:srgbClr val="D9E1E9"/>
                      </a:solidFill>
                      <a:prstDash val="solid"/>
                    </a:lnL>
                    <a:lnR w="9525">
                      <a:solidFill>
                        <a:srgbClr val="D9E1E9"/>
                      </a:solidFill>
                      <a:prstDash val="solid"/>
                    </a:lnR>
                    <a:lnT w="9525">
                      <a:solidFill>
                        <a:srgbClr val="D9E1E9"/>
                      </a:solidFill>
                      <a:prstDash val="solid"/>
                    </a:lnT>
                    <a:lnB w="9525">
                      <a:solidFill>
                        <a:srgbClr val="D9E1E9"/>
                      </a:solidFill>
                      <a:prstDash val="solid"/>
                    </a:lnB>
                    <a:solidFill>
                      <a:srgbClr val="182B40"/>
                    </a:solidFill>
                  </a:tcPr>
                </a:tc>
                <a:tc>
                  <a:txBody>
                    <a:bodyPr/>
                    <a:lstStyle/>
                    <a:p>
                      <a:r>
                        <a:rPr sz="1650" b="1">
                          <a:solidFill>
                            <a:srgbClr val="FFFFFF"/>
                          </a:solidFill>
                          <a:latin typeface="Hiragino Sans GB"/>
                          <a:ea typeface="Hiragino Sans GB"/>
                          <a:cs typeface="Hiragino Sans GB"/>
                        </a:rPr>
                        <a:t>Paper (×100)</a:t>
                      </a:r>
                    </a:p>
                  </a:txBody>
                  <a:tcPr marL="91440" marR="91440" marT="45720" marB="45720">
                    <a:lnL w="9525" cmpd="sng">
                      <a:solidFill>
                        <a:srgbClr val="D9E1E9"/>
                      </a:solidFill>
                      <a:prstDash val="solid"/>
                    </a:lnL>
                    <a:lnR w="9525">
                      <a:solidFill>
                        <a:srgbClr val="D9E1E9"/>
                      </a:solidFill>
                      <a:prstDash val="solid"/>
                    </a:lnR>
                    <a:lnT w="9525">
                      <a:solidFill>
                        <a:srgbClr val="D9E1E9"/>
                      </a:solidFill>
                      <a:prstDash val="solid"/>
                    </a:lnT>
                    <a:lnB w="9525">
                      <a:solidFill>
                        <a:srgbClr val="D9E1E9"/>
                      </a:solidFill>
                      <a:prstDash val="solid"/>
                    </a:lnB>
                    <a:solidFill>
                      <a:srgbClr val="182B40"/>
                    </a:solidFill>
                  </a:tcPr>
                </a:tc>
              </a:tr>
              <a:tr h="555625">
                <a:tc>
                  <a:txBody>
                    <a:bodyPr/>
                    <a:lstStyle/>
                    <a:p>
                      <a:r>
                        <a:rPr sz="1650" b="0">
                          <a:solidFill>
                            <a:srgbClr val="182B40"/>
                          </a:solidFill>
                          <a:latin typeface="Hiragino Sans GB"/>
                          <a:ea typeface="Hiragino Sans GB"/>
                          <a:cs typeface="Hiragino Sans GB"/>
                        </a:rPr>
                        <a:t>DepthTrack / 50</a:t>
                      </a:r>
                    </a:p>
                  </a:txBody>
                  <a:tcPr marL="91440" marR="91440" marT="45720" marB="45720">
                    <a:lnL w="9525">
                      <a:solidFill>
                        <a:srgbClr val="D9E1E9"/>
                      </a:solidFill>
                      <a:prstDash val="solid"/>
                    </a:lnL>
                    <a:lnR w="9525">
                      <a:solidFill>
                        <a:srgbClr val="D9E1E9"/>
                      </a:solidFill>
                      <a:prstDash val="solid"/>
                    </a:lnR>
                    <a:lnT w="9525" cmpd="sng">
                      <a:solidFill>
                        <a:srgbClr val="D9E1E9"/>
                      </a:solidFill>
                      <a:prstDash val="solid"/>
                    </a:lnT>
                    <a:lnB w="9525">
                      <a:solidFill>
                        <a:srgbClr val="D9E1E9"/>
                      </a:solidFill>
                      <a:prstDash val="solid"/>
                    </a:lnB>
                    <a:solidFill>
                      <a:srgbClr val="FFFFFF"/>
                    </a:solidFill>
                  </a:tcPr>
                </a:tc>
                <a:tc>
                  <a:txBody>
                    <a:bodyPr/>
                    <a:lstStyle/>
                    <a:p>
                      <a:r>
                        <a:rPr sz="1650" b="0">
                          <a:solidFill>
                            <a:srgbClr val="182B40"/>
                          </a:solidFill>
                          <a:latin typeface="Hiragino Sans GB"/>
                          <a:ea typeface="Hiragino Sans GB"/>
                          <a:cs typeface="Hiragino Sans GB"/>
                        </a:rPr>
                        <a:t>PR / RE / F</a:t>
                      </a:r>
                    </a:p>
                  </a:txBody>
                  <a:tcPr marL="91440" marR="91440" marT="45720" marB="45720">
                    <a:lnL w="9525" cmpd="sng">
                      <a:solidFill>
                        <a:srgbClr val="D9E1E9"/>
                      </a:solidFill>
                      <a:prstDash val="solid"/>
                    </a:lnL>
                    <a:lnR w="9525">
                      <a:solidFill>
                        <a:srgbClr val="D9E1E9"/>
                      </a:solidFill>
                      <a:prstDash val="solid"/>
                    </a:lnR>
                    <a:lnT w="9525" cmpd="sng">
                      <a:solidFill>
                        <a:srgbClr val="D9E1E9"/>
                      </a:solidFill>
                      <a:prstDash val="solid"/>
                    </a:lnT>
                    <a:lnB w="9525">
                      <a:solidFill>
                        <a:srgbClr val="D9E1E9"/>
                      </a:solidFill>
                      <a:prstDash val="solid"/>
                    </a:lnB>
                    <a:solidFill>
                      <a:srgbClr val="FFFFFF"/>
                    </a:solidFill>
                  </a:tcPr>
                </a:tc>
                <a:tc>
                  <a:txBody>
                    <a:bodyPr/>
                    <a:lstStyle/>
                    <a:p>
                      <a:r>
                        <a:rPr sz="1650" b="0">
                          <a:solidFill>
                            <a:srgbClr val="182B40"/>
                          </a:solidFill>
                          <a:latin typeface="Hiragino Sans GB"/>
                          <a:ea typeface="Hiragino Sans GB"/>
                          <a:cs typeface="Hiragino Sans GB"/>
                        </a:rPr>
                        <a:t>62.9096 / 63.5460 / 63.2262</a:t>
                      </a:r>
                    </a:p>
                  </a:txBody>
                  <a:tcPr marL="91440" marR="91440" marT="45720" marB="45720">
                    <a:lnL w="9525" cmpd="sng">
                      <a:solidFill>
                        <a:srgbClr val="D9E1E9"/>
                      </a:solidFill>
                      <a:prstDash val="solid"/>
                    </a:lnL>
                    <a:lnR w="9525">
                      <a:solidFill>
                        <a:srgbClr val="D9E1E9"/>
                      </a:solidFill>
                      <a:prstDash val="solid"/>
                    </a:lnR>
                    <a:lnT w="9525" cmpd="sng">
                      <a:solidFill>
                        <a:srgbClr val="D9E1E9"/>
                      </a:solidFill>
                      <a:prstDash val="solid"/>
                    </a:lnT>
                    <a:lnB w="9525">
                      <a:solidFill>
                        <a:srgbClr val="D9E1E9"/>
                      </a:solidFill>
                      <a:prstDash val="solid"/>
                    </a:lnB>
                    <a:solidFill>
                      <a:srgbClr val="FFFFFF"/>
                    </a:solidFill>
                  </a:tcPr>
                </a:tc>
                <a:tc>
                  <a:txBody>
                    <a:bodyPr/>
                    <a:lstStyle/>
                    <a:p>
                      <a:r>
                        <a:rPr sz="1650" b="0">
                          <a:solidFill>
                            <a:srgbClr val="182B40"/>
                          </a:solidFill>
                          <a:latin typeface="Hiragino Sans GB"/>
                          <a:ea typeface="Hiragino Sans GB"/>
                          <a:cs typeface="Hiragino Sans GB"/>
                        </a:rPr>
                        <a:t>62.9 / 63.5 / 63.2</a:t>
                      </a:r>
                    </a:p>
                  </a:txBody>
                  <a:tcPr marL="91440" marR="91440" marT="45720" marB="45720">
                    <a:lnL w="9525" cmpd="sng">
                      <a:solidFill>
                        <a:srgbClr val="D9E1E9"/>
                      </a:solidFill>
                      <a:prstDash val="solid"/>
                    </a:lnL>
                    <a:lnR w="9525">
                      <a:solidFill>
                        <a:srgbClr val="D9E1E9"/>
                      </a:solidFill>
                      <a:prstDash val="solid"/>
                    </a:lnR>
                    <a:lnT w="9525" cmpd="sng">
                      <a:solidFill>
                        <a:srgbClr val="D9E1E9"/>
                      </a:solidFill>
                      <a:prstDash val="solid"/>
                    </a:lnT>
                    <a:lnB w="9525">
                      <a:solidFill>
                        <a:srgbClr val="D9E1E9"/>
                      </a:solidFill>
                      <a:prstDash val="solid"/>
                    </a:lnB>
                    <a:solidFill>
                      <a:srgbClr val="FFFFFF"/>
                    </a:solidFill>
                  </a:tcPr>
                </a:tc>
              </a:tr>
              <a:tr h="555625">
                <a:tc>
                  <a:txBody>
                    <a:bodyPr/>
                    <a:lstStyle/>
                    <a:p>
                      <a:r>
                        <a:rPr sz="1650" b="0">
                          <a:solidFill>
                            <a:srgbClr val="182B40"/>
                          </a:solidFill>
                          <a:latin typeface="Hiragino Sans GB"/>
                          <a:ea typeface="Hiragino Sans GB"/>
                          <a:cs typeface="Hiragino Sans GB"/>
                        </a:rPr>
                        <a:t>LasHeR / 245</a:t>
                      </a:r>
                    </a:p>
                  </a:txBody>
                  <a:tcPr marL="91440" marR="91440" marT="45720" marB="45720">
                    <a:lnL w="9525">
                      <a:solidFill>
                        <a:srgbClr val="D9E1E9"/>
                      </a:solidFill>
                      <a:prstDash val="solid"/>
                    </a:lnL>
                    <a:lnR w="9525">
                      <a:solidFill>
                        <a:srgbClr val="D9E1E9"/>
                      </a:solidFill>
                      <a:prstDash val="solid"/>
                    </a:lnR>
                    <a:lnT w="9525" cmpd="sng">
                      <a:solidFill>
                        <a:srgbClr val="D9E1E9"/>
                      </a:solidFill>
                      <a:prstDash val="solid"/>
                    </a:lnT>
                    <a:lnB w="9525">
                      <a:solidFill>
                        <a:srgbClr val="D9E1E9"/>
                      </a:solidFill>
                      <a:prstDash val="solid"/>
                    </a:lnB>
                    <a:solidFill>
                      <a:srgbClr val="EEF3F7"/>
                    </a:solidFill>
                  </a:tcPr>
                </a:tc>
                <a:tc>
                  <a:txBody>
                    <a:bodyPr/>
                    <a:lstStyle/>
                    <a:p>
                      <a:r>
                        <a:rPr sz="1650" b="0">
                          <a:solidFill>
                            <a:srgbClr val="182B40"/>
                          </a:solidFill>
                          <a:latin typeface="Hiragino Sans GB"/>
                          <a:ea typeface="Hiragino Sans GB"/>
                          <a:cs typeface="Hiragino Sans GB"/>
                        </a:rPr>
                        <a:t>PR / NPR / SR</a:t>
                      </a:r>
                    </a:p>
                  </a:txBody>
                  <a:tcPr marL="91440" marR="91440" marT="45720" marB="45720">
                    <a:lnL w="9525" cmpd="sng">
                      <a:solidFill>
                        <a:srgbClr val="D9E1E9"/>
                      </a:solidFill>
                      <a:prstDash val="solid"/>
                    </a:lnL>
                    <a:lnR w="9525">
                      <a:solidFill>
                        <a:srgbClr val="D9E1E9"/>
                      </a:solidFill>
                      <a:prstDash val="solid"/>
                    </a:lnR>
                    <a:lnT w="9525" cmpd="sng">
                      <a:solidFill>
                        <a:srgbClr val="D9E1E9"/>
                      </a:solidFill>
                      <a:prstDash val="solid"/>
                    </a:lnT>
                    <a:lnB w="9525">
                      <a:solidFill>
                        <a:srgbClr val="D9E1E9"/>
                      </a:solidFill>
                      <a:prstDash val="solid"/>
                    </a:lnB>
                    <a:solidFill>
                      <a:srgbClr val="EEF3F7"/>
                    </a:solidFill>
                  </a:tcPr>
                </a:tc>
                <a:tc>
                  <a:txBody>
                    <a:bodyPr/>
                    <a:lstStyle/>
                    <a:p>
                      <a:r>
                        <a:rPr sz="1650" b="0">
                          <a:solidFill>
                            <a:srgbClr val="182B40"/>
                          </a:solidFill>
                          <a:latin typeface="Hiragino Sans GB"/>
                          <a:ea typeface="Hiragino Sans GB"/>
                          <a:cs typeface="Hiragino Sans GB"/>
                        </a:rPr>
                        <a:t>71.5961 / 67.4782 / 57.2631</a:t>
                      </a:r>
                    </a:p>
                  </a:txBody>
                  <a:tcPr marL="91440" marR="91440" marT="45720" marB="45720">
                    <a:lnL w="9525" cmpd="sng">
                      <a:solidFill>
                        <a:srgbClr val="D9E1E9"/>
                      </a:solidFill>
                      <a:prstDash val="solid"/>
                    </a:lnL>
                    <a:lnR w="9525">
                      <a:solidFill>
                        <a:srgbClr val="D9E1E9"/>
                      </a:solidFill>
                      <a:prstDash val="solid"/>
                    </a:lnR>
                    <a:lnT w="9525" cmpd="sng">
                      <a:solidFill>
                        <a:srgbClr val="D9E1E9"/>
                      </a:solidFill>
                      <a:prstDash val="solid"/>
                    </a:lnT>
                    <a:lnB w="9525">
                      <a:solidFill>
                        <a:srgbClr val="D9E1E9"/>
                      </a:solidFill>
                      <a:prstDash val="solid"/>
                    </a:lnB>
                    <a:solidFill>
                      <a:srgbClr val="EEF3F7"/>
                    </a:solidFill>
                  </a:tcPr>
                </a:tc>
                <a:tc>
                  <a:txBody>
                    <a:bodyPr/>
                    <a:lstStyle/>
                    <a:p>
                      <a:r>
                        <a:rPr sz="1650" b="0">
                          <a:solidFill>
                            <a:srgbClr val="182B40"/>
                          </a:solidFill>
                          <a:latin typeface="Hiragino Sans GB"/>
                          <a:ea typeface="Hiragino Sans GB"/>
                          <a:cs typeface="Hiragino Sans GB"/>
                        </a:rPr>
                        <a:t>71.6 / 67.5 / 57.3</a:t>
                      </a:r>
                    </a:p>
                  </a:txBody>
                  <a:tcPr marL="91440" marR="91440" marT="45720" marB="45720">
                    <a:lnL w="9525" cmpd="sng">
                      <a:solidFill>
                        <a:srgbClr val="D9E1E9"/>
                      </a:solidFill>
                      <a:prstDash val="solid"/>
                    </a:lnL>
                    <a:lnR w="9525">
                      <a:solidFill>
                        <a:srgbClr val="D9E1E9"/>
                      </a:solidFill>
                      <a:prstDash val="solid"/>
                    </a:lnR>
                    <a:lnT w="9525" cmpd="sng">
                      <a:solidFill>
                        <a:srgbClr val="D9E1E9"/>
                      </a:solidFill>
                      <a:prstDash val="solid"/>
                    </a:lnT>
                    <a:lnB w="9525">
                      <a:solidFill>
                        <a:srgbClr val="D9E1E9"/>
                      </a:solidFill>
                      <a:prstDash val="solid"/>
                    </a:lnB>
                    <a:solidFill>
                      <a:srgbClr val="EEF3F7"/>
                    </a:solidFill>
                  </a:tcPr>
                </a:tc>
              </a:tr>
              <a:tr h="555625">
                <a:tc>
                  <a:txBody>
                    <a:bodyPr/>
                    <a:lstStyle/>
                    <a:p>
                      <a:r>
                        <a:rPr sz="1650" b="0">
                          <a:solidFill>
                            <a:srgbClr val="182B40"/>
                          </a:solidFill>
                          <a:latin typeface="Hiragino Sans GB"/>
                          <a:ea typeface="Hiragino Sans GB"/>
                          <a:cs typeface="Hiragino Sans GB"/>
                        </a:rPr>
                        <a:t>VisEvent / 320</a:t>
                      </a:r>
                    </a:p>
                  </a:txBody>
                  <a:tcPr marL="91440" marR="91440" marT="45720" marB="45720">
                    <a:lnL w="9525">
                      <a:solidFill>
                        <a:srgbClr val="D9E1E9"/>
                      </a:solidFill>
                      <a:prstDash val="solid"/>
                    </a:lnL>
                    <a:lnR w="9525">
                      <a:solidFill>
                        <a:srgbClr val="D9E1E9"/>
                      </a:solidFill>
                      <a:prstDash val="solid"/>
                    </a:lnR>
                    <a:lnT w="9525" cmpd="sng">
                      <a:solidFill>
                        <a:srgbClr val="D9E1E9"/>
                      </a:solidFill>
                      <a:prstDash val="solid"/>
                    </a:lnT>
                    <a:lnB w="9525">
                      <a:solidFill>
                        <a:srgbClr val="D9E1E9"/>
                      </a:solidFill>
                      <a:prstDash val="solid"/>
                    </a:lnB>
                    <a:solidFill>
                      <a:srgbClr val="FFFFFF"/>
                    </a:solidFill>
                  </a:tcPr>
                </a:tc>
                <a:tc>
                  <a:txBody>
                    <a:bodyPr/>
                    <a:lstStyle/>
                    <a:p>
                      <a:r>
                        <a:rPr sz="1650" b="0">
                          <a:solidFill>
                            <a:srgbClr val="182B40"/>
                          </a:solidFill>
                          <a:latin typeface="Hiragino Sans GB"/>
                          <a:ea typeface="Hiragino Sans GB"/>
                          <a:cs typeface="Hiragino Sans GB"/>
                        </a:rPr>
                        <a:t>PR / SR</a:t>
                      </a:r>
                    </a:p>
                  </a:txBody>
                  <a:tcPr marL="91440" marR="91440" marT="45720" marB="45720">
                    <a:lnL w="9525" cmpd="sng">
                      <a:solidFill>
                        <a:srgbClr val="D9E1E9"/>
                      </a:solidFill>
                      <a:prstDash val="solid"/>
                    </a:lnL>
                    <a:lnR w="9525">
                      <a:solidFill>
                        <a:srgbClr val="D9E1E9"/>
                      </a:solidFill>
                      <a:prstDash val="solid"/>
                    </a:lnR>
                    <a:lnT w="9525" cmpd="sng">
                      <a:solidFill>
                        <a:srgbClr val="D9E1E9"/>
                      </a:solidFill>
                      <a:prstDash val="solid"/>
                    </a:lnT>
                    <a:lnB w="9525">
                      <a:solidFill>
                        <a:srgbClr val="D9E1E9"/>
                      </a:solidFill>
                      <a:prstDash val="solid"/>
                    </a:lnB>
                    <a:solidFill>
                      <a:srgbClr val="FFFFFF"/>
                    </a:solidFill>
                  </a:tcPr>
                </a:tc>
                <a:tc>
                  <a:txBody>
                    <a:bodyPr/>
                    <a:lstStyle/>
                    <a:p>
                      <a:r>
                        <a:rPr sz="1650" b="0">
                          <a:solidFill>
                            <a:srgbClr val="182B40"/>
                          </a:solidFill>
                          <a:latin typeface="Hiragino Sans GB"/>
                          <a:ea typeface="Hiragino Sans GB"/>
                          <a:cs typeface="Hiragino Sans GB"/>
                        </a:rPr>
                        <a:t>77.0950 / 60.2610</a:t>
                      </a:r>
                    </a:p>
                  </a:txBody>
                  <a:tcPr marL="91440" marR="91440" marT="45720" marB="45720">
                    <a:lnL w="9525" cmpd="sng">
                      <a:solidFill>
                        <a:srgbClr val="D9E1E9"/>
                      </a:solidFill>
                      <a:prstDash val="solid"/>
                    </a:lnL>
                    <a:lnR w="9525">
                      <a:solidFill>
                        <a:srgbClr val="D9E1E9"/>
                      </a:solidFill>
                      <a:prstDash val="solid"/>
                    </a:lnR>
                    <a:lnT w="9525" cmpd="sng">
                      <a:solidFill>
                        <a:srgbClr val="D9E1E9"/>
                      </a:solidFill>
                      <a:prstDash val="solid"/>
                    </a:lnT>
                    <a:lnB w="9525">
                      <a:solidFill>
                        <a:srgbClr val="D9E1E9"/>
                      </a:solidFill>
                      <a:prstDash val="solid"/>
                    </a:lnB>
                    <a:solidFill>
                      <a:srgbClr val="FFFFFF"/>
                    </a:solidFill>
                  </a:tcPr>
                </a:tc>
                <a:tc>
                  <a:txBody>
                    <a:bodyPr/>
                    <a:lstStyle/>
                    <a:p>
                      <a:r>
                        <a:rPr sz="1650" b="0">
                          <a:solidFill>
                            <a:srgbClr val="182B40"/>
                          </a:solidFill>
                          <a:latin typeface="Hiragino Sans GB"/>
                          <a:ea typeface="Hiragino Sans GB"/>
                          <a:cs typeface="Hiragino Sans GB"/>
                        </a:rPr>
                        <a:t>77.1 / 60.3</a:t>
                      </a:r>
                    </a:p>
                  </a:txBody>
                  <a:tcPr marL="91440" marR="91440" marT="45720" marB="45720">
                    <a:lnL w="9525" cmpd="sng">
                      <a:solidFill>
                        <a:srgbClr val="D9E1E9"/>
                      </a:solidFill>
                      <a:prstDash val="solid"/>
                    </a:lnL>
                    <a:lnR w="9525">
                      <a:solidFill>
                        <a:srgbClr val="D9E1E9"/>
                      </a:solidFill>
                      <a:prstDash val="solid"/>
                    </a:lnR>
                    <a:lnT w="9525" cmpd="sng">
                      <a:solidFill>
                        <a:srgbClr val="D9E1E9"/>
                      </a:solidFill>
                      <a:prstDash val="solid"/>
                    </a:lnT>
                    <a:lnB w="9525">
                      <a:solidFill>
                        <a:srgbClr val="D9E1E9"/>
                      </a:solidFill>
                      <a:prstDash val="solid"/>
                    </a:lnB>
                    <a:solidFill>
                      <a:srgbClr val="FFFFFF"/>
                    </a:solidFill>
                  </a:tcPr>
                </a:tc>
              </a:tr>
              <a:tr h="555625">
                <a:tc>
                  <a:txBody>
                    <a:bodyPr/>
                    <a:lstStyle/>
                    <a:p>
                      <a:r>
                        <a:rPr sz="1650" b="0">
                          <a:solidFill>
                            <a:srgbClr val="182B40"/>
                          </a:solidFill>
                          <a:latin typeface="Hiragino Sans GB"/>
                          <a:ea typeface="Hiragino Sans GB"/>
                          <a:cs typeface="Hiragino Sans GB"/>
                        </a:rPr>
                        <a:t>RGBT234 / 234</a:t>
                      </a:r>
                    </a:p>
                  </a:txBody>
                  <a:tcPr marL="91440" marR="91440" marT="45720" marB="45720">
                    <a:lnL w="9525">
                      <a:solidFill>
                        <a:srgbClr val="D9E1E9"/>
                      </a:solidFill>
                      <a:prstDash val="solid"/>
                    </a:lnL>
                    <a:lnR w="9525">
                      <a:solidFill>
                        <a:srgbClr val="D9E1E9"/>
                      </a:solidFill>
                      <a:prstDash val="solid"/>
                    </a:lnR>
                    <a:lnT w="9525" cmpd="sng">
                      <a:solidFill>
                        <a:srgbClr val="D9E1E9"/>
                      </a:solidFill>
                      <a:prstDash val="solid"/>
                    </a:lnT>
                    <a:lnB w="9525">
                      <a:solidFill>
                        <a:srgbClr val="D9E1E9"/>
                      </a:solidFill>
                      <a:prstDash val="solid"/>
                    </a:lnB>
                    <a:solidFill>
                      <a:srgbClr val="EEF3F7"/>
                    </a:solidFill>
                  </a:tcPr>
                </a:tc>
                <a:tc>
                  <a:txBody>
                    <a:bodyPr/>
                    <a:lstStyle/>
                    <a:p>
                      <a:r>
                        <a:rPr sz="1650" b="0">
                          <a:solidFill>
                            <a:srgbClr val="182B40"/>
                          </a:solidFill>
                          <a:latin typeface="Hiragino Sans GB"/>
                          <a:ea typeface="Hiragino Sans GB"/>
                          <a:cs typeface="Hiragino Sans GB"/>
                        </a:rPr>
                        <a:t>MPR / MSR</a:t>
                      </a:r>
                    </a:p>
                  </a:txBody>
                  <a:tcPr marL="91440" marR="91440" marT="45720" marB="45720">
                    <a:lnL w="9525" cmpd="sng">
                      <a:solidFill>
                        <a:srgbClr val="D9E1E9"/>
                      </a:solidFill>
                      <a:prstDash val="solid"/>
                    </a:lnL>
                    <a:lnR w="9525">
                      <a:solidFill>
                        <a:srgbClr val="D9E1E9"/>
                      </a:solidFill>
                      <a:prstDash val="solid"/>
                    </a:lnR>
                    <a:lnT w="9525" cmpd="sng">
                      <a:solidFill>
                        <a:srgbClr val="D9E1E9"/>
                      </a:solidFill>
                      <a:prstDash val="solid"/>
                    </a:lnT>
                    <a:lnB w="9525">
                      <a:solidFill>
                        <a:srgbClr val="D9E1E9"/>
                      </a:solidFill>
                      <a:prstDash val="solid"/>
                    </a:lnB>
                    <a:solidFill>
                      <a:srgbClr val="EEF3F7"/>
                    </a:solidFill>
                  </a:tcPr>
                </a:tc>
                <a:tc>
                  <a:txBody>
                    <a:bodyPr/>
                    <a:lstStyle/>
                    <a:p>
                      <a:r>
                        <a:rPr sz="1650" b="0">
                          <a:solidFill>
                            <a:srgbClr val="182B40"/>
                          </a:solidFill>
                          <a:latin typeface="Hiragino Sans GB"/>
                          <a:ea typeface="Hiragino Sans GB"/>
                          <a:cs typeface="Hiragino Sans GB"/>
                        </a:rPr>
                        <a:t>87.8146 / 63.9083</a:t>
                      </a:r>
                    </a:p>
                  </a:txBody>
                  <a:tcPr marL="91440" marR="91440" marT="45720" marB="45720">
                    <a:lnL w="9525" cmpd="sng">
                      <a:solidFill>
                        <a:srgbClr val="D9E1E9"/>
                      </a:solidFill>
                      <a:prstDash val="solid"/>
                    </a:lnL>
                    <a:lnR w="9525">
                      <a:solidFill>
                        <a:srgbClr val="D9E1E9"/>
                      </a:solidFill>
                      <a:prstDash val="solid"/>
                    </a:lnR>
                    <a:lnT w="9525" cmpd="sng">
                      <a:solidFill>
                        <a:srgbClr val="D9E1E9"/>
                      </a:solidFill>
                      <a:prstDash val="solid"/>
                    </a:lnT>
                    <a:lnB w="9525">
                      <a:solidFill>
                        <a:srgbClr val="D9E1E9"/>
                      </a:solidFill>
                      <a:prstDash val="solid"/>
                    </a:lnB>
                    <a:solidFill>
                      <a:srgbClr val="EEF3F7"/>
                    </a:solidFill>
                  </a:tcPr>
                </a:tc>
                <a:tc>
                  <a:txBody>
                    <a:bodyPr/>
                    <a:lstStyle/>
                    <a:p>
                      <a:r>
                        <a:rPr sz="1650" b="0">
                          <a:solidFill>
                            <a:srgbClr val="182B40"/>
                          </a:solidFill>
                          <a:latin typeface="Hiragino Sans GB"/>
                          <a:ea typeface="Hiragino Sans GB"/>
                          <a:cs typeface="Hiragino Sans GB"/>
                        </a:rPr>
                        <a:t>87.8 / 63.9</a:t>
                      </a:r>
                    </a:p>
                  </a:txBody>
                  <a:tcPr marL="91440" marR="91440" marT="45720" marB="45720">
                    <a:lnL w="9525" cmpd="sng">
                      <a:solidFill>
                        <a:srgbClr val="D9E1E9"/>
                      </a:solidFill>
                      <a:prstDash val="solid"/>
                    </a:lnL>
                    <a:lnR w="9525">
                      <a:solidFill>
                        <a:srgbClr val="D9E1E9"/>
                      </a:solidFill>
                      <a:prstDash val="solid"/>
                    </a:lnR>
                    <a:lnT w="9525" cmpd="sng">
                      <a:solidFill>
                        <a:srgbClr val="D9E1E9"/>
                      </a:solidFill>
                      <a:prstDash val="solid"/>
                    </a:lnT>
                    <a:lnB w="9525">
                      <a:solidFill>
                        <a:srgbClr val="D9E1E9"/>
                      </a:solidFill>
                      <a:prstDash val="solid"/>
                    </a:lnB>
                    <a:solidFill>
                      <a:srgbClr val="EEF3F7"/>
                    </a:solidFill>
                  </a:tcPr>
                </a:tc>
              </a:tr>
              <a:tr h="555625">
                <a:tc>
                  <a:txBody>
                    <a:bodyPr/>
                    <a:lstStyle/>
                    <a:p>
                      <a:r>
                        <a:rPr sz="1650" b="0">
                          <a:solidFill>
                            <a:srgbClr val="182B40"/>
                          </a:solidFill>
                          <a:latin typeface="Hiragino Sans GB"/>
                          <a:ea typeface="Hiragino Sans GB"/>
                          <a:cs typeface="Hiragino Sans GB"/>
                        </a:rPr>
                        <a:t>VOT22-RGBD / 127</a:t>
                      </a:r>
                    </a:p>
                  </a:txBody>
                  <a:tcPr marL="91440" marR="91440" marT="45720" marB="45720">
                    <a:lnL w="9525">
                      <a:solidFill>
                        <a:srgbClr val="D9E1E9"/>
                      </a:solidFill>
                      <a:prstDash val="solid"/>
                    </a:lnL>
                    <a:lnR w="9525">
                      <a:solidFill>
                        <a:srgbClr val="D9E1E9"/>
                      </a:solidFill>
                      <a:prstDash val="solid"/>
                    </a:lnR>
                    <a:lnT w="9525" cmpd="sng">
                      <a:solidFill>
                        <a:srgbClr val="D9E1E9"/>
                      </a:solidFill>
                      <a:prstDash val="solid"/>
                    </a:lnT>
                    <a:lnB w="9525">
                      <a:solidFill>
                        <a:srgbClr val="D9E1E9"/>
                      </a:solidFill>
                      <a:prstDash val="solid"/>
                    </a:lnB>
                    <a:solidFill>
                      <a:srgbClr val="FFFFFF"/>
                    </a:solidFill>
                  </a:tcPr>
                </a:tc>
                <a:tc>
                  <a:txBody>
                    <a:bodyPr/>
                    <a:lstStyle/>
                    <a:p>
                      <a:r>
                        <a:rPr sz="1650" b="0">
                          <a:solidFill>
                            <a:srgbClr val="182B40"/>
                          </a:solidFill>
                          <a:latin typeface="Hiragino Sans GB"/>
                          <a:ea typeface="Hiragino Sans GB"/>
                          <a:cs typeface="Hiragino Sans GB"/>
                        </a:rPr>
                        <a:t>EAO / Acc / Rob</a:t>
                      </a:r>
                    </a:p>
                  </a:txBody>
                  <a:tcPr marL="91440" marR="91440" marT="45720" marB="45720">
                    <a:lnL w="9525" cmpd="sng">
                      <a:solidFill>
                        <a:srgbClr val="D9E1E9"/>
                      </a:solidFill>
                      <a:prstDash val="solid"/>
                    </a:lnL>
                    <a:lnR w="9525">
                      <a:solidFill>
                        <a:srgbClr val="D9E1E9"/>
                      </a:solidFill>
                      <a:prstDash val="solid"/>
                    </a:lnR>
                    <a:lnT w="9525" cmpd="sng">
                      <a:solidFill>
                        <a:srgbClr val="D9E1E9"/>
                      </a:solidFill>
                      <a:prstDash val="solid"/>
                    </a:lnT>
                    <a:lnB w="9525">
                      <a:solidFill>
                        <a:srgbClr val="D9E1E9"/>
                      </a:solidFill>
                      <a:prstDash val="solid"/>
                    </a:lnB>
                    <a:solidFill>
                      <a:srgbClr val="FFFFFF"/>
                    </a:solidFill>
                  </a:tcPr>
                </a:tc>
                <a:tc>
                  <a:txBody>
                    <a:bodyPr/>
                    <a:lstStyle/>
                    <a:p>
                      <a:r>
                        <a:rPr sz="1650" b="0">
                          <a:solidFill>
                            <a:srgbClr val="182B40"/>
                          </a:solidFill>
                          <a:latin typeface="Hiragino Sans GB"/>
                          <a:ea typeface="Hiragino Sans GB"/>
                          <a:cs typeface="Hiragino Sans GB"/>
                        </a:rPr>
                        <a:t>73.5672 / 82.0755 / 88.3893</a:t>
                      </a:r>
                    </a:p>
                  </a:txBody>
                  <a:tcPr marL="91440" marR="91440" marT="45720" marB="45720">
                    <a:lnL w="9525" cmpd="sng">
                      <a:solidFill>
                        <a:srgbClr val="D9E1E9"/>
                      </a:solidFill>
                      <a:prstDash val="solid"/>
                    </a:lnL>
                    <a:lnR w="9525">
                      <a:solidFill>
                        <a:srgbClr val="D9E1E9"/>
                      </a:solidFill>
                      <a:prstDash val="solid"/>
                    </a:lnR>
                    <a:lnT w="9525" cmpd="sng">
                      <a:solidFill>
                        <a:srgbClr val="D9E1E9"/>
                      </a:solidFill>
                      <a:prstDash val="solid"/>
                    </a:lnT>
                    <a:lnB w="9525">
                      <a:solidFill>
                        <a:srgbClr val="D9E1E9"/>
                      </a:solidFill>
                      <a:prstDash val="solid"/>
                    </a:lnB>
                    <a:solidFill>
                      <a:srgbClr val="FFFFFF"/>
                    </a:solidFill>
                  </a:tcPr>
                </a:tc>
                <a:tc>
                  <a:txBody>
                    <a:bodyPr/>
                    <a:lstStyle/>
                    <a:p>
                      <a:r>
                        <a:rPr sz="1650" b="0">
                          <a:solidFill>
                            <a:srgbClr val="182B40"/>
                          </a:solidFill>
                          <a:latin typeface="Hiragino Sans GB"/>
                          <a:ea typeface="Hiragino Sans GB"/>
                          <a:cs typeface="Hiragino Sans GB"/>
                        </a:rPr>
                        <a:t>73.6 / 82.1 / 88.4</a:t>
                      </a:r>
                    </a:p>
                  </a:txBody>
                  <a:tcPr marL="91440" marR="91440" marT="45720" marB="45720">
                    <a:lnL w="9525" cmpd="sng">
                      <a:solidFill>
                        <a:srgbClr val="D9E1E9"/>
                      </a:solidFill>
                      <a:prstDash val="solid"/>
                    </a:lnL>
                    <a:lnR w="9525">
                      <a:solidFill>
                        <a:srgbClr val="D9E1E9"/>
                      </a:solidFill>
                      <a:prstDash val="solid"/>
                    </a:lnR>
                    <a:lnT w="9525" cmpd="sng">
                      <a:solidFill>
                        <a:srgbClr val="D9E1E9"/>
                      </a:solidFill>
                      <a:prstDash val="solid"/>
                    </a:lnT>
                    <a:lnB w="9525">
                      <a:solidFill>
                        <a:srgbClr val="D9E1E9"/>
                      </a:solidFill>
                      <a:prstDash val="solid"/>
                    </a:lnB>
                    <a:solidFill>
                      <a:srgbClr val="FFFFFF"/>
                    </a:solidFill>
                  </a:tcPr>
                </a:tc>
              </a:tr>
            </a:tbl>
          </a:graphicData>
        </a:graphic>
      </p:graphicFrame>
      <p:sp>
        <p:nvSpPr>
          <p:cNvPr id="5" name="矩形 4">
            <a:extLst xmlns:a="http://schemas.openxmlformats.org/drawingml/2006/main">
              <a:ext uri="{FF2B5EF4-FFF2-40B4-BE49-F238E27FC236}">
                <a16:creationId xmlns:a16="http://schemas.microsoft.com/office/drawing/2014/main" id="{073BB330-81F1-4FB2-BFA2-09633290CED3}"/>
              </a:ext>
            </a:extLst>
          </p:cNvPr>
          <p:cNvSpPr>
            <a:spLocks xmlns:a="http://schemas.openxmlformats.org/drawingml/2006/main" noGrp="1"/>
          </p:cNvSpPr>
          <p:nvPr/>
        </p:nvSpPr>
        <p:spPr>
          <a:xfrm xmlns:a="http://schemas.openxmlformats.org/drawingml/2006/main">
            <a:off x="723900" y="53721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17E83"/>
                </a:solidFill>
                <a:latin typeface="Hiragino Sans GB"/>
                <a:ea typeface="Hiragino Sans GB"/>
                <a:cs typeface="Hiragino Sans GB"/>
              </a:defRPr>
            </a:defPPr>
          </a:lstStyle>
          <a:p xmlns:a="http://schemas.openxmlformats.org/drawingml/2006/main">
            <a:pPr>
              <a:buNone/>
              <a:defRPr sz="2175" b="1">
                <a:solidFill>
                  <a:srgbClr val="117E83"/>
                </a:solidFill>
                <a:latin typeface="Hiragino Sans GB"/>
                <a:ea typeface="Hiragino Sans GB"/>
                <a:cs typeface="Hiragino Sans GB"/>
              </a:defRPr>
            </a:pPr>
            <a:r>
              <a:rPr sz="2175" b="1">
                <a:solidFill>
                  <a:srgbClr val="117E83"/>
                </a:solidFill>
                <a:latin typeface="Hiragino Sans GB"/>
                <a:ea typeface="Hiragino Sans GB"/>
                <a:cs typeface="Hiragino Sans GB"/>
              </a:rPr>
              <a:t>Evaluation with official weights establishes a working baseline.</a:t>
            </a:r>
          </a:p>
        </p:txBody>
      </p:sp>
      <p:sp>
        <p:nvSpPr>
          <p:cNvPr id="6" name="矩形 5">
            <a:extLst xmlns:a="http://schemas.openxmlformats.org/drawingml/2006/main">
              <a:ext uri="{FF2B5EF4-FFF2-40B4-BE49-F238E27FC236}">
                <a16:creationId xmlns:a16="http://schemas.microsoft.com/office/drawing/2014/main" id="{9DD26891-24FF-4058-95B3-4E70547D16B6}"/>
              </a:ext>
            </a:extLst>
          </p:cNvPr>
          <p:cNvSpPr>
            <a:spLocks xmlns:a="http://schemas.openxmlformats.org/drawingml/2006/main" noGrp="1"/>
          </p:cNvSpPr>
          <p:nvPr/>
        </p:nvSpPr>
        <p:spPr>
          <a:xfrm xmlns:a="http://schemas.openxmlformats.org/drawingml/2006/main">
            <a:off x="628650" y="5943600"/>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637385"/>
                </a:solidFill>
                <a:latin typeface="Hiragino Sans GB"/>
                <a:ea typeface="Hiragino Sans GB"/>
                <a:cs typeface="Hiragino Sans GB"/>
              </a:defRPr>
            </a:defPPr>
          </a:lstStyle>
          <a:p xmlns:a="http://schemas.openxmlformats.org/drawingml/2006/main">
            <a:pPr>
              <a:buNone/>
              <a:defRPr sz="1425" b="0">
                <a:solidFill>
                  <a:srgbClr val="637385"/>
                </a:solidFill>
                <a:latin typeface="Hiragino Sans GB"/>
                <a:ea typeface="Hiragino Sans GB"/>
                <a:cs typeface="Hiragino Sans GB"/>
              </a:defRPr>
            </a:pPr>
            <a:r>
              <a:rPr sz="1425" b="0">
                <a:solidFill>
                  <a:srgbClr val="637385"/>
                </a:solidFill>
                <a:latin typeface="Hiragino Sans GB"/>
                <a:ea typeface="Hiragino Sans GB"/>
                <a:cs typeface="Hiragino Sans GB"/>
              </a:rPr>
              <a:t>LasHeR, VisEvent and RGBT234 use Python reference evaluation. MATLAB cross-validation is pending.</a:t>
            </a:r>
          </a:p>
        </p:txBody>
      </p:sp>
    </p:spTree>
    <p:extLst>
      <p:ext uri="{BB962C8B-B14F-4D97-AF65-F5344CB8AC3E}">
        <p14:creationId xmlns:p14="http://schemas.microsoft.com/office/powerpoint/2010/main" val="1983772958"/>
      </p:ext>
    </p:extLst>
  </p:cSld>
</p:sld>
</file>

<file path=ppt/slides/slide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7" name="矩形 6">
            <a:extLst xmlns:a="http://schemas.openxmlformats.org/drawingml/2006/main">
              <a:ext uri="{FF2B5EF4-FFF2-40B4-BE49-F238E27FC236}">
                <a16:creationId xmlns:a16="http://schemas.microsoft.com/office/drawing/2014/main" id="{9D42FB43-807D-438C-B58E-89AC1A0AC10A}"/>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82B40"/>
                </a:solidFill>
                <a:latin typeface="Hiragino Sans GB"/>
                <a:ea typeface="Hiragino Sans GB"/>
                <a:cs typeface="Hiragino Sans GB"/>
              </a:defRPr>
            </a:defPPr>
          </a:lstStyle>
          <a:p xmlns:a="http://schemas.openxmlformats.org/drawingml/2006/main">
            <a:pPr>
              <a:buNone/>
              <a:defRPr sz="3300" b="1">
                <a:solidFill>
                  <a:srgbClr val="182B40"/>
                </a:solidFill>
                <a:latin typeface="Hiragino Sans GB"/>
                <a:ea typeface="Hiragino Sans GB"/>
                <a:cs typeface="Hiragino Sans GB"/>
              </a:defRPr>
            </a:pPr>
            <a:r>
              <a:rPr sz="3300" b="1">
                <a:solidFill>
                  <a:srgbClr val="182B40"/>
                </a:solidFill>
                <a:latin typeface="Hiragino Sans GB"/>
                <a:ea typeface="Hiragino Sans GB"/>
                <a:cs typeface="Hiragino Sans GB"/>
              </a:rPr>
              <a:t>Training Configuration and Completion</a:t>
            </a:r>
          </a:p>
        </p:txBody>
      </p:sp>
      <p:sp>
        <p:nvSpPr>
          <p:cNvPr id="2" name="矩形 1">
            <a:extLst xmlns:a="http://schemas.openxmlformats.org/drawingml/2006/main">
              <a:ext uri="{FF2B5EF4-FFF2-40B4-BE49-F238E27FC236}">
                <a16:creationId xmlns:a16="http://schemas.microsoft.com/office/drawing/2014/main" id="{25A9091C-0E10-4A96-A01F-2642B280DE3C}"/>
              </a:ext>
            </a:extLst>
          </p:cNvPr>
          <p:cNvSpPr>
            <a:spLocks xmlns:a="http://schemas.openxmlformats.org/drawingml/2006/main" noGrp="1"/>
          </p:cNvSpPr>
          <p:nvPr/>
        </p:nvSpPr>
        <p:spPr>
          <a:xfrm xmlns:a="http://schemas.openxmlformats.org/drawingml/2006/main">
            <a:off x="628650" y="1143000"/>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37385"/>
                </a:solidFill>
                <a:latin typeface="Hiragino Sans GB"/>
                <a:ea typeface="Hiragino Sans GB"/>
                <a:cs typeface="Hiragino Sans GB"/>
              </a:defRPr>
            </a:defPPr>
          </a:lstStyle>
          <a:p xmlns:a="http://schemas.openxmlformats.org/drawingml/2006/main">
            <a:pPr>
              <a:buNone/>
              <a:defRPr sz="1800" b="0">
                <a:solidFill>
                  <a:srgbClr val="637385"/>
                </a:solidFill>
                <a:latin typeface="Hiragino Sans GB"/>
                <a:ea typeface="Hiragino Sans GB"/>
                <a:cs typeface="Hiragino Sans GB"/>
              </a:defRPr>
            </a:pPr>
            <a:r>
              <a:rPr sz="1800" b="0">
                <a:solidFill>
                  <a:srgbClr val="637385"/>
                </a:solidFill>
                <a:latin typeface="Hiragino Sans GB"/>
                <a:ea typeface="Hiragino Sans GB"/>
                <a:cs typeface="Hiragino Sans GB"/>
              </a:rPr>
              <a:t>Each modality uses its own dataset and training schedule.</a:t>
            </a:r>
          </a:p>
        </p:txBody>
      </p:sp>
      <p:sp>
        <p:nvSpPr>
          <p:cNvPr id="3" name="矩形 2">
            <a:extLst xmlns:a="http://schemas.openxmlformats.org/drawingml/2006/main">
              <a:ext uri="{FF2B5EF4-FFF2-40B4-BE49-F238E27FC236}">
                <a16:creationId xmlns:a16="http://schemas.microsoft.com/office/drawing/2014/main" id="{59AF805E-FD11-4A47-88E3-627AC8833379}"/>
              </a:ext>
            </a:extLst>
          </p:cNvPr>
          <p:cNvSpPr>
            <a:spLocks xmlns:a="http://schemas.openxmlformats.org/drawingml/2006/main" noGrp="1"/>
          </p:cNvSpPr>
          <p:nvPr/>
        </p:nvSpPr>
        <p:spPr>
          <a:xfrm xmlns:a="http://schemas.openxmlformats.org/drawingml/2006/main">
            <a:off x="11144250" y="63246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37385"/>
                </a:solidFill>
                <a:latin typeface="Hiragino Sans GB"/>
                <a:ea typeface="Hiragino Sans GB"/>
                <a:cs typeface="Hiragino Sans GB"/>
              </a:defRPr>
            </a:defPPr>
          </a:lstStyle>
          <a:p xmlns:a="http://schemas.openxmlformats.org/drawingml/2006/main">
            <a:pPr>
              <a:buNone/>
              <a:defRPr sz="1350" b="0">
                <a:solidFill>
                  <a:srgbClr val="637385"/>
                </a:solidFill>
                <a:latin typeface="Hiragino Sans GB"/>
                <a:ea typeface="Hiragino Sans GB"/>
                <a:cs typeface="Hiragino Sans GB"/>
              </a:defRPr>
            </a:pPr>
            <a:r>
              <a:rPr sz="1350" b="0">
                <a:solidFill>
                  <a:srgbClr val="637385"/>
                </a:solidFill>
                <a:latin typeface="Hiragino Sans GB"/>
                <a:ea typeface="Hiragino Sans GB"/>
                <a:cs typeface="Hiragino Sans GB"/>
              </a:rPr>
              <a:t>16</a:t>
            </a:r>
          </a:p>
        </p:txBody>
      </p:sp>
      <p:graphicFrame>
        <p:nvGraphicFramePr>
          <p:cNvPr id="4" name="表格 3">
            <a:extLst xmlns:a="http://schemas.openxmlformats.org/drawingml/2006/main">
              <a:ext uri="{FF2B5EF4-FFF2-40B4-BE49-F238E27FC236}">
                <a16:creationId xmlns:a16="http://schemas.microsoft.com/office/drawing/2014/main" id="{88C365F6-5823-45F1-BBF1-C266EFEDE16B}"/>
              </a:ext>
            </a:extLst>
          </p:cNvPr>
          <p:cNvGraphicFramePr/>
          <p:nvPr/>
        </p:nvGraphicFramePr>
        <p:xfrm>
          <a:off xmlns:a="http://schemas.openxmlformats.org/drawingml/2006/main" x="628650" y="1809750"/>
          <a:ext xmlns:a="http://schemas.openxmlformats.org/drawingml/2006/main" cx="10934700" cy="2857500"/>
        </p:xfrm>
        <a:graphic xmlns:a="http://schemas.openxmlformats.org/drawingml/2006/main">
          <a:graphicData uri="http://schemas.openxmlformats.org/drawingml/2006/table">
            <a:tbl>
              <a:tblPr/>
              <a:tblGrid>
                <a:gridCol w="2333625"/>
                <a:gridCol w="3238500"/>
                <a:gridCol w="2667000"/>
                <a:gridCol w="2695575"/>
              </a:tblGrid>
              <a:tr h="714375">
                <a:tc>
                  <a:txBody>
                    <a:bodyPr/>
                    <a:lstStyle/>
                    <a:p>
                      <a:r>
                        <a:rPr sz="2025" b="1">
                          <a:solidFill>
                            <a:srgbClr val="FFFFFF"/>
                          </a:solidFill>
                          <a:latin typeface="Hiragino Sans GB"/>
                          <a:ea typeface="Hiragino Sans GB"/>
                          <a:cs typeface="Hiragino Sans GB"/>
                        </a:rPr>
                        <a:t>Task</a:t>
                      </a:r>
                    </a:p>
                  </a:txBody>
                  <a:tcPr marL="91440" marR="91440" marT="45720" marB="45720">
                    <a:lnL w="9525">
                      <a:solidFill>
                        <a:srgbClr val="D9E1E9"/>
                      </a:solidFill>
                      <a:prstDash val="solid"/>
                    </a:lnL>
                    <a:lnR w="9525">
                      <a:solidFill>
                        <a:srgbClr val="D9E1E9"/>
                      </a:solidFill>
                      <a:prstDash val="solid"/>
                    </a:lnR>
                    <a:lnT w="9525">
                      <a:solidFill>
                        <a:srgbClr val="D9E1E9"/>
                      </a:solidFill>
                      <a:prstDash val="solid"/>
                    </a:lnT>
                    <a:lnB w="9525">
                      <a:solidFill>
                        <a:srgbClr val="D9E1E9"/>
                      </a:solidFill>
                      <a:prstDash val="solid"/>
                    </a:lnB>
                    <a:solidFill>
                      <a:srgbClr val="182B40"/>
                    </a:solidFill>
                  </a:tcPr>
                </a:tc>
                <a:tc>
                  <a:txBody>
                    <a:bodyPr/>
                    <a:lstStyle/>
                    <a:p>
                      <a:r>
                        <a:rPr sz="2025" b="1">
                          <a:solidFill>
                            <a:srgbClr val="FFFFFF"/>
                          </a:solidFill>
                          <a:latin typeface="Hiragino Sans GB"/>
                          <a:ea typeface="Hiragino Sans GB"/>
                          <a:cs typeface="Hiragino Sans GB"/>
                        </a:rPr>
                        <a:t>Training dataset</a:t>
                      </a:r>
                      <a:endParaRPr sz="2025" b="1">
                        <a:solidFill>
                          <a:srgbClr val="FFFFFF"/>
                        </a:solidFill>
                        <a:latin typeface="Hiragino Sans GB"/>
                        <a:ea typeface="Hiragino Sans GB"/>
                        <a:cs typeface="Hiragino Sans GB"/>
                      </a:endParaRPr>
                    </a:p>
                  </a:txBody>
                  <a:tcPr marL="91440" marR="91440" marT="45720" marB="45720">
                    <a:lnL w="9525" cmpd="sng">
                      <a:solidFill>
                        <a:srgbClr val="D9E1E9"/>
                      </a:solidFill>
                      <a:prstDash val="solid"/>
                    </a:lnL>
                    <a:lnR w="9525">
                      <a:solidFill>
                        <a:srgbClr val="D9E1E9"/>
                      </a:solidFill>
                      <a:prstDash val="solid"/>
                    </a:lnR>
                    <a:lnT w="9525">
                      <a:solidFill>
                        <a:srgbClr val="D9E1E9"/>
                      </a:solidFill>
                      <a:prstDash val="solid"/>
                    </a:lnT>
                    <a:lnB w="9525">
                      <a:solidFill>
                        <a:srgbClr val="D9E1E9"/>
                      </a:solidFill>
                      <a:prstDash val="solid"/>
                    </a:lnB>
                    <a:solidFill>
                      <a:srgbClr val="182B40"/>
                    </a:solidFill>
                  </a:tcPr>
                </a:tc>
                <a:tc>
                  <a:txBody>
                    <a:bodyPr/>
                    <a:lstStyle/>
                    <a:p>
                      <a:r>
                        <a:rPr sz="2025" b="1">
                          <a:solidFill>
                            <a:srgbClr val="FFFFFF"/>
                          </a:solidFill>
                          <a:latin typeface="Hiragino Sans GB"/>
                          <a:ea typeface="Hiragino Sans GB"/>
                          <a:cs typeface="Hiragino Sans GB"/>
                        </a:rPr>
                        <a:t>Epochs</a:t>
                      </a:r>
                    </a:p>
                  </a:txBody>
                  <a:tcPr marL="91440" marR="91440" marT="45720" marB="45720">
                    <a:lnL w="9525" cmpd="sng">
                      <a:solidFill>
                        <a:srgbClr val="D9E1E9"/>
                      </a:solidFill>
                      <a:prstDash val="solid"/>
                    </a:lnL>
                    <a:lnR w="9525">
                      <a:solidFill>
                        <a:srgbClr val="D9E1E9"/>
                      </a:solidFill>
                      <a:prstDash val="solid"/>
                    </a:lnR>
                    <a:lnT w="9525">
                      <a:solidFill>
                        <a:srgbClr val="D9E1E9"/>
                      </a:solidFill>
                      <a:prstDash val="solid"/>
                    </a:lnT>
                    <a:lnB w="9525">
                      <a:solidFill>
                        <a:srgbClr val="D9E1E9"/>
                      </a:solidFill>
                      <a:prstDash val="solid"/>
                    </a:lnB>
                    <a:solidFill>
                      <a:srgbClr val="182B40"/>
                    </a:solidFill>
                  </a:tcPr>
                </a:tc>
                <a:tc>
                  <a:txBody>
                    <a:bodyPr/>
                    <a:lstStyle/>
                    <a:p>
                      <a:r>
                        <a:rPr sz="2025" b="1">
                          <a:solidFill>
                            <a:srgbClr val="FFFFFF"/>
                          </a:solidFill>
                          <a:latin typeface="Hiragino Sans GB"/>
                          <a:ea typeface="Hiragino Sans GB"/>
                          <a:cs typeface="Hiragino Sans GB"/>
                        </a:rPr>
                        <a:t>Status</a:t>
                      </a:r>
                    </a:p>
                  </a:txBody>
                  <a:tcPr marL="91440" marR="91440" marT="45720" marB="45720">
                    <a:lnL w="9525" cmpd="sng">
                      <a:solidFill>
                        <a:srgbClr val="D9E1E9"/>
                      </a:solidFill>
                      <a:prstDash val="solid"/>
                    </a:lnL>
                    <a:lnR w="9525">
                      <a:solidFill>
                        <a:srgbClr val="D9E1E9"/>
                      </a:solidFill>
                      <a:prstDash val="solid"/>
                    </a:lnR>
                    <a:lnT w="9525">
                      <a:solidFill>
                        <a:srgbClr val="D9E1E9"/>
                      </a:solidFill>
                      <a:prstDash val="solid"/>
                    </a:lnT>
                    <a:lnB w="9525">
                      <a:solidFill>
                        <a:srgbClr val="D9E1E9"/>
                      </a:solidFill>
                      <a:prstDash val="solid"/>
                    </a:lnB>
                    <a:solidFill>
                      <a:srgbClr val="182B40"/>
                    </a:solidFill>
                  </a:tcPr>
                </a:tc>
              </a:tr>
              <a:tr h="714375">
                <a:tc>
                  <a:txBody>
                    <a:bodyPr/>
                    <a:lstStyle/>
                    <a:p>
                      <a:r>
                        <a:rPr sz="2025" b="0">
                          <a:solidFill>
                            <a:srgbClr val="182B40"/>
                          </a:solidFill>
                          <a:latin typeface="Hiragino Sans GB"/>
                          <a:ea typeface="Hiragino Sans GB"/>
                          <a:cs typeface="Hiragino Sans GB"/>
                        </a:rPr>
                        <a:t>RGB-D</a:t>
                      </a:r>
                    </a:p>
                  </a:txBody>
                  <a:tcPr marL="91440" marR="91440" marT="45720" marB="45720">
                    <a:lnL w="9525">
                      <a:solidFill>
                        <a:srgbClr val="D9E1E9"/>
                      </a:solidFill>
                      <a:prstDash val="solid"/>
                    </a:lnL>
                    <a:lnR w="9525">
                      <a:solidFill>
                        <a:srgbClr val="D9E1E9"/>
                      </a:solidFill>
                      <a:prstDash val="solid"/>
                    </a:lnR>
                    <a:lnT w="9525" cmpd="sng">
                      <a:solidFill>
                        <a:srgbClr val="D9E1E9"/>
                      </a:solidFill>
                      <a:prstDash val="solid"/>
                    </a:lnT>
                    <a:lnB w="9525">
                      <a:solidFill>
                        <a:srgbClr val="D9E1E9"/>
                      </a:solidFill>
                      <a:prstDash val="solid"/>
                    </a:lnB>
                    <a:solidFill>
                      <a:srgbClr val="FFFFFF"/>
                    </a:solidFill>
                  </a:tcPr>
                </a:tc>
                <a:tc>
                  <a:txBody>
                    <a:bodyPr/>
                    <a:lstStyle/>
                    <a:p>
                      <a:r>
                        <a:rPr sz="2025" b="0">
                          <a:solidFill>
                            <a:srgbClr val="182B40"/>
                          </a:solidFill>
                          <a:latin typeface="Hiragino Sans GB"/>
                          <a:ea typeface="Hiragino Sans GB"/>
                          <a:cs typeface="Hiragino Sans GB"/>
                        </a:rPr>
                        <a:t>DepthTrack</a:t>
                      </a:r>
                    </a:p>
                  </a:txBody>
                  <a:tcPr marL="91440" marR="91440" marT="45720" marB="45720">
                    <a:lnL w="9525" cmpd="sng">
                      <a:solidFill>
                        <a:srgbClr val="D9E1E9"/>
                      </a:solidFill>
                      <a:prstDash val="solid"/>
                    </a:lnL>
                    <a:lnR w="9525">
                      <a:solidFill>
                        <a:srgbClr val="D9E1E9"/>
                      </a:solidFill>
                      <a:prstDash val="solid"/>
                    </a:lnR>
                    <a:lnT w="9525" cmpd="sng">
                      <a:solidFill>
                        <a:srgbClr val="D9E1E9"/>
                      </a:solidFill>
                      <a:prstDash val="solid"/>
                    </a:lnT>
                    <a:lnB w="9525">
                      <a:solidFill>
                        <a:srgbClr val="D9E1E9"/>
                      </a:solidFill>
                      <a:prstDash val="solid"/>
                    </a:lnB>
                    <a:solidFill>
                      <a:srgbClr val="FFFFFF"/>
                    </a:solidFill>
                  </a:tcPr>
                </a:tc>
                <a:tc>
                  <a:txBody>
                    <a:bodyPr/>
                    <a:lstStyle/>
                    <a:p>
                      <a:r>
                        <a:rPr sz="2025" b="0">
                          <a:solidFill>
                            <a:srgbClr val="182B40"/>
                          </a:solidFill>
                          <a:latin typeface="Hiragino Sans GB"/>
                          <a:ea typeface="Hiragino Sans GB"/>
                          <a:cs typeface="Hiragino Sans GB"/>
                        </a:rPr>
                        <a:t>25 / 25</a:t>
                      </a:r>
                    </a:p>
                  </a:txBody>
                  <a:tcPr marL="91440" marR="91440" marT="45720" marB="45720">
                    <a:lnL w="9525" cmpd="sng">
                      <a:solidFill>
                        <a:srgbClr val="D9E1E9"/>
                      </a:solidFill>
                      <a:prstDash val="solid"/>
                    </a:lnL>
                    <a:lnR w="9525">
                      <a:solidFill>
                        <a:srgbClr val="D9E1E9"/>
                      </a:solidFill>
                      <a:prstDash val="solid"/>
                    </a:lnR>
                    <a:lnT w="9525" cmpd="sng">
                      <a:solidFill>
                        <a:srgbClr val="D9E1E9"/>
                      </a:solidFill>
                      <a:prstDash val="solid"/>
                    </a:lnT>
                    <a:lnB w="9525">
                      <a:solidFill>
                        <a:srgbClr val="D9E1E9"/>
                      </a:solidFill>
                      <a:prstDash val="solid"/>
                    </a:lnB>
                    <a:solidFill>
                      <a:srgbClr val="FFFFFF"/>
                    </a:solidFill>
                  </a:tcPr>
                </a:tc>
                <a:tc>
                  <a:txBody>
                    <a:bodyPr/>
                    <a:lstStyle/>
                    <a:p>
                      <a:r>
                        <a:rPr sz="2025" b="0">
                          <a:solidFill>
                            <a:srgbClr val="182B40"/>
                          </a:solidFill>
                          <a:latin typeface="Hiragino Sans GB"/>
                          <a:ea typeface="Hiragino Sans GB"/>
                          <a:cs typeface="Hiragino Sans GB"/>
                        </a:rPr>
                        <a:t>Complete</a:t>
                      </a:r>
                    </a:p>
                  </a:txBody>
                  <a:tcPr marL="91440" marR="91440" marT="45720" marB="45720">
                    <a:lnL w="9525" cmpd="sng">
                      <a:solidFill>
                        <a:srgbClr val="D9E1E9"/>
                      </a:solidFill>
                      <a:prstDash val="solid"/>
                    </a:lnL>
                    <a:lnR w="9525">
                      <a:solidFill>
                        <a:srgbClr val="D9E1E9"/>
                      </a:solidFill>
                      <a:prstDash val="solid"/>
                    </a:lnR>
                    <a:lnT w="9525" cmpd="sng">
                      <a:solidFill>
                        <a:srgbClr val="D9E1E9"/>
                      </a:solidFill>
                      <a:prstDash val="solid"/>
                    </a:lnT>
                    <a:lnB w="9525">
                      <a:solidFill>
                        <a:srgbClr val="D9E1E9"/>
                      </a:solidFill>
                      <a:prstDash val="solid"/>
                    </a:lnB>
                    <a:solidFill>
                      <a:srgbClr val="FFFFFF"/>
                    </a:solidFill>
                  </a:tcPr>
                </a:tc>
              </a:tr>
              <a:tr h="714375">
                <a:tc>
                  <a:txBody>
                    <a:bodyPr/>
                    <a:lstStyle/>
                    <a:p>
                      <a:r>
                        <a:rPr sz="2025" b="0">
                          <a:solidFill>
                            <a:srgbClr val="182B40"/>
                          </a:solidFill>
                          <a:latin typeface="Hiragino Sans GB"/>
                          <a:ea typeface="Hiragino Sans GB"/>
                          <a:cs typeface="Hiragino Sans GB"/>
                        </a:rPr>
                        <a:t>RGB-E</a:t>
                      </a:r>
                    </a:p>
                  </a:txBody>
                  <a:tcPr marL="91440" marR="91440" marT="45720" marB="45720">
                    <a:lnL w="9525">
                      <a:solidFill>
                        <a:srgbClr val="D9E1E9"/>
                      </a:solidFill>
                      <a:prstDash val="solid"/>
                    </a:lnL>
                    <a:lnR w="9525">
                      <a:solidFill>
                        <a:srgbClr val="D9E1E9"/>
                      </a:solidFill>
                      <a:prstDash val="solid"/>
                    </a:lnR>
                    <a:lnT w="9525" cmpd="sng">
                      <a:solidFill>
                        <a:srgbClr val="D9E1E9"/>
                      </a:solidFill>
                      <a:prstDash val="solid"/>
                    </a:lnT>
                    <a:lnB w="9525">
                      <a:solidFill>
                        <a:srgbClr val="D9E1E9"/>
                      </a:solidFill>
                      <a:prstDash val="solid"/>
                    </a:lnB>
                    <a:solidFill>
                      <a:srgbClr val="EEF3F7"/>
                    </a:solidFill>
                  </a:tcPr>
                </a:tc>
                <a:tc>
                  <a:txBody>
                    <a:bodyPr/>
                    <a:lstStyle/>
                    <a:p>
                      <a:r>
                        <a:rPr sz="2025" b="0">
                          <a:solidFill>
                            <a:srgbClr val="182B40"/>
                          </a:solidFill>
                          <a:latin typeface="Hiragino Sans GB"/>
                          <a:ea typeface="Hiragino Sans GB"/>
                          <a:cs typeface="Hiragino Sans GB"/>
                        </a:rPr>
                        <a:t>VisEvent</a:t>
                      </a:r>
                    </a:p>
                  </a:txBody>
                  <a:tcPr marL="91440" marR="91440" marT="45720" marB="45720">
                    <a:lnL w="9525" cmpd="sng">
                      <a:solidFill>
                        <a:srgbClr val="D9E1E9"/>
                      </a:solidFill>
                      <a:prstDash val="solid"/>
                    </a:lnL>
                    <a:lnR w="9525">
                      <a:solidFill>
                        <a:srgbClr val="D9E1E9"/>
                      </a:solidFill>
                      <a:prstDash val="solid"/>
                    </a:lnR>
                    <a:lnT w="9525" cmpd="sng">
                      <a:solidFill>
                        <a:srgbClr val="D9E1E9"/>
                      </a:solidFill>
                      <a:prstDash val="solid"/>
                    </a:lnT>
                    <a:lnB w="9525">
                      <a:solidFill>
                        <a:srgbClr val="D9E1E9"/>
                      </a:solidFill>
                      <a:prstDash val="solid"/>
                    </a:lnB>
                    <a:solidFill>
                      <a:srgbClr val="EEF3F7"/>
                    </a:solidFill>
                  </a:tcPr>
                </a:tc>
                <a:tc>
                  <a:txBody>
                    <a:bodyPr/>
                    <a:lstStyle/>
                    <a:p>
                      <a:r>
                        <a:rPr sz="2025" b="0">
                          <a:solidFill>
                            <a:srgbClr val="182B40"/>
                          </a:solidFill>
                          <a:latin typeface="Hiragino Sans GB"/>
                          <a:ea typeface="Hiragino Sans GB"/>
                          <a:cs typeface="Hiragino Sans GB"/>
                        </a:rPr>
                        <a:t>45 / 45</a:t>
                      </a:r>
                    </a:p>
                  </a:txBody>
                  <a:tcPr marL="91440" marR="91440" marT="45720" marB="45720">
                    <a:lnL w="9525" cmpd="sng">
                      <a:solidFill>
                        <a:srgbClr val="D9E1E9"/>
                      </a:solidFill>
                      <a:prstDash val="solid"/>
                    </a:lnL>
                    <a:lnR w="9525">
                      <a:solidFill>
                        <a:srgbClr val="D9E1E9"/>
                      </a:solidFill>
                      <a:prstDash val="solid"/>
                    </a:lnR>
                    <a:lnT w="9525" cmpd="sng">
                      <a:solidFill>
                        <a:srgbClr val="D9E1E9"/>
                      </a:solidFill>
                      <a:prstDash val="solid"/>
                    </a:lnT>
                    <a:lnB w="9525">
                      <a:solidFill>
                        <a:srgbClr val="D9E1E9"/>
                      </a:solidFill>
                      <a:prstDash val="solid"/>
                    </a:lnB>
                    <a:solidFill>
                      <a:srgbClr val="EEF3F7"/>
                    </a:solidFill>
                  </a:tcPr>
                </a:tc>
                <a:tc>
                  <a:txBody>
                    <a:bodyPr/>
                    <a:lstStyle/>
                    <a:p>
                      <a:r>
                        <a:rPr sz="2025" b="0">
                          <a:solidFill>
                            <a:srgbClr val="182B40"/>
                          </a:solidFill>
                          <a:latin typeface="Hiragino Sans GB"/>
                          <a:ea typeface="Hiragino Sans GB"/>
                          <a:cs typeface="Hiragino Sans GB"/>
                        </a:rPr>
                        <a:t>Complete</a:t>
                      </a:r>
                    </a:p>
                  </a:txBody>
                  <a:tcPr marL="91440" marR="91440" marT="45720" marB="45720">
                    <a:lnL w="9525" cmpd="sng">
                      <a:solidFill>
                        <a:srgbClr val="D9E1E9"/>
                      </a:solidFill>
                      <a:prstDash val="solid"/>
                    </a:lnL>
                    <a:lnR w="9525">
                      <a:solidFill>
                        <a:srgbClr val="D9E1E9"/>
                      </a:solidFill>
                      <a:prstDash val="solid"/>
                    </a:lnR>
                    <a:lnT w="9525" cmpd="sng">
                      <a:solidFill>
                        <a:srgbClr val="D9E1E9"/>
                      </a:solidFill>
                      <a:prstDash val="solid"/>
                    </a:lnT>
                    <a:lnB w="9525">
                      <a:solidFill>
                        <a:srgbClr val="D9E1E9"/>
                      </a:solidFill>
                      <a:prstDash val="solid"/>
                    </a:lnB>
                    <a:solidFill>
                      <a:srgbClr val="EEF3F7"/>
                    </a:solidFill>
                  </a:tcPr>
                </a:tc>
              </a:tr>
              <a:tr h="714375">
                <a:tc>
                  <a:txBody>
                    <a:bodyPr/>
                    <a:lstStyle/>
                    <a:p>
                      <a:r>
                        <a:rPr sz="2025" b="0">
                          <a:solidFill>
                            <a:srgbClr val="182B40"/>
                          </a:solidFill>
                          <a:latin typeface="Hiragino Sans GB"/>
                          <a:ea typeface="Hiragino Sans GB"/>
                          <a:cs typeface="Hiragino Sans GB"/>
                        </a:rPr>
                        <a:t>RGB-T</a:t>
                      </a:r>
                    </a:p>
                  </a:txBody>
                  <a:tcPr marL="91440" marR="91440" marT="45720" marB="45720">
                    <a:lnL w="9525">
                      <a:solidFill>
                        <a:srgbClr val="D9E1E9"/>
                      </a:solidFill>
                      <a:prstDash val="solid"/>
                    </a:lnL>
                    <a:lnR w="9525">
                      <a:solidFill>
                        <a:srgbClr val="D9E1E9"/>
                      </a:solidFill>
                      <a:prstDash val="solid"/>
                    </a:lnR>
                    <a:lnT w="9525" cmpd="sng">
                      <a:solidFill>
                        <a:srgbClr val="D9E1E9"/>
                      </a:solidFill>
                      <a:prstDash val="solid"/>
                    </a:lnT>
                    <a:lnB w="9525">
                      <a:solidFill>
                        <a:srgbClr val="D9E1E9"/>
                      </a:solidFill>
                      <a:prstDash val="solid"/>
                    </a:lnB>
                    <a:solidFill>
                      <a:srgbClr val="FFFFFF"/>
                    </a:solidFill>
                  </a:tcPr>
                </a:tc>
                <a:tc>
                  <a:txBody>
                    <a:bodyPr/>
                    <a:lstStyle/>
                    <a:p>
                      <a:r>
                        <a:rPr sz="2025" b="0">
                          <a:solidFill>
                            <a:srgbClr val="182B40"/>
                          </a:solidFill>
                          <a:latin typeface="Hiragino Sans GB"/>
                          <a:ea typeface="Hiragino Sans GB"/>
                          <a:cs typeface="Hiragino Sans GB"/>
                        </a:rPr>
                        <a:t>LasHeR</a:t>
                      </a:r>
                    </a:p>
                  </a:txBody>
                  <a:tcPr marL="91440" marR="91440" marT="45720" marB="45720">
                    <a:lnL w="9525" cmpd="sng">
                      <a:solidFill>
                        <a:srgbClr val="D9E1E9"/>
                      </a:solidFill>
                      <a:prstDash val="solid"/>
                    </a:lnL>
                    <a:lnR w="9525">
                      <a:solidFill>
                        <a:srgbClr val="D9E1E9"/>
                      </a:solidFill>
                      <a:prstDash val="solid"/>
                    </a:lnR>
                    <a:lnT w="9525" cmpd="sng">
                      <a:solidFill>
                        <a:srgbClr val="D9E1E9"/>
                      </a:solidFill>
                      <a:prstDash val="solid"/>
                    </a:lnT>
                    <a:lnB w="9525">
                      <a:solidFill>
                        <a:srgbClr val="D9E1E9"/>
                      </a:solidFill>
                      <a:prstDash val="solid"/>
                    </a:lnB>
                    <a:solidFill>
                      <a:srgbClr val="FFFFFF"/>
                    </a:solidFill>
                  </a:tcPr>
                </a:tc>
                <a:tc>
                  <a:txBody>
                    <a:bodyPr/>
                    <a:lstStyle/>
                    <a:p>
                      <a:r>
                        <a:rPr sz="2025" b="0">
                          <a:solidFill>
                            <a:srgbClr val="182B40"/>
                          </a:solidFill>
                          <a:latin typeface="Hiragino Sans GB"/>
                          <a:ea typeface="Hiragino Sans GB"/>
                          <a:cs typeface="Hiragino Sans GB"/>
                        </a:rPr>
                        <a:t>60 / 60</a:t>
                      </a:r>
                    </a:p>
                  </a:txBody>
                  <a:tcPr marL="91440" marR="91440" marT="45720" marB="45720">
                    <a:lnL w="9525" cmpd="sng">
                      <a:solidFill>
                        <a:srgbClr val="D9E1E9"/>
                      </a:solidFill>
                      <a:prstDash val="solid"/>
                    </a:lnL>
                    <a:lnR w="9525">
                      <a:solidFill>
                        <a:srgbClr val="D9E1E9"/>
                      </a:solidFill>
                      <a:prstDash val="solid"/>
                    </a:lnR>
                    <a:lnT w="9525" cmpd="sng">
                      <a:solidFill>
                        <a:srgbClr val="D9E1E9"/>
                      </a:solidFill>
                      <a:prstDash val="solid"/>
                    </a:lnT>
                    <a:lnB w="9525">
                      <a:solidFill>
                        <a:srgbClr val="D9E1E9"/>
                      </a:solidFill>
                      <a:prstDash val="solid"/>
                    </a:lnB>
                    <a:solidFill>
                      <a:srgbClr val="FFFFFF"/>
                    </a:solidFill>
                  </a:tcPr>
                </a:tc>
                <a:tc>
                  <a:txBody>
                    <a:bodyPr/>
                    <a:lstStyle/>
                    <a:p>
                      <a:r>
                        <a:rPr sz="2025" b="0">
                          <a:solidFill>
                            <a:srgbClr val="182B40"/>
                          </a:solidFill>
                          <a:latin typeface="Hiragino Sans GB"/>
                          <a:ea typeface="Hiragino Sans GB"/>
                          <a:cs typeface="Hiragino Sans GB"/>
                        </a:rPr>
                        <a:t>Complete</a:t>
                      </a:r>
                      <a:endParaRPr sz="2025" b="0">
                        <a:solidFill>
                          <a:srgbClr val="182B40"/>
                        </a:solidFill>
                        <a:latin typeface="Hiragino Sans GB"/>
                        <a:ea typeface="Hiragino Sans GB"/>
                        <a:cs typeface="Hiragino Sans GB"/>
                      </a:endParaRPr>
                    </a:p>
                  </a:txBody>
                  <a:tcPr marL="91440" marR="91440" marT="45720" marB="45720">
                    <a:lnL w="9525" cmpd="sng">
                      <a:solidFill>
                        <a:srgbClr val="D9E1E9"/>
                      </a:solidFill>
                      <a:prstDash val="solid"/>
                    </a:lnL>
                    <a:lnR w="9525">
                      <a:solidFill>
                        <a:srgbClr val="D9E1E9"/>
                      </a:solidFill>
                      <a:prstDash val="solid"/>
                    </a:lnR>
                    <a:lnT w="9525" cmpd="sng">
                      <a:solidFill>
                        <a:srgbClr val="D9E1E9"/>
                      </a:solidFill>
                      <a:prstDash val="solid"/>
                    </a:lnT>
                    <a:lnB w="9525">
                      <a:solidFill>
                        <a:srgbClr val="D9E1E9"/>
                      </a:solidFill>
                      <a:prstDash val="solid"/>
                    </a:lnB>
                    <a:solidFill>
                      <a:srgbClr val="FFFFFF"/>
                    </a:solidFill>
                  </a:tcPr>
                </a:tc>
              </a:tr>
            </a:tbl>
          </a:graphicData>
        </a:graphic>
      </p:graphicFrame>
      <p:sp>
        <p:nvSpPr>
          <p:cNvPr id="5" name="矩形 4">
            <a:extLst xmlns:a="http://schemas.openxmlformats.org/drawingml/2006/main">
              <a:ext uri="{FF2B5EF4-FFF2-40B4-BE49-F238E27FC236}">
                <a16:creationId xmlns:a16="http://schemas.microsoft.com/office/drawing/2014/main" id="{237DDA24-A36F-46C3-A2FF-DCC6CEFC8D11}"/>
              </a:ext>
            </a:extLst>
          </p:cNvPr>
          <p:cNvSpPr>
            <a:spLocks xmlns:a="http://schemas.openxmlformats.org/drawingml/2006/main" noGrp="1"/>
          </p:cNvSpPr>
          <p:nvPr/>
        </p:nvSpPr>
        <p:spPr>
          <a:xfrm xmlns:a="http://schemas.openxmlformats.org/drawingml/2006/main">
            <a:off x="723900" y="5029200"/>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05CA0"/>
                </a:solidFill>
                <a:latin typeface="Hiragino Sans GB"/>
                <a:ea typeface="Hiragino Sans GB"/>
                <a:cs typeface="Hiragino Sans GB"/>
              </a:defRPr>
            </a:defPPr>
          </a:lstStyle>
          <a:p xmlns:a="http://schemas.openxmlformats.org/drawingml/2006/main">
            <a:pPr>
              <a:buNone/>
              <a:defRPr sz="2100" b="1">
                <a:solidFill>
                  <a:srgbClr val="205CA0"/>
                </a:solidFill>
                <a:latin typeface="Hiragino Sans GB"/>
                <a:ea typeface="Hiragino Sans GB"/>
                <a:cs typeface="Hiragino Sans GB"/>
              </a:defRPr>
            </a:pPr>
            <a:r>
              <a:rPr sz="2100" b="1">
                <a:solidFill>
                  <a:srgbClr val="205CA0"/>
                </a:solidFill>
                <a:latin typeface="Hiragino Sans GB"/>
                <a:ea typeface="Hiragino Sans GB"/>
                <a:cs typeface="Hiragino Sans GB"/>
              </a:rPr>
              <a:t>RGB-T: microbatch 4 × 16 accumulation steps = batch 64 (1 GPU)</a:t>
            </a:r>
          </a:p>
        </p:txBody>
      </p:sp>
      <p:sp>
        <p:nvSpPr>
          <p:cNvPr id="6" name="矩形 5">
            <a:extLst xmlns:a="http://schemas.openxmlformats.org/drawingml/2006/main">
              <a:ext uri="{FF2B5EF4-FFF2-40B4-BE49-F238E27FC236}">
                <a16:creationId xmlns:a16="http://schemas.microsoft.com/office/drawing/2014/main" id="{70D2A26F-4882-431C-8E72-029D5ABEFF60}"/>
              </a:ext>
            </a:extLst>
          </p:cNvPr>
          <p:cNvSpPr>
            <a:spLocks xmlns:a="http://schemas.openxmlformats.org/drawingml/2006/main" noGrp="1"/>
          </p:cNvSpPr>
          <p:nvPr/>
        </p:nvSpPr>
        <p:spPr>
          <a:xfrm xmlns:a="http://schemas.openxmlformats.org/drawingml/2006/main">
            <a:off x="628650" y="5943600"/>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637385"/>
                </a:solidFill>
                <a:latin typeface="Hiragino Sans GB"/>
                <a:ea typeface="Hiragino Sans GB"/>
                <a:cs typeface="Hiragino Sans GB"/>
              </a:defRPr>
            </a:defPPr>
          </a:lstStyle>
          <a:p xmlns:a="http://schemas.openxmlformats.org/drawingml/2006/main">
            <a:pPr>
              <a:buNone/>
              <a:defRPr sz="1425" b="0">
                <a:solidFill>
                  <a:srgbClr val="637385"/>
                </a:solidFill>
                <a:latin typeface="Hiragino Sans GB"/>
                <a:ea typeface="Hiragino Sans GB"/>
                <a:cs typeface="Hiragino Sans GB"/>
              </a:defRPr>
            </a:pPr>
            <a:r>
              <a:rPr sz="1425" b="0">
                <a:solidFill>
                  <a:srgbClr val="637385"/>
                </a:solidFill>
                <a:latin typeface="Hiragino Sans GB"/>
                <a:ea typeface="Hiragino Sans GB"/>
                <a:cs typeface="Hiragino Sans GB"/>
              </a:rPr>
              <a:t>All epoch checkpoints are retained. Results use the final checkpoint for each task.</a:t>
            </a:r>
          </a:p>
        </p:txBody>
      </p:sp>
    </p:spTree>
    <p:extLst>
      <p:ext uri="{BB962C8B-B14F-4D97-AF65-F5344CB8AC3E}">
        <p14:creationId xmlns:p14="http://schemas.microsoft.com/office/powerpoint/2010/main" val="474374495"/>
      </p:ext>
    </p:extLst>
  </p:cSld>
</p:sld>
</file>

<file path=ppt/slides/slide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7" name="矩形 6">
            <a:extLst xmlns:a="http://schemas.openxmlformats.org/drawingml/2006/main">
              <a:ext uri="{FF2B5EF4-FFF2-40B4-BE49-F238E27FC236}">
                <a16:creationId xmlns:a16="http://schemas.microsoft.com/office/drawing/2014/main" id="{1B68CCF5-900A-40B5-BE4A-7EFE7218CFC1}"/>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82B40"/>
                </a:solidFill>
                <a:latin typeface="Hiragino Sans GB"/>
                <a:ea typeface="Hiragino Sans GB"/>
                <a:cs typeface="Hiragino Sans GB"/>
              </a:defRPr>
            </a:defPPr>
          </a:lstStyle>
          <a:p xmlns:a="http://schemas.openxmlformats.org/drawingml/2006/main">
            <a:pPr>
              <a:buNone/>
              <a:defRPr sz="3300" b="1">
                <a:solidFill>
                  <a:srgbClr val="182B40"/>
                </a:solidFill>
                <a:latin typeface="Hiragino Sans GB"/>
                <a:ea typeface="Hiragino Sans GB"/>
                <a:cs typeface="Hiragino Sans GB"/>
              </a:defRPr>
            </a:pPr>
            <a:r>
              <a:rPr sz="3300" b="1">
                <a:solidFill>
                  <a:srgbClr val="182B40"/>
                </a:solidFill>
                <a:latin typeface="Hiragino Sans GB"/>
                <a:ea typeface="Hiragino Sans GB"/>
                <a:cs typeface="Hiragino Sans GB"/>
              </a:rPr>
              <a:t>Evaluation of Retrained Models</a:t>
            </a:r>
          </a:p>
        </p:txBody>
      </p:sp>
      <p:sp>
        <p:nvSpPr>
          <p:cNvPr id="2" name="矩形 1">
            <a:extLst xmlns:a="http://schemas.openxmlformats.org/drawingml/2006/main">
              <a:ext uri="{FF2B5EF4-FFF2-40B4-BE49-F238E27FC236}">
                <a16:creationId xmlns:a16="http://schemas.microsoft.com/office/drawing/2014/main" id="{6E457DA5-1AD9-4018-8525-EDAD28D885B8}"/>
              </a:ext>
            </a:extLst>
          </p:cNvPr>
          <p:cNvSpPr>
            <a:spLocks xmlns:a="http://schemas.openxmlformats.org/drawingml/2006/main" noGrp="1"/>
          </p:cNvSpPr>
          <p:nvPr/>
        </p:nvSpPr>
        <p:spPr>
          <a:xfrm xmlns:a="http://schemas.openxmlformats.org/drawingml/2006/main">
            <a:off x="628650" y="1143000"/>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37385"/>
                </a:solidFill>
                <a:latin typeface="Hiragino Sans GB"/>
                <a:ea typeface="Hiragino Sans GB"/>
                <a:cs typeface="Hiragino Sans GB"/>
              </a:defRPr>
            </a:defPPr>
          </a:lstStyle>
          <a:p xmlns:a="http://schemas.openxmlformats.org/drawingml/2006/main">
            <a:pPr>
              <a:buNone/>
              <a:defRPr sz="1800" b="0">
                <a:solidFill>
                  <a:srgbClr val="637385"/>
                </a:solidFill>
                <a:latin typeface="Hiragino Sans GB"/>
                <a:ea typeface="Hiragino Sans GB"/>
                <a:cs typeface="Hiragino Sans GB"/>
              </a:defRPr>
            </a:pPr>
            <a:r>
              <a:rPr sz="1800" b="0">
                <a:solidFill>
                  <a:srgbClr val="637385"/>
                </a:solidFill>
                <a:latin typeface="Hiragino Sans GB"/>
                <a:ea typeface="Hiragino Sans GB"/>
                <a:cs typeface="Hiragino Sans GB"/>
              </a:rPr>
              <a:t>Final checkpoints have been tested for all three tasks. Reported results are shown below.</a:t>
            </a:r>
          </a:p>
        </p:txBody>
      </p:sp>
      <p:sp>
        <p:nvSpPr>
          <p:cNvPr id="3" name="矩形 2">
            <a:extLst xmlns:a="http://schemas.openxmlformats.org/drawingml/2006/main">
              <a:ext uri="{FF2B5EF4-FFF2-40B4-BE49-F238E27FC236}">
                <a16:creationId xmlns:a16="http://schemas.microsoft.com/office/drawing/2014/main" id="{147892B3-6128-4DC1-BF8F-0F677F94997F}"/>
              </a:ext>
            </a:extLst>
          </p:cNvPr>
          <p:cNvSpPr>
            <a:spLocks xmlns:a="http://schemas.openxmlformats.org/drawingml/2006/main" noGrp="1"/>
          </p:cNvSpPr>
          <p:nvPr/>
        </p:nvSpPr>
        <p:spPr>
          <a:xfrm xmlns:a="http://schemas.openxmlformats.org/drawingml/2006/main">
            <a:off x="11144250" y="63246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37385"/>
                </a:solidFill>
                <a:latin typeface="Hiragino Sans GB"/>
                <a:ea typeface="Hiragino Sans GB"/>
                <a:cs typeface="Hiragino Sans GB"/>
              </a:defRPr>
            </a:defPPr>
          </a:lstStyle>
          <a:p xmlns:a="http://schemas.openxmlformats.org/drawingml/2006/main">
            <a:pPr>
              <a:buNone/>
              <a:defRPr sz="1350" b="0">
                <a:solidFill>
                  <a:srgbClr val="637385"/>
                </a:solidFill>
                <a:latin typeface="Hiragino Sans GB"/>
                <a:ea typeface="Hiragino Sans GB"/>
                <a:cs typeface="Hiragino Sans GB"/>
              </a:defRPr>
            </a:pPr>
            <a:r>
              <a:rPr sz="1350" b="0">
                <a:solidFill>
                  <a:srgbClr val="637385"/>
                </a:solidFill>
                <a:latin typeface="Hiragino Sans GB"/>
                <a:ea typeface="Hiragino Sans GB"/>
                <a:cs typeface="Hiragino Sans GB"/>
              </a:rPr>
              <a:t>17</a:t>
            </a:r>
          </a:p>
        </p:txBody>
      </p:sp>
      <p:graphicFrame>
        <p:nvGraphicFramePr>
          <p:cNvPr id="4" name="表格 3">
            <a:extLst xmlns:a="http://schemas.openxmlformats.org/drawingml/2006/main">
              <a:ext uri="{FF2B5EF4-FFF2-40B4-BE49-F238E27FC236}">
                <a16:creationId xmlns:a16="http://schemas.microsoft.com/office/drawing/2014/main" id="{1DA80B91-7C66-4164-A071-F37DAF914CE6}"/>
              </a:ext>
            </a:extLst>
          </p:cNvPr>
          <p:cNvGraphicFramePr/>
          <p:nvPr/>
        </p:nvGraphicFramePr>
        <p:xfrm>
          <a:off xmlns:a="http://schemas.openxmlformats.org/drawingml/2006/main" x="628650" y="1809750"/>
          <a:ext xmlns:a="http://schemas.openxmlformats.org/drawingml/2006/main" cx="10934700" cy="3238500"/>
        </p:xfrm>
        <a:graphic xmlns:a="http://schemas.openxmlformats.org/drawingml/2006/main">
          <a:graphicData uri="http://schemas.openxmlformats.org/drawingml/2006/table">
            <a:tbl>
              <a:tblPr/>
              <a:tblGrid>
                <a:gridCol w="3095625"/>
                <a:gridCol w="1619250"/>
                <a:gridCol w="1238250"/>
                <a:gridCol w="4981575"/>
              </a:tblGrid>
              <a:tr h="809625">
                <a:tc>
                  <a:txBody>
                    <a:bodyPr/>
                    <a:lstStyle/>
                    <a:p>
                      <a:r>
                        <a:rPr sz="1875" b="1">
                          <a:solidFill>
                            <a:srgbClr val="FFFFFF"/>
                          </a:solidFill>
                          <a:latin typeface="Hiragino Sans GB"/>
                          <a:ea typeface="Hiragino Sans GB"/>
                          <a:cs typeface="Hiragino Sans GB"/>
                        </a:rPr>
                        <a:t>Task / test set</a:t>
                      </a:r>
                    </a:p>
                  </a:txBody>
                  <a:tcPr marL="91440" marR="91440" marT="45720" marB="45720">
                    <a:lnL w="9525">
                      <a:solidFill>
                        <a:srgbClr val="D9E1E9"/>
                      </a:solidFill>
                      <a:prstDash val="solid"/>
                    </a:lnL>
                    <a:lnR w="9525">
                      <a:solidFill>
                        <a:srgbClr val="D9E1E9"/>
                      </a:solidFill>
                      <a:prstDash val="solid"/>
                    </a:lnR>
                    <a:lnT w="9525">
                      <a:solidFill>
                        <a:srgbClr val="D9E1E9"/>
                      </a:solidFill>
                      <a:prstDash val="solid"/>
                    </a:lnT>
                    <a:lnB w="9525">
                      <a:solidFill>
                        <a:srgbClr val="D9E1E9"/>
                      </a:solidFill>
                      <a:prstDash val="solid"/>
                    </a:lnB>
                    <a:solidFill>
                      <a:srgbClr val="182B40"/>
                    </a:solidFill>
                  </a:tcPr>
                </a:tc>
                <a:tc>
                  <a:txBody>
                    <a:bodyPr/>
                    <a:lstStyle/>
                    <a:p>
                      <a:r>
                        <a:rPr sz="1875" b="1">
                          <a:solidFill>
                            <a:srgbClr val="FFFFFF"/>
                          </a:solidFill>
                          <a:latin typeface="Hiragino Sans GB"/>
                          <a:ea typeface="Hiragino Sans GB"/>
                          <a:cs typeface="Hiragino Sans GB"/>
                        </a:rPr>
                        <a:t>Final weights</a:t>
                      </a:r>
                    </a:p>
                  </a:txBody>
                  <a:tcPr marL="91440" marR="91440" marT="45720" marB="45720">
                    <a:lnL w="9525" cmpd="sng">
                      <a:solidFill>
                        <a:srgbClr val="D9E1E9"/>
                      </a:solidFill>
                      <a:prstDash val="solid"/>
                    </a:lnL>
                    <a:lnR w="9525">
                      <a:solidFill>
                        <a:srgbClr val="D9E1E9"/>
                      </a:solidFill>
                      <a:prstDash val="solid"/>
                    </a:lnR>
                    <a:lnT w="9525">
                      <a:solidFill>
                        <a:srgbClr val="D9E1E9"/>
                      </a:solidFill>
                      <a:prstDash val="solid"/>
                    </a:lnT>
                    <a:lnB w="9525">
                      <a:solidFill>
                        <a:srgbClr val="D9E1E9"/>
                      </a:solidFill>
                      <a:prstDash val="solid"/>
                    </a:lnB>
                    <a:solidFill>
                      <a:srgbClr val="182B40"/>
                    </a:solidFill>
                  </a:tcPr>
                </a:tc>
                <a:tc>
                  <a:txBody>
                    <a:bodyPr/>
                    <a:lstStyle/>
                    <a:p>
                      <a:r>
                        <a:rPr sz="1875" b="1">
                          <a:solidFill>
                            <a:srgbClr val="FFFFFF"/>
                          </a:solidFill>
                          <a:latin typeface="Hiragino Sans GB"/>
                          <a:ea typeface="Hiragino Sans GB"/>
                          <a:cs typeface="Hiragino Sans GB"/>
                        </a:rPr>
                        <a:t>Status</a:t>
                      </a:r>
                    </a:p>
                  </a:txBody>
                  <a:tcPr marL="91440" marR="91440" marT="45720" marB="45720">
                    <a:lnL w="9525" cmpd="sng">
                      <a:solidFill>
                        <a:srgbClr val="D9E1E9"/>
                      </a:solidFill>
                      <a:prstDash val="solid"/>
                    </a:lnL>
                    <a:lnR w="9525">
                      <a:solidFill>
                        <a:srgbClr val="D9E1E9"/>
                      </a:solidFill>
                      <a:prstDash val="solid"/>
                    </a:lnR>
                    <a:lnT w="9525">
                      <a:solidFill>
                        <a:srgbClr val="D9E1E9"/>
                      </a:solidFill>
                      <a:prstDash val="solid"/>
                    </a:lnT>
                    <a:lnB w="9525">
                      <a:solidFill>
                        <a:srgbClr val="D9E1E9"/>
                      </a:solidFill>
                      <a:prstDash val="solid"/>
                    </a:lnB>
                    <a:solidFill>
                      <a:srgbClr val="182B40"/>
                    </a:solidFill>
                  </a:tcPr>
                </a:tc>
                <a:tc>
                  <a:txBody>
                    <a:bodyPr/>
                    <a:lstStyle/>
                    <a:p>
                      <a:r>
                        <a:rPr sz="1875" b="1">
                          <a:solidFill>
                            <a:srgbClr val="FFFFFF"/>
                          </a:solidFill>
                          <a:latin typeface="Hiragino Sans GB"/>
                          <a:ea typeface="Hiragino Sans GB"/>
                          <a:cs typeface="Hiragino Sans GB"/>
                        </a:rPr>
                        <a:t>Test metrics (%)</a:t>
                      </a:r>
                    </a:p>
                  </a:txBody>
                  <a:tcPr marL="91440" marR="91440" marT="45720" marB="45720">
                    <a:lnL w="9525" cmpd="sng">
                      <a:solidFill>
                        <a:srgbClr val="D9E1E9"/>
                      </a:solidFill>
                      <a:prstDash val="solid"/>
                    </a:lnL>
                    <a:lnR w="9525">
                      <a:solidFill>
                        <a:srgbClr val="D9E1E9"/>
                      </a:solidFill>
                      <a:prstDash val="solid"/>
                    </a:lnR>
                    <a:lnT w="9525">
                      <a:solidFill>
                        <a:srgbClr val="D9E1E9"/>
                      </a:solidFill>
                      <a:prstDash val="solid"/>
                    </a:lnT>
                    <a:lnB w="9525">
                      <a:solidFill>
                        <a:srgbClr val="D9E1E9"/>
                      </a:solidFill>
                      <a:prstDash val="solid"/>
                    </a:lnB>
                    <a:solidFill>
                      <a:srgbClr val="182B40"/>
                    </a:solidFill>
                  </a:tcPr>
                </a:tc>
              </a:tr>
              <a:tr h="809625">
                <a:tc>
                  <a:txBody>
                    <a:bodyPr/>
                    <a:lstStyle/>
                    <a:p>
                      <a:r>
                        <a:rPr sz="1875" b="0">
                          <a:solidFill>
                            <a:srgbClr val="182B40"/>
                          </a:solidFill>
                          <a:latin typeface="Hiragino Sans GB"/>
                          <a:ea typeface="Hiragino Sans GB"/>
                          <a:cs typeface="Hiragino Sans GB"/>
                        </a:rPr>
                        <a:t>RGB-D / DepthTrack</a:t>
                      </a:r>
                    </a:p>
                  </a:txBody>
                  <a:tcPr marL="91440" marR="91440" marT="45720" marB="45720">
                    <a:lnL w="9525">
                      <a:solidFill>
                        <a:srgbClr val="D9E1E9"/>
                      </a:solidFill>
                      <a:prstDash val="solid"/>
                    </a:lnL>
                    <a:lnR w="9525">
                      <a:solidFill>
                        <a:srgbClr val="D9E1E9"/>
                      </a:solidFill>
                      <a:prstDash val="solid"/>
                    </a:lnR>
                    <a:lnT w="9525" cmpd="sng">
                      <a:solidFill>
                        <a:srgbClr val="D9E1E9"/>
                      </a:solidFill>
                      <a:prstDash val="solid"/>
                    </a:lnT>
                    <a:lnB w="9525">
                      <a:solidFill>
                        <a:srgbClr val="D9E1E9"/>
                      </a:solidFill>
                      <a:prstDash val="solid"/>
                    </a:lnB>
                    <a:solidFill>
                      <a:srgbClr val="FFFFFF"/>
                    </a:solidFill>
                  </a:tcPr>
                </a:tc>
                <a:tc>
                  <a:txBody>
                    <a:bodyPr/>
                    <a:lstStyle/>
                    <a:p>
                      <a:r>
                        <a:rPr sz="1875" b="0">
                          <a:solidFill>
                            <a:srgbClr val="182B40"/>
                          </a:solidFill>
                          <a:latin typeface="Hiragino Sans GB"/>
                          <a:ea typeface="Hiragino Sans GB"/>
                          <a:cs typeface="Hiragino Sans GB"/>
                        </a:rPr>
                        <a:t>ep0025</a:t>
                      </a:r>
                    </a:p>
                  </a:txBody>
                  <a:tcPr marL="91440" marR="91440" marT="45720" marB="45720">
                    <a:lnL w="9525" cmpd="sng">
                      <a:solidFill>
                        <a:srgbClr val="D9E1E9"/>
                      </a:solidFill>
                      <a:prstDash val="solid"/>
                    </a:lnL>
                    <a:lnR w="9525">
                      <a:solidFill>
                        <a:srgbClr val="D9E1E9"/>
                      </a:solidFill>
                      <a:prstDash val="solid"/>
                    </a:lnR>
                    <a:lnT w="9525" cmpd="sng">
                      <a:solidFill>
                        <a:srgbClr val="D9E1E9"/>
                      </a:solidFill>
                      <a:prstDash val="solid"/>
                    </a:lnT>
                    <a:lnB w="9525">
                      <a:solidFill>
                        <a:srgbClr val="D9E1E9"/>
                      </a:solidFill>
                      <a:prstDash val="solid"/>
                    </a:lnB>
                    <a:solidFill>
                      <a:srgbClr val="FFFFFF"/>
                    </a:solidFill>
                  </a:tcPr>
                </a:tc>
                <a:tc>
                  <a:txBody>
                    <a:bodyPr/>
                    <a:lstStyle/>
                    <a:p>
                      <a:r>
                        <a:rPr sz="1875" b="0">
                          <a:solidFill>
                            <a:srgbClr val="182B40"/>
                          </a:solidFill>
                          <a:latin typeface="Hiragino Sans GB"/>
                          <a:ea typeface="Hiragino Sans GB"/>
                          <a:cs typeface="Hiragino Sans GB"/>
                        </a:rPr>
                        <a:t>Done</a:t>
                      </a:r>
                    </a:p>
                  </a:txBody>
                  <a:tcPr marL="91440" marR="91440" marT="45720" marB="45720">
                    <a:lnL w="9525" cmpd="sng">
                      <a:solidFill>
                        <a:srgbClr val="D9E1E9"/>
                      </a:solidFill>
                      <a:prstDash val="solid"/>
                    </a:lnL>
                    <a:lnR w="9525">
                      <a:solidFill>
                        <a:srgbClr val="D9E1E9"/>
                      </a:solidFill>
                      <a:prstDash val="solid"/>
                    </a:lnR>
                    <a:lnT w="9525" cmpd="sng">
                      <a:solidFill>
                        <a:srgbClr val="D9E1E9"/>
                      </a:solidFill>
                      <a:prstDash val="solid"/>
                    </a:lnT>
                    <a:lnB w="9525">
                      <a:solidFill>
                        <a:srgbClr val="D9E1E9"/>
                      </a:solidFill>
                      <a:prstDash val="solid"/>
                    </a:lnB>
                    <a:solidFill>
                      <a:srgbClr val="FFFFFF"/>
                    </a:solidFill>
                  </a:tcPr>
                </a:tc>
                <a:tc>
                  <a:txBody>
                    <a:bodyPr/>
                    <a:lstStyle/>
                    <a:p>
                      <a:r>
                        <a:rPr sz="1875" b="0">
                          <a:solidFill>
                            <a:srgbClr val="182B40"/>
                          </a:solidFill>
                          <a:latin typeface="Hiragino Sans GB"/>
                          <a:ea typeface="Hiragino Sans GB"/>
                          <a:cs typeface="Hiragino Sans GB"/>
                        </a:rPr>
                        <a:t>PR / RE / F</a:t>
                      </a:r>
                    </a:p>
                    <a:p>
                      <a:r>
                        <a:rPr sz="1875" b="0">
                          <a:solidFill>
                            <a:srgbClr val="182B40"/>
                          </a:solidFill>
                          <a:latin typeface="Hiragino Sans GB"/>
                          <a:ea typeface="Hiragino Sans GB"/>
                          <a:cs typeface="Hiragino Sans GB"/>
                        </a:rPr>
                        <a:t>62.9096 / 63.5460 / 63.2262</a:t>
                      </a:r>
                    </a:p>
                  </a:txBody>
                  <a:tcPr marL="91440" marR="91440" marT="45720" marB="45720">
                    <a:lnL w="9525" cmpd="sng">
                      <a:solidFill>
                        <a:srgbClr val="D9E1E9"/>
                      </a:solidFill>
                      <a:prstDash val="solid"/>
                    </a:lnL>
                    <a:lnR w="9525">
                      <a:solidFill>
                        <a:srgbClr val="D9E1E9"/>
                      </a:solidFill>
                      <a:prstDash val="solid"/>
                    </a:lnR>
                    <a:lnT w="9525" cmpd="sng">
                      <a:solidFill>
                        <a:srgbClr val="D9E1E9"/>
                      </a:solidFill>
                      <a:prstDash val="solid"/>
                    </a:lnT>
                    <a:lnB w="9525">
                      <a:solidFill>
                        <a:srgbClr val="D9E1E9"/>
                      </a:solidFill>
                      <a:prstDash val="solid"/>
                    </a:lnB>
                    <a:solidFill>
                      <a:srgbClr val="FFFFFF"/>
                    </a:solidFill>
                  </a:tcPr>
                </a:tc>
              </a:tr>
              <a:tr h="809625">
                <a:tc>
                  <a:txBody>
                    <a:bodyPr/>
                    <a:lstStyle/>
                    <a:p>
                      <a:r>
                        <a:rPr sz="1875" b="0">
                          <a:solidFill>
                            <a:srgbClr val="182B40"/>
                          </a:solidFill>
                          <a:latin typeface="Hiragino Sans GB"/>
                          <a:ea typeface="Hiragino Sans GB"/>
                          <a:cs typeface="Hiragino Sans GB"/>
                        </a:rPr>
                        <a:t>RGB-E / VisEvent</a:t>
                      </a:r>
                    </a:p>
                  </a:txBody>
                  <a:tcPr marL="91440" marR="91440" marT="45720" marB="45720">
                    <a:lnL w="9525">
                      <a:solidFill>
                        <a:srgbClr val="D9E1E9"/>
                      </a:solidFill>
                      <a:prstDash val="solid"/>
                    </a:lnL>
                    <a:lnR w="9525">
                      <a:solidFill>
                        <a:srgbClr val="D9E1E9"/>
                      </a:solidFill>
                      <a:prstDash val="solid"/>
                    </a:lnR>
                    <a:lnT w="9525" cmpd="sng">
                      <a:solidFill>
                        <a:srgbClr val="D9E1E9"/>
                      </a:solidFill>
                      <a:prstDash val="solid"/>
                    </a:lnT>
                    <a:lnB w="9525">
                      <a:solidFill>
                        <a:srgbClr val="D9E1E9"/>
                      </a:solidFill>
                      <a:prstDash val="solid"/>
                    </a:lnB>
                    <a:solidFill>
                      <a:srgbClr val="EEF3F7"/>
                    </a:solidFill>
                  </a:tcPr>
                </a:tc>
                <a:tc>
                  <a:txBody>
                    <a:bodyPr/>
                    <a:lstStyle/>
                    <a:p>
                      <a:r>
                        <a:rPr sz="1875" b="0">
                          <a:solidFill>
                            <a:srgbClr val="182B40"/>
                          </a:solidFill>
                          <a:latin typeface="Hiragino Sans GB"/>
                          <a:ea typeface="Hiragino Sans GB"/>
                          <a:cs typeface="Hiragino Sans GB"/>
                        </a:rPr>
                        <a:t>ep0045</a:t>
                      </a:r>
                    </a:p>
                  </a:txBody>
                  <a:tcPr marL="91440" marR="91440" marT="45720" marB="45720">
                    <a:lnL w="9525" cmpd="sng">
                      <a:solidFill>
                        <a:srgbClr val="D9E1E9"/>
                      </a:solidFill>
                      <a:prstDash val="solid"/>
                    </a:lnL>
                    <a:lnR w="9525">
                      <a:solidFill>
                        <a:srgbClr val="D9E1E9"/>
                      </a:solidFill>
                      <a:prstDash val="solid"/>
                    </a:lnR>
                    <a:lnT w="9525" cmpd="sng">
                      <a:solidFill>
                        <a:srgbClr val="D9E1E9"/>
                      </a:solidFill>
                      <a:prstDash val="solid"/>
                    </a:lnT>
                    <a:lnB w="9525">
                      <a:solidFill>
                        <a:srgbClr val="D9E1E9"/>
                      </a:solidFill>
                      <a:prstDash val="solid"/>
                    </a:lnB>
                    <a:solidFill>
                      <a:srgbClr val="EEF3F7"/>
                    </a:solidFill>
                  </a:tcPr>
                </a:tc>
                <a:tc>
                  <a:txBody>
                    <a:bodyPr/>
                    <a:lstStyle/>
                    <a:p>
                      <a:r>
                        <a:rPr sz="1875" b="0">
                          <a:solidFill>
                            <a:srgbClr val="182B40"/>
                          </a:solidFill>
                          <a:latin typeface="Hiragino Sans GB"/>
                          <a:ea typeface="Hiragino Sans GB"/>
                          <a:cs typeface="Hiragino Sans GB"/>
                        </a:rPr>
                        <a:t>Done</a:t>
                      </a:r>
                    </a:p>
                  </a:txBody>
                  <a:tcPr marL="91440" marR="91440" marT="45720" marB="45720">
                    <a:lnL w="9525" cmpd="sng">
                      <a:solidFill>
                        <a:srgbClr val="D9E1E9"/>
                      </a:solidFill>
                      <a:prstDash val="solid"/>
                    </a:lnL>
                    <a:lnR w="9525">
                      <a:solidFill>
                        <a:srgbClr val="D9E1E9"/>
                      </a:solidFill>
                      <a:prstDash val="solid"/>
                    </a:lnR>
                    <a:lnT w="9525" cmpd="sng">
                      <a:solidFill>
                        <a:srgbClr val="D9E1E9"/>
                      </a:solidFill>
                      <a:prstDash val="solid"/>
                    </a:lnT>
                    <a:lnB w="9525">
                      <a:solidFill>
                        <a:srgbClr val="D9E1E9"/>
                      </a:solidFill>
                      <a:prstDash val="solid"/>
                    </a:lnB>
                    <a:solidFill>
                      <a:srgbClr val="EEF3F7"/>
                    </a:solidFill>
                  </a:tcPr>
                </a:tc>
                <a:tc>
                  <a:txBody>
                    <a:bodyPr/>
                    <a:lstStyle/>
                    <a:p>
                      <a:r>
                        <a:rPr sz="1875" b="0">
                          <a:solidFill>
                            <a:srgbClr val="182B40"/>
                          </a:solidFill>
                          <a:latin typeface="Hiragino Sans GB"/>
                          <a:ea typeface="Hiragino Sans GB"/>
                          <a:cs typeface="Hiragino Sans GB"/>
                        </a:rPr>
                        <a:t>PR / SR</a:t>
                      </a:r>
                    </a:p>
                    <a:p>
                      <a:r>
                        <a:rPr sz="1875" b="0">
                          <a:solidFill>
                            <a:srgbClr val="182B40"/>
                          </a:solidFill>
                          <a:latin typeface="Hiragino Sans GB"/>
                          <a:ea typeface="Hiragino Sans GB"/>
                          <a:cs typeface="Hiragino Sans GB"/>
                        </a:rPr>
                        <a:t>77.0950 / 60.2610</a:t>
                      </a:r>
                    </a:p>
                  </a:txBody>
                  <a:tcPr marL="91440" marR="91440" marT="45720" marB="45720">
                    <a:lnL w="9525" cmpd="sng">
                      <a:solidFill>
                        <a:srgbClr val="D9E1E9"/>
                      </a:solidFill>
                      <a:prstDash val="solid"/>
                    </a:lnL>
                    <a:lnR w="9525">
                      <a:solidFill>
                        <a:srgbClr val="D9E1E9"/>
                      </a:solidFill>
                      <a:prstDash val="solid"/>
                    </a:lnR>
                    <a:lnT w="9525" cmpd="sng">
                      <a:solidFill>
                        <a:srgbClr val="D9E1E9"/>
                      </a:solidFill>
                      <a:prstDash val="solid"/>
                    </a:lnT>
                    <a:lnB w="9525">
                      <a:solidFill>
                        <a:srgbClr val="D9E1E9"/>
                      </a:solidFill>
                      <a:prstDash val="solid"/>
                    </a:lnB>
                    <a:solidFill>
                      <a:srgbClr val="EEF3F7"/>
                    </a:solidFill>
                  </a:tcPr>
                </a:tc>
              </a:tr>
              <a:tr h="809625">
                <a:tc>
                  <a:txBody>
                    <a:bodyPr/>
                    <a:lstStyle/>
                    <a:p>
                      <a:r>
                        <a:rPr sz="1875" b="0">
                          <a:solidFill>
                            <a:srgbClr val="182B40"/>
                          </a:solidFill>
                          <a:latin typeface="Hiragino Sans GB"/>
                          <a:ea typeface="Hiragino Sans GB"/>
                          <a:cs typeface="Hiragino Sans GB"/>
                        </a:rPr>
                        <a:t>RGB-T / LasHeR</a:t>
                      </a:r>
                    </a:p>
                  </a:txBody>
                  <a:tcPr marL="91440" marR="91440" marT="45720" marB="45720">
                    <a:lnL w="9525">
                      <a:solidFill>
                        <a:srgbClr val="D9E1E9"/>
                      </a:solidFill>
                      <a:prstDash val="solid"/>
                    </a:lnL>
                    <a:lnR w="9525">
                      <a:solidFill>
                        <a:srgbClr val="D9E1E9"/>
                      </a:solidFill>
                      <a:prstDash val="solid"/>
                    </a:lnR>
                    <a:lnT w="9525" cmpd="sng">
                      <a:solidFill>
                        <a:srgbClr val="D9E1E9"/>
                      </a:solidFill>
                      <a:prstDash val="solid"/>
                    </a:lnT>
                    <a:lnB w="9525">
                      <a:solidFill>
                        <a:srgbClr val="D9E1E9"/>
                      </a:solidFill>
                      <a:prstDash val="solid"/>
                    </a:lnB>
                    <a:solidFill>
                      <a:srgbClr val="FFFFFF"/>
                    </a:solidFill>
                  </a:tcPr>
                </a:tc>
                <a:tc>
                  <a:txBody>
                    <a:bodyPr/>
                    <a:lstStyle/>
                    <a:p>
                      <a:r>
                        <a:rPr sz="1875" b="0">
                          <a:solidFill>
                            <a:srgbClr val="182B40"/>
                          </a:solidFill>
                          <a:latin typeface="Hiragino Sans GB"/>
                          <a:ea typeface="Hiragino Sans GB"/>
                          <a:cs typeface="Hiragino Sans GB"/>
                        </a:rPr>
                        <a:t>ep0060</a:t>
                      </a:r>
                    </a:p>
                  </a:txBody>
                  <a:tcPr marL="91440" marR="91440" marT="45720" marB="45720">
                    <a:lnL w="9525" cmpd="sng">
                      <a:solidFill>
                        <a:srgbClr val="D9E1E9"/>
                      </a:solidFill>
                      <a:prstDash val="solid"/>
                    </a:lnL>
                    <a:lnR w="9525">
                      <a:solidFill>
                        <a:srgbClr val="D9E1E9"/>
                      </a:solidFill>
                      <a:prstDash val="solid"/>
                    </a:lnR>
                    <a:lnT w="9525" cmpd="sng">
                      <a:solidFill>
                        <a:srgbClr val="D9E1E9"/>
                      </a:solidFill>
                      <a:prstDash val="solid"/>
                    </a:lnT>
                    <a:lnB w="9525">
                      <a:solidFill>
                        <a:srgbClr val="D9E1E9"/>
                      </a:solidFill>
                      <a:prstDash val="solid"/>
                    </a:lnB>
                    <a:solidFill>
                      <a:srgbClr val="FFFFFF"/>
                    </a:solidFill>
                  </a:tcPr>
                </a:tc>
                <a:tc>
                  <a:txBody>
                    <a:bodyPr/>
                    <a:lstStyle/>
                    <a:p>
                      <a:r>
                        <a:rPr sz="1875" b="0">
                          <a:solidFill>
                            <a:srgbClr val="182B40"/>
                          </a:solidFill>
                          <a:latin typeface="Hiragino Sans GB"/>
                          <a:ea typeface="Hiragino Sans GB"/>
                          <a:cs typeface="Hiragino Sans GB"/>
                        </a:rPr>
                        <a:t>Done</a:t>
                      </a:r>
                    </a:p>
                  </a:txBody>
                  <a:tcPr marL="91440" marR="91440" marT="45720" marB="45720">
                    <a:lnL w="9525" cmpd="sng">
                      <a:solidFill>
                        <a:srgbClr val="D9E1E9"/>
                      </a:solidFill>
                      <a:prstDash val="solid"/>
                    </a:lnL>
                    <a:lnR w="9525">
                      <a:solidFill>
                        <a:srgbClr val="D9E1E9"/>
                      </a:solidFill>
                      <a:prstDash val="solid"/>
                    </a:lnR>
                    <a:lnT w="9525" cmpd="sng">
                      <a:solidFill>
                        <a:srgbClr val="D9E1E9"/>
                      </a:solidFill>
                      <a:prstDash val="solid"/>
                    </a:lnT>
                    <a:lnB w="9525">
                      <a:solidFill>
                        <a:srgbClr val="D9E1E9"/>
                      </a:solidFill>
                      <a:prstDash val="solid"/>
                    </a:lnB>
                    <a:solidFill>
                      <a:srgbClr val="FFFFFF"/>
                    </a:solidFill>
                  </a:tcPr>
                </a:tc>
                <a:tc>
                  <a:txBody>
                    <a:bodyPr/>
                    <a:lstStyle/>
                    <a:p>
                      <a:r>
                        <a:rPr sz="1875" b="0">
                          <a:solidFill>
                            <a:srgbClr val="182B40"/>
                          </a:solidFill>
                          <a:latin typeface="Hiragino Sans GB"/>
                          <a:ea typeface="Hiragino Sans GB"/>
                          <a:cs typeface="Hiragino Sans GB"/>
                        </a:rPr>
                        <a:t>PR / NPR / SR</a:t>
                      </a:r>
                    </a:p>
                    <a:p>
                      <a:r>
                        <a:rPr sz="1875" b="0">
                          <a:solidFill>
                            <a:srgbClr val="182B40"/>
                          </a:solidFill>
                          <a:latin typeface="Hiragino Sans GB"/>
                          <a:ea typeface="Hiragino Sans GB"/>
                          <a:cs typeface="Hiragino Sans GB"/>
                        </a:rPr>
                        <a:t>71.5961 / 67.4782 / 57.2631</a:t>
                      </a:r>
                    </a:p>
                  </a:txBody>
                  <a:tcPr marL="91440" marR="91440" marT="45720" marB="45720">
                    <a:lnL w="9525" cmpd="sng">
                      <a:solidFill>
                        <a:srgbClr val="D9E1E9"/>
                      </a:solidFill>
                      <a:prstDash val="solid"/>
                    </a:lnL>
                    <a:lnR w="9525">
                      <a:solidFill>
                        <a:srgbClr val="D9E1E9"/>
                      </a:solidFill>
                      <a:prstDash val="solid"/>
                    </a:lnR>
                    <a:lnT w="9525" cmpd="sng">
                      <a:solidFill>
                        <a:srgbClr val="D9E1E9"/>
                      </a:solidFill>
                      <a:prstDash val="solid"/>
                    </a:lnT>
                    <a:lnB w="9525">
                      <a:solidFill>
                        <a:srgbClr val="D9E1E9"/>
                      </a:solidFill>
                      <a:prstDash val="solid"/>
                    </a:lnB>
                    <a:solidFill>
                      <a:srgbClr val="FFFFFF"/>
                    </a:solidFill>
                  </a:tcPr>
                </a:tc>
              </a:tr>
            </a:tbl>
          </a:graphicData>
        </a:graphic>
      </p:graphicFrame>
      <p:sp>
        <p:nvSpPr>
          <p:cNvPr id="5" name="矩形 4">
            <a:extLst xmlns:a="http://schemas.openxmlformats.org/drawingml/2006/main">
              <a:ext uri="{FF2B5EF4-FFF2-40B4-BE49-F238E27FC236}">
                <a16:creationId xmlns:a16="http://schemas.microsoft.com/office/drawing/2014/main" id="{53012B3B-1A8C-48F7-8F2F-FBC9C2945742}"/>
              </a:ext>
            </a:extLst>
          </p:cNvPr>
          <p:cNvSpPr>
            <a:spLocks xmlns:a="http://schemas.openxmlformats.org/drawingml/2006/main" noGrp="1"/>
          </p:cNvSpPr>
          <p:nvPr/>
        </p:nvSpPr>
        <p:spPr>
          <a:xfrm xmlns:a="http://schemas.openxmlformats.org/drawingml/2006/main">
            <a:off x="723900" y="5362575"/>
            <a:ext cx="1076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17E83"/>
                </a:solidFill>
                <a:latin typeface="Hiragino Sans GB"/>
                <a:ea typeface="Hiragino Sans GB"/>
                <a:cs typeface="Hiragino Sans GB"/>
              </a:defRPr>
            </a:defPPr>
          </a:lstStyle>
          <a:p xmlns:a="http://schemas.openxmlformats.org/drawingml/2006/main">
            <a:pPr>
              <a:buNone/>
              <a:defRPr sz="2100" b="1">
                <a:solidFill>
                  <a:srgbClr val="117E83"/>
                </a:solidFill>
                <a:latin typeface="Hiragino Sans GB"/>
                <a:ea typeface="Hiragino Sans GB"/>
                <a:cs typeface="Hiragino Sans GB"/>
              </a:defRPr>
            </a:pPr>
            <a:r>
              <a:rPr sz="2100" b="1">
                <a:solidFill>
                  <a:srgbClr val="117E83"/>
                </a:solidFill>
                <a:latin typeface="Hiragino Sans GB"/>
                <a:ea typeface="Hiragino Sans GB"/>
                <a:cs typeface="Hiragino Sans GB"/>
              </a:rPr>
              <a:t>All three results match the paper when rounded to one decimal place.</a:t>
            </a:r>
          </a:p>
        </p:txBody>
      </p:sp>
      <p:sp>
        <p:nvSpPr>
          <p:cNvPr id="6" name="矩形 5">
            <a:extLst xmlns:a="http://schemas.openxmlformats.org/drawingml/2006/main">
              <a:ext uri="{FF2B5EF4-FFF2-40B4-BE49-F238E27FC236}">
                <a16:creationId xmlns:a16="http://schemas.microsoft.com/office/drawing/2014/main" id="{7E4FF6AA-3D41-487E-A534-2EBC18ACEE5C}"/>
              </a:ext>
            </a:extLst>
          </p:cNvPr>
          <p:cNvSpPr>
            <a:spLocks xmlns:a="http://schemas.openxmlformats.org/drawingml/2006/main" noGrp="1"/>
          </p:cNvSpPr>
          <p:nvPr/>
        </p:nvSpPr>
        <p:spPr>
          <a:xfrm xmlns:a="http://schemas.openxmlformats.org/drawingml/2006/main">
            <a:off x="628650" y="5943600"/>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637385"/>
                </a:solidFill>
                <a:latin typeface="Hiragino Sans GB"/>
                <a:ea typeface="Hiragino Sans GB"/>
                <a:cs typeface="Hiragino Sans GB"/>
              </a:defRPr>
            </a:defPPr>
          </a:lstStyle>
          <a:p xmlns:a="http://schemas.openxmlformats.org/drawingml/2006/main">
            <a:pPr>
              <a:buNone/>
              <a:defRPr sz="1425" b="0">
                <a:solidFill>
                  <a:srgbClr val="637385"/>
                </a:solidFill>
                <a:latin typeface="Hiragino Sans GB"/>
                <a:ea typeface="Hiragino Sans GB"/>
                <a:cs typeface="Hiragino Sans GB"/>
              </a:defRPr>
            </a:pPr>
            <a:r>
              <a:rPr sz="1425" b="0">
                <a:solidFill>
                  <a:srgbClr val="637385"/>
                </a:solidFill>
                <a:latin typeface="Hiragino Sans GB"/>
                <a:ea typeface="Hiragino Sans GB"/>
                <a:cs typeface="Hiragino Sans GB"/>
              </a:rPr>
              <a:t>Source: supplied test results for retrained models, using the metric definitions for each dataset.</a:t>
            </a:r>
          </a:p>
        </p:txBody>
      </p:sp>
    </p:spTree>
    <p:extLst>
      <p:ext uri="{BB962C8B-B14F-4D97-AF65-F5344CB8AC3E}">
        <p14:creationId xmlns:p14="http://schemas.microsoft.com/office/powerpoint/2010/main" val="27070872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2026-10-19T06:00:17.7440000Z</dcterms:created>
  <dcterms:modified xsi:type="dcterms:W3CDTF">2026-10-19T06:00:17.7440000Z</dcterms:modified>
</coreProperties>
</file>